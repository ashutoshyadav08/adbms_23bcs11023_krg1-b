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340" r:id="rId21"/>
    <p:sldId id="341" r:id="rId22"/>
    <p:sldId id="342" r:id="rId23"/>
    <p:sldId id="343" r:id="rId24"/>
    <p:sldId id="344" r:id="rId25"/>
    <p:sldId id="346" r:id="rId26"/>
    <p:sldId id="400" r:id="rId27"/>
    <p:sldId id="386" r:id="rId28"/>
    <p:sldId id="348" r:id="rId29"/>
    <p:sldId id="349" r:id="rId30"/>
    <p:sldId id="387" r:id="rId31"/>
    <p:sldId id="388" r:id="rId32"/>
    <p:sldId id="389" r:id="rId33"/>
    <p:sldId id="390" r:id="rId34"/>
    <p:sldId id="391" r:id="rId35"/>
    <p:sldId id="392" r:id="rId36"/>
    <p:sldId id="393" r:id="rId37"/>
    <p:sldId id="394" r:id="rId38"/>
    <p:sldId id="395" r:id="rId39"/>
    <p:sldId id="396" r:id="rId40"/>
    <p:sldId id="397" r:id="rId41"/>
    <p:sldId id="398" r:id="rId42"/>
    <p:sldId id="399" r:id="rId43"/>
    <p:sldId id="350" r:id="rId44"/>
    <p:sldId id="403" r:id="rId45"/>
    <p:sldId id="404" r:id="rId46"/>
    <p:sldId id="408" r:id="rId47"/>
    <p:sldId id="409" r:id="rId48"/>
    <p:sldId id="407" r:id="rId49"/>
    <p:sldId id="406"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utosh Yadav" userId="693f43e9718cbd6b" providerId="LiveId" clId="{AF52BFE7-3122-467A-95AF-97BEAD143E2C}"/>
    <pc:docChg chg="modSld">
      <pc:chgData name="Ashutosh Yadav" userId="693f43e9718cbd6b" providerId="LiveId" clId="{AF52BFE7-3122-467A-95AF-97BEAD143E2C}" dt="2025-10-05T17:58:14.833" v="1" actId="1036"/>
      <pc:docMkLst>
        <pc:docMk/>
      </pc:docMkLst>
      <pc:sldChg chg="modSp mod">
        <pc:chgData name="Ashutosh Yadav" userId="693f43e9718cbd6b" providerId="LiveId" clId="{AF52BFE7-3122-467A-95AF-97BEAD143E2C}" dt="2025-10-05T17:58:14.833" v="1" actId="1036"/>
        <pc:sldMkLst>
          <pc:docMk/>
          <pc:sldMk cId="3519594111" sldId="266"/>
        </pc:sldMkLst>
        <pc:picChg chg="mod">
          <ac:chgData name="Ashutosh Yadav" userId="693f43e9718cbd6b" providerId="LiveId" clId="{AF52BFE7-3122-467A-95AF-97BEAD143E2C}" dt="2025-10-05T17:58:14.833" v="1" actId="1036"/>
          <ac:picMkLst>
            <pc:docMk/>
            <pc:sldMk cId="3519594111" sldId="266"/>
            <ac:picMk id="4" creationId="{B8641008-E11F-2E46-EF75-9868EA0C5A5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B704AF-1117-4FCD-883C-7AEA7A3B160E}" type="datetimeFigureOut">
              <a:rPr lang="en-IN" smtClean="0"/>
              <a:t>05-10-2025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93CCED-9669-4D0A-99A1-097E20489E08}" type="slidenum">
              <a:rPr lang="en-IN" smtClean="0"/>
              <a:t>‹#›</a:t>
            </a:fld>
            <a:endParaRPr lang="en-IN"/>
          </a:p>
        </p:txBody>
      </p:sp>
    </p:spTree>
    <p:extLst>
      <p:ext uri="{BB962C8B-B14F-4D97-AF65-F5344CB8AC3E}">
        <p14:creationId xmlns:p14="http://schemas.microsoft.com/office/powerpoint/2010/main" val="2095275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893CCED-9669-4D0A-99A1-097E20489E08}" type="slidenum">
              <a:rPr lang="en-IN" smtClean="0"/>
              <a:t>3</a:t>
            </a:fld>
            <a:endParaRPr lang="en-IN"/>
          </a:p>
        </p:txBody>
      </p:sp>
    </p:spTree>
    <p:extLst>
      <p:ext uri="{BB962C8B-B14F-4D97-AF65-F5344CB8AC3E}">
        <p14:creationId xmlns:p14="http://schemas.microsoft.com/office/powerpoint/2010/main" val="1150998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55928-47AB-190E-E730-0AEC14972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E8D84-347B-5365-501C-547FA3171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5BE30-CB61-E349-5D2B-C3B7452512D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6CD9DFD-7C39-B71B-D933-AECA777B9473}"/>
              </a:ext>
            </a:extLst>
          </p:cNvPr>
          <p:cNvSpPr>
            <a:spLocks noGrp="1"/>
          </p:cNvSpPr>
          <p:nvPr>
            <p:ph type="sldNum" sz="quarter" idx="5"/>
          </p:nvPr>
        </p:nvSpPr>
        <p:spPr/>
        <p:txBody>
          <a:bodyPr/>
          <a:lstStyle/>
          <a:p>
            <a:fld id="{E893CCED-9669-4D0A-99A1-097E20489E08}" type="slidenum">
              <a:rPr lang="en-IN" smtClean="0"/>
              <a:t>7</a:t>
            </a:fld>
            <a:endParaRPr lang="en-IN"/>
          </a:p>
        </p:txBody>
      </p:sp>
    </p:spTree>
    <p:extLst>
      <p:ext uri="{BB962C8B-B14F-4D97-AF65-F5344CB8AC3E}">
        <p14:creationId xmlns:p14="http://schemas.microsoft.com/office/powerpoint/2010/main" val="4261132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0" name="Google Shape;700;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8" name="Google Shape;718;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5" name="Google Shape;725;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7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5" name="Google Shape;735;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7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0" name="Google Shape;740;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8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6" name="Google Shape;756;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a:extLst>
            <a:ext uri="{FF2B5EF4-FFF2-40B4-BE49-F238E27FC236}">
              <a16:creationId xmlns:a16="http://schemas.microsoft.com/office/drawing/2014/main" id="{2310584A-556F-6F19-79E8-4FA7FEB88C4B}"/>
            </a:ext>
          </a:extLst>
        </p:cNvPr>
        <p:cNvGrpSpPr/>
        <p:nvPr/>
      </p:nvGrpSpPr>
      <p:grpSpPr>
        <a:xfrm>
          <a:off x="0" y="0"/>
          <a:ext cx="0" cy="0"/>
          <a:chOff x="0" y="0"/>
          <a:chExt cx="0" cy="0"/>
        </a:xfrm>
      </p:grpSpPr>
      <p:sp>
        <p:nvSpPr>
          <p:cNvPr id="761" name="Google Shape;761;p82:notes">
            <a:extLst>
              <a:ext uri="{FF2B5EF4-FFF2-40B4-BE49-F238E27FC236}">
                <a16:creationId xmlns:a16="http://schemas.microsoft.com/office/drawing/2014/main" id="{B1CEE8AE-0BBD-AE4C-EA7B-B0D717A3CF3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2" name="Google Shape;762;p82:notes">
            <a:extLst>
              <a:ext uri="{FF2B5EF4-FFF2-40B4-BE49-F238E27FC236}">
                <a16:creationId xmlns:a16="http://schemas.microsoft.com/office/drawing/2014/main" id="{591A74BB-3E49-6253-D218-432813CE26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20953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6877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8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4" name="Google Shape;774;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2175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44846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33279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90623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26631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45941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33316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14311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23623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14730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00536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25566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19393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8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0" name="Google Shape;780;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a:extLst>
            <a:ext uri="{FF2B5EF4-FFF2-40B4-BE49-F238E27FC236}">
              <a16:creationId xmlns:a16="http://schemas.microsoft.com/office/drawing/2014/main" id="{E759970C-D31D-E2C6-91A1-ECAACC2D1A77}"/>
            </a:ext>
          </a:extLst>
        </p:cNvPr>
        <p:cNvGrpSpPr/>
        <p:nvPr/>
      </p:nvGrpSpPr>
      <p:grpSpPr>
        <a:xfrm>
          <a:off x="0" y="0"/>
          <a:ext cx="0" cy="0"/>
          <a:chOff x="0" y="0"/>
          <a:chExt cx="0" cy="0"/>
        </a:xfrm>
      </p:grpSpPr>
      <p:sp>
        <p:nvSpPr>
          <p:cNvPr id="779" name="Google Shape;779;p85:notes">
            <a:extLst>
              <a:ext uri="{FF2B5EF4-FFF2-40B4-BE49-F238E27FC236}">
                <a16:creationId xmlns:a16="http://schemas.microsoft.com/office/drawing/2014/main" id="{2991033D-3C26-57DE-8A65-7B7BB90ED75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0" name="Google Shape;780;p85:notes">
            <a:extLst>
              <a:ext uri="{FF2B5EF4-FFF2-40B4-BE49-F238E27FC236}">
                <a16:creationId xmlns:a16="http://schemas.microsoft.com/office/drawing/2014/main" id="{7DCE9282-5D34-8DF8-0231-E49A72F8D33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5495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4A2E8-36B4-E2F1-F14D-FF6301C8A1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6F622F6-F1DA-3EB3-5B57-D3007904AA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BDC6C17-CDF0-7A5F-F1FE-2A4675162947}"/>
              </a:ext>
            </a:extLst>
          </p:cNvPr>
          <p:cNvSpPr>
            <a:spLocks noGrp="1"/>
          </p:cNvSpPr>
          <p:nvPr>
            <p:ph type="dt" sz="half" idx="10"/>
          </p:nvPr>
        </p:nvSpPr>
        <p:spPr/>
        <p:txBody>
          <a:bodyPr/>
          <a:lstStyle/>
          <a:p>
            <a:fld id="{869628CB-11F6-46B8-B639-18C23171EB0C}" type="datetimeFigureOut">
              <a:rPr lang="en-IN" smtClean="0"/>
              <a:t>05-10-2025</a:t>
            </a:fld>
            <a:endParaRPr lang="en-IN"/>
          </a:p>
        </p:txBody>
      </p:sp>
      <p:sp>
        <p:nvSpPr>
          <p:cNvPr id="5" name="Footer Placeholder 4">
            <a:extLst>
              <a:ext uri="{FF2B5EF4-FFF2-40B4-BE49-F238E27FC236}">
                <a16:creationId xmlns:a16="http://schemas.microsoft.com/office/drawing/2014/main" id="{921C2A14-F400-F778-6024-A178FF47CB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B141BF-4BC9-411C-B211-632428BD21BE}"/>
              </a:ext>
            </a:extLst>
          </p:cNvPr>
          <p:cNvSpPr>
            <a:spLocks noGrp="1"/>
          </p:cNvSpPr>
          <p:nvPr>
            <p:ph type="sldNum" sz="quarter" idx="12"/>
          </p:nvPr>
        </p:nvSpPr>
        <p:spPr/>
        <p:txBody>
          <a:bodyPr/>
          <a:lstStyle/>
          <a:p>
            <a:fld id="{6A95C266-5812-4718-AC27-F31CCE39BFCF}" type="slidenum">
              <a:rPr lang="en-IN" smtClean="0"/>
              <a:t>‹#›</a:t>
            </a:fld>
            <a:endParaRPr lang="en-IN"/>
          </a:p>
        </p:txBody>
      </p:sp>
    </p:spTree>
    <p:extLst>
      <p:ext uri="{BB962C8B-B14F-4D97-AF65-F5344CB8AC3E}">
        <p14:creationId xmlns:p14="http://schemas.microsoft.com/office/powerpoint/2010/main" val="2863021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2C21F-122A-FC9C-614C-73348B4070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A59E6F-1F26-CD6F-BF0B-4F7AA956F0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61046D-C78A-0D33-CB1E-AC635BAFEAD8}"/>
              </a:ext>
            </a:extLst>
          </p:cNvPr>
          <p:cNvSpPr>
            <a:spLocks noGrp="1"/>
          </p:cNvSpPr>
          <p:nvPr>
            <p:ph type="dt" sz="half" idx="10"/>
          </p:nvPr>
        </p:nvSpPr>
        <p:spPr/>
        <p:txBody>
          <a:bodyPr/>
          <a:lstStyle/>
          <a:p>
            <a:fld id="{869628CB-11F6-46B8-B639-18C23171EB0C}" type="datetimeFigureOut">
              <a:rPr lang="en-IN" smtClean="0"/>
              <a:t>05-10-2025</a:t>
            </a:fld>
            <a:endParaRPr lang="en-IN"/>
          </a:p>
        </p:txBody>
      </p:sp>
      <p:sp>
        <p:nvSpPr>
          <p:cNvPr id="5" name="Footer Placeholder 4">
            <a:extLst>
              <a:ext uri="{FF2B5EF4-FFF2-40B4-BE49-F238E27FC236}">
                <a16:creationId xmlns:a16="http://schemas.microsoft.com/office/drawing/2014/main" id="{815F873C-E1BC-B36E-FDA7-22A79F27F0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5AFB85-E914-CFF7-763A-1F24BB88EEB7}"/>
              </a:ext>
            </a:extLst>
          </p:cNvPr>
          <p:cNvSpPr>
            <a:spLocks noGrp="1"/>
          </p:cNvSpPr>
          <p:nvPr>
            <p:ph type="sldNum" sz="quarter" idx="12"/>
          </p:nvPr>
        </p:nvSpPr>
        <p:spPr/>
        <p:txBody>
          <a:bodyPr/>
          <a:lstStyle/>
          <a:p>
            <a:fld id="{6A95C266-5812-4718-AC27-F31CCE39BFCF}" type="slidenum">
              <a:rPr lang="en-IN" smtClean="0"/>
              <a:t>‹#›</a:t>
            </a:fld>
            <a:endParaRPr lang="en-IN"/>
          </a:p>
        </p:txBody>
      </p:sp>
    </p:spTree>
    <p:extLst>
      <p:ext uri="{BB962C8B-B14F-4D97-AF65-F5344CB8AC3E}">
        <p14:creationId xmlns:p14="http://schemas.microsoft.com/office/powerpoint/2010/main" val="924568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6B374-2F44-3F35-897D-A57E6588A6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41687AF-80B6-E54D-EA1C-16C8E9D00B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CDC4EE-630B-CA0D-62C2-FFE270CABE89}"/>
              </a:ext>
            </a:extLst>
          </p:cNvPr>
          <p:cNvSpPr>
            <a:spLocks noGrp="1"/>
          </p:cNvSpPr>
          <p:nvPr>
            <p:ph type="dt" sz="half" idx="10"/>
          </p:nvPr>
        </p:nvSpPr>
        <p:spPr/>
        <p:txBody>
          <a:bodyPr/>
          <a:lstStyle/>
          <a:p>
            <a:fld id="{869628CB-11F6-46B8-B639-18C23171EB0C}" type="datetimeFigureOut">
              <a:rPr lang="en-IN" smtClean="0"/>
              <a:t>05-10-2025</a:t>
            </a:fld>
            <a:endParaRPr lang="en-IN"/>
          </a:p>
        </p:txBody>
      </p:sp>
      <p:sp>
        <p:nvSpPr>
          <p:cNvPr id="5" name="Footer Placeholder 4">
            <a:extLst>
              <a:ext uri="{FF2B5EF4-FFF2-40B4-BE49-F238E27FC236}">
                <a16:creationId xmlns:a16="http://schemas.microsoft.com/office/drawing/2014/main" id="{595557A6-3904-7714-5A90-8E55B7F7CA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9772AA-31E1-6F6B-0CB4-14C173E9B8CF}"/>
              </a:ext>
            </a:extLst>
          </p:cNvPr>
          <p:cNvSpPr>
            <a:spLocks noGrp="1"/>
          </p:cNvSpPr>
          <p:nvPr>
            <p:ph type="sldNum" sz="quarter" idx="12"/>
          </p:nvPr>
        </p:nvSpPr>
        <p:spPr/>
        <p:txBody>
          <a:bodyPr/>
          <a:lstStyle/>
          <a:p>
            <a:fld id="{6A95C266-5812-4718-AC27-F31CCE39BFCF}" type="slidenum">
              <a:rPr lang="en-IN" smtClean="0"/>
              <a:t>‹#›</a:t>
            </a:fld>
            <a:endParaRPr lang="en-IN"/>
          </a:p>
        </p:txBody>
      </p:sp>
    </p:spTree>
    <p:extLst>
      <p:ext uri="{BB962C8B-B14F-4D97-AF65-F5344CB8AC3E}">
        <p14:creationId xmlns:p14="http://schemas.microsoft.com/office/powerpoint/2010/main" val="212783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3AAD9-8989-FF5A-B660-EC6E80AABC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5D4B886-51A3-1486-A937-F18D07AC76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7251807-C5CE-F91C-9DEB-BA7F1DEC99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62CA77-D607-42F5-DB2B-E4563D3D0B6F}"/>
              </a:ext>
            </a:extLst>
          </p:cNvPr>
          <p:cNvSpPr>
            <a:spLocks noGrp="1"/>
          </p:cNvSpPr>
          <p:nvPr>
            <p:ph type="dt" sz="half" idx="10"/>
          </p:nvPr>
        </p:nvSpPr>
        <p:spPr/>
        <p:txBody>
          <a:bodyPr/>
          <a:lstStyle/>
          <a:p>
            <a:fld id="{869628CB-11F6-46B8-B639-18C23171EB0C}" type="datetimeFigureOut">
              <a:rPr lang="en-IN" smtClean="0"/>
              <a:t>05-10-2025</a:t>
            </a:fld>
            <a:endParaRPr lang="en-IN"/>
          </a:p>
        </p:txBody>
      </p:sp>
      <p:sp>
        <p:nvSpPr>
          <p:cNvPr id="6" name="Footer Placeholder 5">
            <a:extLst>
              <a:ext uri="{FF2B5EF4-FFF2-40B4-BE49-F238E27FC236}">
                <a16:creationId xmlns:a16="http://schemas.microsoft.com/office/drawing/2014/main" id="{38DC1CC6-45D9-C19E-A84F-8EC684A256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28A747-AA81-5EBB-EFEA-9AC5F48C132A}"/>
              </a:ext>
            </a:extLst>
          </p:cNvPr>
          <p:cNvSpPr>
            <a:spLocks noGrp="1"/>
          </p:cNvSpPr>
          <p:nvPr>
            <p:ph type="sldNum" sz="quarter" idx="12"/>
          </p:nvPr>
        </p:nvSpPr>
        <p:spPr/>
        <p:txBody>
          <a:bodyPr/>
          <a:lstStyle/>
          <a:p>
            <a:fld id="{6A95C266-5812-4718-AC27-F31CCE39BFCF}" type="slidenum">
              <a:rPr lang="en-IN" smtClean="0"/>
              <a:t>‹#›</a:t>
            </a:fld>
            <a:endParaRPr lang="en-IN"/>
          </a:p>
        </p:txBody>
      </p:sp>
    </p:spTree>
    <p:extLst>
      <p:ext uri="{BB962C8B-B14F-4D97-AF65-F5344CB8AC3E}">
        <p14:creationId xmlns:p14="http://schemas.microsoft.com/office/powerpoint/2010/main" val="2958242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BE84F-2D39-44C3-6CED-9E41E9A11BA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27847C-855D-556F-CD64-F5413C93F0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F090CD-A38E-3F9F-1EC8-F874A23915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DCE7965-64F4-E217-8BD5-124B5573D2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55FF66-04BE-062B-88DD-5B0214B9FB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AEC68AA-E05A-4B46-41F8-6242A3E285D4}"/>
              </a:ext>
            </a:extLst>
          </p:cNvPr>
          <p:cNvSpPr>
            <a:spLocks noGrp="1"/>
          </p:cNvSpPr>
          <p:nvPr>
            <p:ph type="dt" sz="half" idx="10"/>
          </p:nvPr>
        </p:nvSpPr>
        <p:spPr/>
        <p:txBody>
          <a:bodyPr/>
          <a:lstStyle/>
          <a:p>
            <a:fld id="{869628CB-11F6-46B8-B639-18C23171EB0C}" type="datetimeFigureOut">
              <a:rPr lang="en-IN" smtClean="0"/>
              <a:t>05-10-2025</a:t>
            </a:fld>
            <a:endParaRPr lang="en-IN"/>
          </a:p>
        </p:txBody>
      </p:sp>
      <p:sp>
        <p:nvSpPr>
          <p:cNvPr id="8" name="Footer Placeholder 7">
            <a:extLst>
              <a:ext uri="{FF2B5EF4-FFF2-40B4-BE49-F238E27FC236}">
                <a16:creationId xmlns:a16="http://schemas.microsoft.com/office/drawing/2014/main" id="{56571E68-D5FA-43CD-6050-387BFB54A18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E4276E8-E63B-D770-9FF1-4D21B884ADA2}"/>
              </a:ext>
            </a:extLst>
          </p:cNvPr>
          <p:cNvSpPr>
            <a:spLocks noGrp="1"/>
          </p:cNvSpPr>
          <p:nvPr>
            <p:ph type="sldNum" sz="quarter" idx="12"/>
          </p:nvPr>
        </p:nvSpPr>
        <p:spPr/>
        <p:txBody>
          <a:bodyPr/>
          <a:lstStyle/>
          <a:p>
            <a:fld id="{6A95C266-5812-4718-AC27-F31CCE39BFCF}" type="slidenum">
              <a:rPr lang="en-IN" smtClean="0"/>
              <a:t>‹#›</a:t>
            </a:fld>
            <a:endParaRPr lang="en-IN"/>
          </a:p>
        </p:txBody>
      </p:sp>
    </p:spTree>
    <p:extLst>
      <p:ext uri="{BB962C8B-B14F-4D97-AF65-F5344CB8AC3E}">
        <p14:creationId xmlns:p14="http://schemas.microsoft.com/office/powerpoint/2010/main" val="604205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C1C15-C18A-BEE1-BE11-9D7B3B11171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9891F7C-A4B2-A687-5576-B10992CC6E79}"/>
              </a:ext>
            </a:extLst>
          </p:cNvPr>
          <p:cNvSpPr>
            <a:spLocks noGrp="1"/>
          </p:cNvSpPr>
          <p:nvPr>
            <p:ph type="dt" sz="half" idx="10"/>
          </p:nvPr>
        </p:nvSpPr>
        <p:spPr/>
        <p:txBody>
          <a:bodyPr/>
          <a:lstStyle/>
          <a:p>
            <a:fld id="{869628CB-11F6-46B8-B639-18C23171EB0C}" type="datetimeFigureOut">
              <a:rPr lang="en-IN" smtClean="0"/>
              <a:t>05-10-2025</a:t>
            </a:fld>
            <a:endParaRPr lang="en-IN"/>
          </a:p>
        </p:txBody>
      </p:sp>
      <p:sp>
        <p:nvSpPr>
          <p:cNvPr id="4" name="Footer Placeholder 3">
            <a:extLst>
              <a:ext uri="{FF2B5EF4-FFF2-40B4-BE49-F238E27FC236}">
                <a16:creationId xmlns:a16="http://schemas.microsoft.com/office/drawing/2014/main" id="{EBB084F0-9C94-ED0B-ED04-61BC17A01DA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428ED59-B9FF-F144-CFCE-C7DF2FFABE64}"/>
              </a:ext>
            </a:extLst>
          </p:cNvPr>
          <p:cNvSpPr>
            <a:spLocks noGrp="1"/>
          </p:cNvSpPr>
          <p:nvPr>
            <p:ph type="sldNum" sz="quarter" idx="12"/>
          </p:nvPr>
        </p:nvSpPr>
        <p:spPr/>
        <p:txBody>
          <a:bodyPr/>
          <a:lstStyle/>
          <a:p>
            <a:fld id="{6A95C266-5812-4718-AC27-F31CCE39BFCF}" type="slidenum">
              <a:rPr lang="en-IN" smtClean="0"/>
              <a:t>‹#›</a:t>
            </a:fld>
            <a:endParaRPr lang="en-IN"/>
          </a:p>
        </p:txBody>
      </p:sp>
    </p:spTree>
    <p:extLst>
      <p:ext uri="{BB962C8B-B14F-4D97-AF65-F5344CB8AC3E}">
        <p14:creationId xmlns:p14="http://schemas.microsoft.com/office/powerpoint/2010/main" val="1650528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0FD01F-F6E1-F835-56FE-DD93B1D1D593}"/>
              </a:ext>
            </a:extLst>
          </p:cNvPr>
          <p:cNvSpPr>
            <a:spLocks noGrp="1"/>
          </p:cNvSpPr>
          <p:nvPr>
            <p:ph type="dt" sz="half" idx="10"/>
          </p:nvPr>
        </p:nvSpPr>
        <p:spPr/>
        <p:txBody>
          <a:bodyPr/>
          <a:lstStyle/>
          <a:p>
            <a:fld id="{869628CB-11F6-46B8-B639-18C23171EB0C}" type="datetimeFigureOut">
              <a:rPr lang="en-IN" smtClean="0"/>
              <a:t>05-10-2025</a:t>
            </a:fld>
            <a:endParaRPr lang="en-IN"/>
          </a:p>
        </p:txBody>
      </p:sp>
      <p:sp>
        <p:nvSpPr>
          <p:cNvPr id="3" name="Footer Placeholder 2">
            <a:extLst>
              <a:ext uri="{FF2B5EF4-FFF2-40B4-BE49-F238E27FC236}">
                <a16:creationId xmlns:a16="http://schemas.microsoft.com/office/drawing/2014/main" id="{7F9DDFD1-046B-AE4D-C0A3-1C4107BB3C8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789846E-B6F5-D82E-20B7-761649439742}"/>
              </a:ext>
            </a:extLst>
          </p:cNvPr>
          <p:cNvSpPr>
            <a:spLocks noGrp="1"/>
          </p:cNvSpPr>
          <p:nvPr>
            <p:ph type="sldNum" sz="quarter" idx="12"/>
          </p:nvPr>
        </p:nvSpPr>
        <p:spPr/>
        <p:txBody>
          <a:bodyPr/>
          <a:lstStyle/>
          <a:p>
            <a:fld id="{6A95C266-5812-4718-AC27-F31CCE39BFCF}" type="slidenum">
              <a:rPr lang="en-IN" smtClean="0"/>
              <a:t>‹#›</a:t>
            </a:fld>
            <a:endParaRPr lang="en-IN"/>
          </a:p>
        </p:txBody>
      </p:sp>
    </p:spTree>
    <p:extLst>
      <p:ext uri="{BB962C8B-B14F-4D97-AF65-F5344CB8AC3E}">
        <p14:creationId xmlns:p14="http://schemas.microsoft.com/office/powerpoint/2010/main" val="3337135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84F3E-CBC4-AE7D-DD21-4366FCD6FF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686A12-F79E-4508-DFA6-587695E585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D511723-A7BB-6508-0F59-294319A37B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880FE3-BDBC-1F9B-031C-AF37EEC783FC}"/>
              </a:ext>
            </a:extLst>
          </p:cNvPr>
          <p:cNvSpPr>
            <a:spLocks noGrp="1"/>
          </p:cNvSpPr>
          <p:nvPr>
            <p:ph type="dt" sz="half" idx="10"/>
          </p:nvPr>
        </p:nvSpPr>
        <p:spPr/>
        <p:txBody>
          <a:bodyPr/>
          <a:lstStyle/>
          <a:p>
            <a:fld id="{869628CB-11F6-46B8-B639-18C23171EB0C}" type="datetimeFigureOut">
              <a:rPr lang="en-IN" smtClean="0"/>
              <a:t>05-10-2025</a:t>
            </a:fld>
            <a:endParaRPr lang="en-IN"/>
          </a:p>
        </p:txBody>
      </p:sp>
      <p:sp>
        <p:nvSpPr>
          <p:cNvPr id="6" name="Footer Placeholder 5">
            <a:extLst>
              <a:ext uri="{FF2B5EF4-FFF2-40B4-BE49-F238E27FC236}">
                <a16:creationId xmlns:a16="http://schemas.microsoft.com/office/drawing/2014/main" id="{4622F4E0-4D73-27D1-BB3A-3F126C7A43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B9E4E55-F3C8-209B-CDB1-0433A639F4E4}"/>
              </a:ext>
            </a:extLst>
          </p:cNvPr>
          <p:cNvSpPr>
            <a:spLocks noGrp="1"/>
          </p:cNvSpPr>
          <p:nvPr>
            <p:ph type="sldNum" sz="quarter" idx="12"/>
          </p:nvPr>
        </p:nvSpPr>
        <p:spPr/>
        <p:txBody>
          <a:bodyPr/>
          <a:lstStyle/>
          <a:p>
            <a:fld id="{6A95C266-5812-4718-AC27-F31CCE39BFCF}" type="slidenum">
              <a:rPr lang="en-IN" smtClean="0"/>
              <a:t>‹#›</a:t>
            </a:fld>
            <a:endParaRPr lang="en-IN"/>
          </a:p>
        </p:txBody>
      </p:sp>
    </p:spTree>
    <p:extLst>
      <p:ext uri="{BB962C8B-B14F-4D97-AF65-F5344CB8AC3E}">
        <p14:creationId xmlns:p14="http://schemas.microsoft.com/office/powerpoint/2010/main" val="1065437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349E4-F745-1EA7-8F7E-0D5AB425A4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8C917A2-37A4-9575-282B-B32883273C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755D283-D0C8-861C-5D38-42482C19F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37451C-EEC0-E523-70A7-FB7D5BA31795}"/>
              </a:ext>
            </a:extLst>
          </p:cNvPr>
          <p:cNvSpPr>
            <a:spLocks noGrp="1"/>
          </p:cNvSpPr>
          <p:nvPr>
            <p:ph type="dt" sz="half" idx="10"/>
          </p:nvPr>
        </p:nvSpPr>
        <p:spPr/>
        <p:txBody>
          <a:bodyPr/>
          <a:lstStyle/>
          <a:p>
            <a:fld id="{869628CB-11F6-46B8-B639-18C23171EB0C}" type="datetimeFigureOut">
              <a:rPr lang="en-IN" smtClean="0"/>
              <a:t>05-10-2025</a:t>
            </a:fld>
            <a:endParaRPr lang="en-IN"/>
          </a:p>
        </p:txBody>
      </p:sp>
      <p:sp>
        <p:nvSpPr>
          <p:cNvPr id="6" name="Footer Placeholder 5">
            <a:extLst>
              <a:ext uri="{FF2B5EF4-FFF2-40B4-BE49-F238E27FC236}">
                <a16:creationId xmlns:a16="http://schemas.microsoft.com/office/drawing/2014/main" id="{2A6C430C-D7AE-0F52-DFFD-6130F6A9F0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F0C74B-7F60-4094-9F6B-8CDC94D6DBC5}"/>
              </a:ext>
            </a:extLst>
          </p:cNvPr>
          <p:cNvSpPr>
            <a:spLocks noGrp="1"/>
          </p:cNvSpPr>
          <p:nvPr>
            <p:ph type="sldNum" sz="quarter" idx="12"/>
          </p:nvPr>
        </p:nvSpPr>
        <p:spPr/>
        <p:txBody>
          <a:bodyPr/>
          <a:lstStyle/>
          <a:p>
            <a:fld id="{6A95C266-5812-4718-AC27-F31CCE39BFCF}" type="slidenum">
              <a:rPr lang="en-IN" smtClean="0"/>
              <a:t>‹#›</a:t>
            </a:fld>
            <a:endParaRPr lang="en-IN"/>
          </a:p>
        </p:txBody>
      </p:sp>
    </p:spTree>
    <p:extLst>
      <p:ext uri="{BB962C8B-B14F-4D97-AF65-F5344CB8AC3E}">
        <p14:creationId xmlns:p14="http://schemas.microsoft.com/office/powerpoint/2010/main" val="4191317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48D9B-F338-D093-8095-AF950497A8A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EE61D27-5DDF-8823-6B91-A269730F91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0CA2DE-EF28-7F5E-4E96-32E755B263E2}"/>
              </a:ext>
            </a:extLst>
          </p:cNvPr>
          <p:cNvSpPr>
            <a:spLocks noGrp="1"/>
          </p:cNvSpPr>
          <p:nvPr>
            <p:ph type="dt" sz="half" idx="10"/>
          </p:nvPr>
        </p:nvSpPr>
        <p:spPr/>
        <p:txBody>
          <a:bodyPr/>
          <a:lstStyle/>
          <a:p>
            <a:fld id="{869628CB-11F6-46B8-B639-18C23171EB0C}" type="datetimeFigureOut">
              <a:rPr lang="en-IN" smtClean="0"/>
              <a:t>05-10-2025</a:t>
            </a:fld>
            <a:endParaRPr lang="en-IN"/>
          </a:p>
        </p:txBody>
      </p:sp>
      <p:sp>
        <p:nvSpPr>
          <p:cNvPr id="5" name="Footer Placeholder 4">
            <a:extLst>
              <a:ext uri="{FF2B5EF4-FFF2-40B4-BE49-F238E27FC236}">
                <a16:creationId xmlns:a16="http://schemas.microsoft.com/office/drawing/2014/main" id="{83D4B43E-E525-E000-5369-C288BF5338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6A5BA6-7C97-0000-8196-2305FC42D06A}"/>
              </a:ext>
            </a:extLst>
          </p:cNvPr>
          <p:cNvSpPr>
            <a:spLocks noGrp="1"/>
          </p:cNvSpPr>
          <p:nvPr>
            <p:ph type="sldNum" sz="quarter" idx="12"/>
          </p:nvPr>
        </p:nvSpPr>
        <p:spPr/>
        <p:txBody>
          <a:bodyPr/>
          <a:lstStyle/>
          <a:p>
            <a:fld id="{6A95C266-5812-4718-AC27-F31CCE39BFCF}" type="slidenum">
              <a:rPr lang="en-IN" smtClean="0"/>
              <a:t>‹#›</a:t>
            </a:fld>
            <a:endParaRPr lang="en-IN"/>
          </a:p>
        </p:txBody>
      </p:sp>
    </p:spTree>
    <p:extLst>
      <p:ext uri="{BB962C8B-B14F-4D97-AF65-F5344CB8AC3E}">
        <p14:creationId xmlns:p14="http://schemas.microsoft.com/office/powerpoint/2010/main" val="2765673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5C18F9-9BAC-8A0F-0346-DF3DAEE977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866B7C-5CC1-6CFE-0BAD-31AA8C25DF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A299B8-688E-368F-DC27-A06111E60EBC}"/>
              </a:ext>
            </a:extLst>
          </p:cNvPr>
          <p:cNvSpPr>
            <a:spLocks noGrp="1"/>
          </p:cNvSpPr>
          <p:nvPr>
            <p:ph type="dt" sz="half" idx="10"/>
          </p:nvPr>
        </p:nvSpPr>
        <p:spPr/>
        <p:txBody>
          <a:bodyPr/>
          <a:lstStyle/>
          <a:p>
            <a:fld id="{869628CB-11F6-46B8-B639-18C23171EB0C}" type="datetimeFigureOut">
              <a:rPr lang="en-IN" smtClean="0"/>
              <a:t>05-10-2025</a:t>
            </a:fld>
            <a:endParaRPr lang="en-IN"/>
          </a:p>
        </p:txBody>
      </p:sp>
      <p:sp>
        <p:nvSpPr>
          <p:cNvPr id="5" name="Footer Placeholder 4">
            <a:extLst>
              <a:ext uri="{FF2B5EF4-FFF2-40B4-BE49-F238E27FC236}">
                <a16:creationId xmlns:a16="http://schemas.microsoft.com/office/drawing/2014/main" id="{8C9A81DA-9EC4-178D-62B6-4F139121FB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932AD2-BF55-3B40-1D8C-816E86BCA21F}"/>
              </a:ext>
            </a:extLst>
          </p:cNvPr>
          <p:cNvSpPr>
            <a:spLocks noGrp="1"/>
          </p:cNvSpPr>
          <p:nvPr>
            <p:ph type="sldNum" sz="quarter" idx="12"/>
          </p:nvPr>
        </p:nvSpPr>
        <p:spPr/>
        <p:txBody>
          <a:bodyPr/>
          <a:lstStyle/>
          <a:p>
            <a:fld id="{6A95C266-5812-4718-AC27-F31CCE39BFCF}" type="slidenum">
              <a:rPr lang="en-IN" smtClean="0"/>
              <a:t>‹#›</a:t>
            </a:fld>
            <a:endParaRPr lang="en-IN"/>
          </a:p>
        </p:txBody>
      </p:sp>
    </p:spTree>
    <p:extLst>
      <p:ext uri="{BB962C8B-B14F-4D97-AF65-F5344CB8AC3E}">
        <p14:creationId xmlns:p14="http://schemas.microsoft.com/office/powerpoint/2010/main" val="3673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635E4F-F893-5C8E-E237-52A0D02271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7BA04A-3B0F-3EDF-13B5-DE50F71D77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4EF8BE-8299-ADC2-02DF-D083C888AC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9628CB-11F6-46B8-B639-18C23171EB0C}" type="datetimeFigureOut">
              <a:rPr lang="en-IN" smtClean="0"/>
              <a:t>05-10-2025</a:t>
            </a:fld>
            <a:endParaRPr lang="en-IN"/>
          </a:p>
        </p:txBody>
      </p:sp>
      <p:sp>
        <p:nvSpPr>
          <p:cNvPr id="5" name="Footer Placeholder 4">
            <a:extLst>
              <a:ext uri="{FF2B5EF4-FFF2-40B4-BE49-F238E27FC236}">
                <a16:creationId xmlns:a16="http://schemas.microsoft.com/office/drawing/2014/main" id="{C6A3AE52-F15F-9CAC-58C2-E73C6E9EE1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B5DD7BB-68F5-E369-6B80-BA8084989C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95C266-5812-4718-AC27-F31CCE39BFCF}" type="slidenum">
              <a:rPr lang="en-IN" smtClean="0"/>
              <a:t>‹#›</a:t>
            </a:fld>
            <a:endParaRPr lang="en-IN"/>
          </a:p>
        </p:txBody>
      </p:sp>
      <p:pic>
        <p:nvPicPr>
          <p:cNvPr id="7" name="Picture 6">
            <a:extLst>
              <a:ext uri="{FF2B5EF4-FFF2-40B4-BE49-F238E27FC236}">
                <a16:creationId xmlns:a16="http://schemas.microsoft.com/office/drawing/2014/main" id="{C11AE6C4-4C24-7C66-0E7A-393D45130D50}"/>
              </a:ext>
            </a:extLst>
          </p:cNvPr>
          <p:cNvPicPr>
            <a:picLocks noChangeAspect="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2908" y="23813"/>
            <a:ext cx="11320757" cy="799023"/>
          </a:xfrm>
          <a:prstGeom prst="rect">
            <a:avLst/>
          </a:prstGeom>
          <a:noFill/>
          <a:ln>
            <a:noFill/>
          </a:ln>
        </p:spPr>
      </p:pic>
    </p:spTree>
    <p:extLst>
      <p:ext uri="{BB962C8B-B14F-4D97-AF65-F5344CB8AC3E}">
        <p14:creationId xmlns:p14="http://schemas.microsoft.com/office/powerpoint/2010/main" val="123844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DC13D-8DCD-EDB2-E749-07E844491D64}"/>
              </a:ext>
            </a:extLst>
          </p:cNvPr>
          <p:cNvSpPr>
            <a:spLocks noGrp="1"/>
          </p:cNvSpPr>
          <p:nvPr>
            <p:ph type="ctrTitle"/>
          </p:nvPr>
        </p:nvSpPr>
        <p:spPr>
          <a:xfrm>
            <a:off x="1524000" y="1985005"/>
            <a:ext cx="9144000" cy="2387600"/>
          </a:xfrm>
        </p:spPr>
        <p:txBody>
          <a:bodyPr/>
          <a:lstStyle/>
          <a:p>
            <a:r>
              <a:rPr lang="en-US" b="1" dirty="0"/>
              <a:t>Advance Database Management Systems</a:t>
            </a:r>
            <a:endParaRPr lang="en-IN" b="1" dirty="0"/>
          </a:p>
        </p:txBody>
      </p:sp>
    </p:spTree>
    <p:extLst>
      <p:ext uri="{BB962C8B-B14F-4D97-AF65-F5344CB8AC3E}">
        <p14:creationId xmlns:p14="http://schemas.microsoft.com/office/powerpoint/2010/main" val="2920261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E57E5-E6E3-F44E-179D-A507EB9190CB}"/>
              </a:ext>
            </a:extLst>
          </p:cNvPr>
          <p:cNvSpPr>
            <a:spLocks noGrp="1"/>
          </p:cNvSpPr>
          <p:nvPr>
            <p:ph type="title"/>
          </p:nvPr>
        </p:nvSpPr>
        <p:spPr>
          <a:xfrm>
            <a:off x="838200" y="658136"/>
            <a:ext cx="10515600" cy="752475"/>
          </a:xfrm>
        </p:spPr>
        <p:txBody>
          <a:bodyPr>
            <a:normAutofit/>
          </a:bodyPr>
          <a:lstStyle/>
          <a:p>
            <a:r>
              <a:rPr lang="en-US" sz="4000" b="1" dirty="0">
                <a:latin typeface="Times New Roman" panose="02020603050405020304" pitchFamily="18" charset="0"/>
                <a:cs typeface="Times New Roman" panose="02020603050405020304" pitchFamily="18" charset="0"/>
              </a:rPr>
              <a:t>               EXPERIMETN 02: JOINS</a:t>
            </a:r>
            <a:endParaRPr lang="en-IN" sz="3200" b="1" u="sng"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B88F6F6-C501-E7B7-F251-C5643CED5038}"/>
              </a:ext>
            </a:extLst>
          </p:cNvPr>
          <p:cNvSpPr txBox="1"/>
          <p:nvPr/>
        </p:nvSpPr>
        <p:spPr>
          <a:xfrm>
            <a:off x="749300" y="2194089"/>
            <a:ext cx="10604500" cy="2862322"/>
          </a:xfrm>
          <a:prstGeom prst="rect">
            <a:avLst/>
          </a:prstGeom>
          <a:noFill/>
        </p:spPr>
        <p:txBody>
          <a:bodyPr wrap="square" rtlCol="0">
            <a:spAutoFit/>
          </a:bodyPr>
          <a:lstStyle/>
          <a:p>
            <a:r>
              <a:rPr lang="en-US" sz="2000" dirty="0"/>
              <a:t>You are a </a:t>
            </a:r>
            <a:r>
              <a:rPr lang="en-US" sz="2000" b="1" dirty="0"/>
              <a:t>Database Engineer</a:t>
            </a:r>
            <a:r>
              <a:rPr lang="en-US" sz="2000" dirty="0"/>
              <a:t> at </a:t>
            </a:r>
            <a:r>
              <a:rPr lang="en-US" sz="2000" b="1" dirty="0" err="1"/>
              <a:t>TalentTree</a:t>
            </a:r>
            <a:r>
              <a:rPr lang="en-US" sz="2000" b="1" dirty="0"/>
              <a:t> Inc.</a:t>
            </a:r>
            <a:r>
              <a:rPr lang="en-US" sz="2000" dirty="0"/>
              <a:t>, an enterprise HR analytics platform that stores employee data, including their reporting relationships. The company maintains a centralized </a:t>
            </a:r>
            <a:r>
              <a:rPr lang="en-US" sz="2000" b="1" dirty="0"/>
              <a:t>Employee </a:t>
            </a:r>
            <a:r>
              <a:rPr lang="en-US" sz="2000" dirty="0"/>
              <a:t>relation that holds:</a:t>
            </a:r>
            <a:br>
              <a:rPr lang="en-US" sz="2000" dirty="0"/>
            </a:br>
            <a:r>
              <a:rPr lang="en-US" sz="2000" dirty="0"/>
              <a:t>Each employee’s ID, name, department, and manager ID (who is also an employee in the same table).</a:t>
            </a:r>
          </a:p>
          <a:p>
            <a:r>
              <a:rPr lang="en-US" sz="2000" dirty="0"/>
              <a:t>Your task is to generate a report that </a:t>
            </a:r>
            <a:r>
              <a:rPr lang="en-US" sz="2000" b="1" dirty="0"/>
              <a:t>maps employees to their respective managers</a:t>
            </a:r>
            <a:r>
              <a:rPr lang="en-US" sz="2000" dirty="0"/>
              <a:t>, showing:</a:t>
            </a:r>
          </a:p>
          <a:p>
            <a:r>
              <a:rPr lang="en-US" sz="2000" dirty="0"/>
              <a:t>The employee’s name and department</a:t>
            </a:r>
          </a:p>
          <a:p>
            <a:r>
              <a:rPr lang="en-US" sz="2000" dirty="0"/>
              <a:t>Their manager’s name and department (if applicable)</a:t>
            </a:r>
          </a:p>
          <a:p>
            <a:r>
              <a:rPr lang="en-US" sz="2000" dirty="0"/>
              <a:t>This will help the HR department visualize the internal reporting hierarchy.</a:t>
            </a:r>
          </a:p>
        </p:txBody>
      </p:sp>
      <p:sp>
        <p:nvSpPr>
          <p:cNvPr id="9" name="TextBox 8">
            <a:extLst>
              <a:ext uri="{FF2B5EF4-FFF2-40B4-BE49-F238E27FC236}">
                <a16:creationId xmlns:a16="http://schemas.microsoft.com/office/drawing/2014/main" id="{5707EF91-D1D0-48A0-7C0D-B2733430775B}"/>
              </a:ext>
            </a:extLst>
          </p:cNvPr>
          <p:cNvSpPr txBox="1"/>
          <p:nvPr/>
        </p:nvSpPr>
        <p:spPr>
          <a:xfrm>
            <a:off x="2667000" y="1426166"/>
            <a:ext cx="6565900" cy="477054"/>
          </a:xfrm>
          <a:prstGeom prst="rect">
            <a:avLst/>
          </a:prstGeom>
          <a:noFill/>
        </p:spPr>
        <p:txBody>
          <a:bodyPr wrap="square">
            <a:spAutoFit/>
          </a:bodyPr>
          <a:lstStyle/>
          <a:p>
            <a:r>
              <a:rPr lang="en-US" sz="2500" b="1" u="sng" dirty="0">
                <a:latin typeface="Times New Roman" panose="02020603050405020304" pitchFamily="18" charset="0"/>
                <a:cs typeface="Times New Roman" panose="02020603050405020304" pitchFamily="18" charset="0"/>
              </a:rPr>
              <a:t>Organizational Hierarchy Explorer </a:t>
            </a:r>
            <a:r>
              <a:rPr lang="en-US" sz="2500" dirty="0">
                <a:latin typeface="Times New Roman" panose="02020603050405020304" pitchFamily="18" charset="0"/>
                <a:cs typeface="Times New Roman" panose="02020603050405020304" pitchFamily="18" charset="0"/>
              </a:rPr>
              <a:t>(medium)</a:t>
            </a:r>
            <a:endParaRPr lang="en-IN" sz="2500" dirty="0"/>
          </a:p>
        </p:txBody>
      </p:sp>
    </p:spTree>
    <p:extLst>
      <p:ext uri="{BB962C8B-B14F-4D97-AF65-F5344CB8AC3E}">
        <p14:creationId xmlns:p14="http://schemas.microsoft.com/office/powerpoint/2010/main" val="2003745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DD27396-4758-7560-B5F4-58A2021193C7}"/>
              </a:ext>
            </a:extLst>
          </p:cNvPr>
          <p:cNvGraphicFramePr>
            <a:graphicFrameLocks noGrp="1"/>
          </p:cNvGraphicFramePr>
          <p:nvPr>
            <p:extLst>
              <p:ext uri="{D42A27DB-BD31-4B8C-83A1-F6EECF244321}">
                <p14:modId xmlns:p14="http://schemas.microsoft.com/office/powerpoint/2010/main" val="3799813650"/>
              </p:ext>
            </p:extLst>
          </p:nvPr>
        </p:nvGraphicFramePr>
        <p:xfrm>
          <a:off x="300531" y="1795321"/>
          <a:ext cx="4918450" cy="3906031"/>
        </p:xfrm>
        <a:graphic>
          <a:graphicData uri="http://schemas.openxmlformats.org/drawingml/2006/table">
            <a:tbl>
              <a:tblPr firstRow="1" bandRow="1">
                <a:tableStyleId>{5C22544A-7EE6-4342-B048-85BDC9FD1C3A}</a:tableStyleId>
              </a:tblPr>
              <a:tblGrid>
                <a:gridCol w="812788">
                  <a:extLst>
                    <a:ext uri="{9D8B030D-6E8A-4147-A177-3AD203B41FA5}">
                      <a16:colId xmlns:a16="http://schemas.microsoft.com/office/drawing/2014/main" val="891053778"/>
                    </a:ext>
                  </a:extLst>
                </a:gridCol>
                <a:gridCol w="1250319">
                  <a:extLst>
                    <a:ext uri="{9D8B030D-6E8A-4147-A177-3AD203B41FA5}">
                      <a16:colId xmlns:a16="http://schemas.microsoft.com/office/drawing/2014/main" val="325889527"/>
                    </a:ext>
                  </a:extLst>
                </a:gridCol>
                <a:gridCol w="1518249">
                  <a:extLst>
                    <a:ext uri="{9D8B030D-6E8A-4147-A177-3AD203B41FA5}">
                      <a16:colId xmlns:a16="http://schemas.microsoft.com/office/drawing/2014/main" val="3153158660"/>
                    </a:ext>
                  </a:extLst>
                </a:gridCol>
                <a:gridCol w="1337094">
                  <a:extLst>
                    <a:ext uri="{9D8B030D-6E8A-4147-A177-3AD203B41FA5}">
                      <a16:colId xmlns:a16="http://schemas.microsoft.com/office/drawing/2014/main" val="3611875472"/>
                    </a:ext>
                  </a:extLst>
                </a:gridCol>
              </a:tblGrid>
              <a:tr h="756271">
                <a:tc>
                  <a:txBody>
                    <a:bodyPr/>
                    <a:lstStyle/>
                    <a:p>
                      <a:pPr algn="ctr"/>
                      <a:r>
                        <a:rPr lang="en-US" dirty="0" err="1"/>
                        <a:t>EmpID</a:t>
                      </a:r>
                      <a:endParaRPr lang="en-IN" dirty="0"/>
                    </a:p>
                  </a:txBody>
                  <a:tcPr/>
                </a:tc>
                <a:tc>
                  <a:txBody>
                    <a:bodyPr/>
                    <a:lstStyle/>
                    <a:p>
                      <a:pPr algn="ctr"/>
                      <a:r>
                        <a:rPr lang="en-US" dirty="0" err="1"/>
                        <a:t>Ename</a:t>
                      </a:r>
                      <a:endParaRPr lang="en-IN" dirty="0"/>
                    </a:p>
                  </a:txBody>
                  <a:tcPr/>
                </a:tc>
                <a:tc>
                  <a:txBody>
                    <a:bodyPr/>
                    <a:lstStyle/>
                    <a:p>
                      <a:pPr algn="ctr"/>
                      <a:r>
                        <a:rPr lang="en-US" dirty="0"/>
                        <a:t>Department</a:t>
                      </a:r>
                      <a:endParaRPr lang="en-IN" dirty="0"/>
                    </a:p>
                  </a:txBody>
                  <a:tcPr/>
                </a:tc>
                <a:tc>
                  <a:txBody>
                    <a:bodyPr/>
                    <a:lstStyle/>
                    <a:p>
                      <a:pPr algn="ctr"/>
                      <a:r>
                        <a:rPr lang="en-US" dirty="0" err="1"/>
                        <a:t>ManagerID</a:t>
                      </a:r>
                      <a:endParaRPr lang="en-IN" dirty="0"/>
                    </a:p>
                  </a:txBody>
                  <a:tcPr/>
                </a:tc>
                <a:extLst>
                  <a:ext uri="{0D108BD9-81ED-4DB2-BD59-A6C34878D82A}">
                    <a16:rowId xmlns:a16="http://schemas.microsoft.com/office/drawing/2014/main" val="3747640024"/>
                  </a:ext>
                </a:extLst>
              </a:tr>
              <a:tr h="524960">
                <a:tc>
                  <a:txBody>
                    <a:bodyPr/>
                    <a:lstStyle/>
                    <a:p>
                      <a:pPr algn="ctr"/>
                      <a:r>
                        <a:rPr lang="en-US" dirty="0"/>
                        <a:t>1</a:t>
                      </a:r>
                      <a:endParaRPr lang="en-IN" dirty="0"/>
                    </a:p>
                  </a:txBody>
                  <a:tcPr/>
                </a:tc>
                <a:tc>
                  <a:txBody>
                    <a:bodyPr/>
                    <a:lstStyle/>
                    <a:p>
                      <a:pPr algn="ctr"/>
                      <a:r>
                        <a:rPr lang="en-US" dirty="0"/>
                        <a:t>Alice</a:t>
                      </a:r>
                      <a:endParaRPr lang="en-IN" dirty="0"/>
                    </a:p>
                  </a:txBody>
                  <a:tcPr/>
                </a:tc>
                <a:tc>
                  <a:txBody>
                    <a:bodyPr/>
                    <a:lstStyle/>
                    <a:p>
                      <a:pPr algn="ctr"/>
                      <a:r>
                        <a:rPr lang="en-US" dirty="0"/>
                        <a:t>HR</a:t>
                      </a:r>
                      <a:endParaRPr lang="en-IN" dirty="0"/>
                    </a:p>
                  </a:txBody>
                  <a:tcPr/>
                </a:tc>
                <a:tc>
                  <a:txBody>
                    <a:bodyPr/>
                    <a:lstStyle/>
                    <a:p>
                      <a:pPr algn="ctr"/>
                      <a:r>
                        <a:rPr lang="en-US" dirty="0"/>
                        <a:t>NULL</a:t>
                      </a:r>
                      <a:endParaRPr lang="en-IN" dirty="0"/>
                    </a:p>
                  </a:txBody>
                  <a:tcPr/>
                </a:tc>
                <a:extLst>
                  <a:ext uri="{0D108BD9-81ED-4DB2-BD59-A6C34878D82A}">
                    <a16:rowId xmlns:a16="http://schemas.microsoft.com/office/drawing/2014/main" val="1566855739"/>
                  </a:ext>
                </a:extLst>
              </a:tr>
              <a:tr h="524960">
                <a:tc>
                  <a:txBody>
                    <a:bodyPr/>
                    <a:lstStyle/>
                    <a:p>
                      <a:pPr algn="ctr"/>
                      <a:r>
                        <a:rPr lang="en-US" dirty="0"/>
                        <a:t>2</a:t>
                      </a:r>
                      <a:endParaRPr lang="en-IN" dirty="0"/>
                    </a:p>
                  </a:txBody>
                  <a:tcPr/>
                </a:tc>
                <a:tc>
                  <a:txBody>
                    <a:bodyPr/>
                    <a:lstStyle/>
                    <a:p>
                      <a:pPr algn="ctr"/>
                      <a:r>
                        <a:rPr lang="en-US" dirty="0"/>
                        <a:t>Bob</a:t>
                      </a:r>
                      <a:endParaRPr lang="en-IN" dirty="0"/>
                    </a:p>
                  </a:txBody>
                  <a:tcPr/>
                </a:tc>
                <a:tc>
                  <a:txBody>
                    <a:bodyPr/>
                    <a:lstStyle/>
                    <a:p>
                      <a:pPr algn="ctr"/>
                      <a:r>
                        <a:rPr lang="en-US" dirty="0"/>
                        <a:t>Finance</a:t>
                      </a:r>
                      <a:endParaRPr lang="en-IN" dirty="0"/>
                    </a:p>
                  </a:txBody>
                  <a:tcPr/>
                </a:tc>
                <a:tc>
                  <a:txBody>
                    <a:bodyPr/>
                    <a:lstStyle/>
                    <a:p>
                      <a:pPr algn="ctr"/>
                      <a:r>
                        <a:rPr lang="en-US" dirty="0"/>
                        <a:t>1</a:t>
                      </a:r>
                      <a:endParaRPr lang="en-IN" dirty="0"/>
                    </a:p>
                  </a:txBody>
                  <a:tcPr/>
                </a:tc>
                <a:extLst>
                  <a:ext uri="{0D108BD9-81ED-4DB2-BD59-A6C34878D82A}">
                    <a16:rowId xmlns:a16="http://schemas.microsoft.com/office/drawing/2014/main" val="2835434133"/>
                  </a:ext>
                </a:extLst>
              </a:tr>
              <a:tr h="524960">
                <a:tc>
                  <a:txBody>
                    <a:bodyPr/>
                    <a:lstStyle/>
                    <a:p>
                      <a:pPr algn="ctr"/>
                      <a:r>
                        <a:rPr lang="en-US" dirty="0"/>
                        <a:t>3</a:t>
                      </a:r>
                      <a:endParaRPr lang="en-IN" dirty="0"/>
                    </a:p>
                  </a:txBody>
                  <a:tcPr/>
                </a:tc>
                <a:tc>
                  <a:txBody>
                    <a:bodyPr/>
                    <a:lstStyle/>
                    <a:p>
                      <a:pPr algn="ctr"/>
                      <a:r>
                        <a:rPr lang="en-US" dirty="0"/>
                        <a:t>Charlie</a:t>
                      </a:r>
                      <a:endParaRPr lang="en-IN" dirty="0"/>
                    </a:p>
                  </a:txBody>
                  <a:tcPr/>
                </a:tc>
                <a:tc>
                  <a:txBody>
                    <a:bodyPr/>
                    <a:lstStyle/>
                    <a:p>
                      <a:pPr algn="ctr"/>
                      <a:r>
                        <a:rPr lang="en-US" dirty="0"/>
                        <a:t>IT</a:t>
                      </a:r>
                      <a:endParaRPr lang="en-IN" dirty="0"/>
                    </a:p>
                  </a:txBody>
                  <a:tcPr/>
                </a:tc>
                <a:tc>
                  <a:txBody>
                    <a:bodyPr/>
                    <a:lstStyle/>
                    <a:p>
                      <a:pPr algn="ctr"/>
                      <a:r>
                        <a:rPr lang="en-US" dirty="0"/>
                        <a:t>1</a:t>
                      </a:r>
                      <a:endParaRPr lang="en-IN" dirty="0"/>
                    </a:p>
                  </a:txBody>
                  <a:tcPr/>
                </a:tc>
                <a:extLst>
                  <a:ext uri="{0D108BD9-81ED-4DB2-BD59-A6C34878D82A}">
                    <a16:rowId xmlns:a16="http://schemas.microsoft.com/office/drawing/2014/main" val="1423405689"/>
                  </a:ext>
                </a:extLst>
              </a:tr>
              <a:tr h="524960">
                <a:tc>
                  <a:txBody>
                    <a:bodyPr/>
                    <a:lstStyle/>
                    <a:p>
                      <a:pPr algn="ctr"/>
                      <a:r>
                        <a:rPr lang="en-US" dirty="0"/>
                        <a:t>4</a:t>
                      </a:r>
                      <a:endParaRPr lang="en-IN" dirty="0"/>
                    </a:p>
                  </a:txBody>
                  <a:tcPr/>
                </a:tc>
                <a:tc>
                  <a:txBody>
                    <a:bodyPr/>
                    <a:lstStyle/>
                    <a:p>
                      <a:pPr algn="ctr"/>
                      <a:r>
                        <a:rPr lang="en-US" dirty="0"/>
                        <a:t>David</a:t>
                      </a:r>
                      <a:endParaRPr lang="en-IN" dirty="0"/>
                    </a:p>
                  </a:txBody>
                  <a:tcPr/>
                </a:tc>
                <a:tc>
                  <a:txBody>
                    <a:bodyPr/>
                    <a:lstStyle/>
                    <a:p>
                      <a:pPr algn="ctr"/>
                      <a:r>
                        <a:rPr lang="en-US" dirty="0"/>
                        <a:t>Finance</a:t>
                      </a:r>
                      <a:endParaRPr lang="en-IN" dirty="0"/>
                    </a:p>
                  </a:txBody>
                  <a:tcPr/>
                </a:tc>
                <a:tc>
                  <a:txBody>
                    <a:bodyPr/>
                    <a:lstStyle/>
                    <a:p>
                      <a:pPr algn="ctr"/>
                      <a:r>
                        <a:rPr lang="en-US" dirty="0"/>
                        <a:t>2</a:t>
                      </a:r>
                      <a:endParaRPr lang="en-IN" dirty="0"/>
                    </a:p>
                  </a:txBody>
                  <a:tcPr/>
                </a:tc>
                <a:extLst>
                  <a:ext uri="{0D108BD9-81ED-4DB2-BD59-A6C34878D82A}">
                    <a16:rowId xmlns:a16="http://schemas.microsoft.com/office/drawing/2014/main" val="873773808"/>
                  </a:ext>
                </a:extLst>
              </a:tr>
              <a:tr h="524960">
                <a:tc>
                  <a:txBody>
                    <a:bodyPr/>
                    <a:lstStyle/>
                    <a:p>
                      <a:pPr algn="ctr"/>
                      <a:r>
                        <a:rPr lang="en-US" dirty="0"/>
                        <a:t>5</a:t>
                      </a:r>
                      <a:endParaRPr lang="en-IN" dirty="0"/>
                    </a:p>
                  </a:txBody>
                  <a:tcPr/>
                </a:tc>
                <a:tc>
                  <a:txBody>
                    <a:bodyPr/>
                    <a:lstStyle/>
                    <a:p>
                      <a:pPr algn="ctr"/>
                      <a:r>
                        <a:rPr lang="en-US" dirty="0"/>
                        <a:t>Eve</a:t>
                      </a:r>
                      <a:endParaRPr lang="en-IN" dirty="0"/>
                    </a:p>
                  </a:txBody>
                  <a:tcPr/>
                </a:tc>
                <a:tc>
                  <a:txBody>
                    <a:bodyPr/>
                    <a:lstStyle/>
                    <a:p>
                      <a:pPr algn="ctr"/>
                      <a:r>
                        <a:rPr lang="en-US" dirty="0"/>
                        <a:t>IT</a:t>
                      </a:r>
                      <a:endParaRPr lang="en-IN" dirty="0"/>
                    </a:p>
                  </a:txBody>
                  <a:tcPr/>
                </a:tc>
                <a:tc>
                  <a:txBody>
                    <a:bodyPr/>
                    <a:lstStyle/>
                    <a:p>
                      <a:pPr algn="ctr"/>
                      <a:r>
                        <a:rPr lang="en-US" dirty="0"/>
                        <a:t>3</a:t>
                      </a:r>
                      <a:endParaRPr lang="en-IN" dirty="0"/>
                    </a:p>
                  </a:txBody>
                  <a:tcPr/>
                </a:tc>
                <a:extLst>
                  <a:ext uri="{0D108BD9-81ED-4DB2-BD59-A6C34878D82A}">
                    <a16:rowId xmlns:a16="http://schemas.microsoft.com/office/drawing/2014/main" val="3471607840"/>
                  </a:ext>
                </a:extLst>
              </a:tr>
              <a:tr h="524960">
                <a:tc>
                  <a:txBody>
                    <a:bodyPr/>
                    <a:lstStyle/>
                    <a:p>
                      <a:pPr algn="ctr"/>
                      <a:r>
                        <a:rPr lang="en-US" dirty="0"/>
                        <a:t>6</a:t>
                      </a:r>
                      <a:endParaRPr lang="en-IN" dirty="0"/>
                    </a:p>
                  </a:txBody>
                  <a:tcPr/>
                </a:tc>
                <a:tc>
                  <a:txBody>
                    <a:bodyPr/>
                    <a:lstStyle/>
                    <a:p>
                      <a:pPr algn="ctr"/>
                      <a:r>
                        <a:rPr lang="en-US" dirty="0"/>
                        <a:t>Frank</a:t>
                      </a:r>
                      <a:endParaRPr lang="en-IN" dirty="0"/>
                    </a:p>
                  </a:txBody>
                  <a:tcPr/>
                </a:tc>
                <a:tc>
                  <a:txBody>
                    <a:bodyPr/>
                    <a:lstStyle/>
                    <a:p>
                      <a:pPr algn="ctr"/>
                      <a:r>
                        <a:rPr lang="en-US" dirty="0"/>
                        <a:t>HR</a:t>
                      </a:r>
                      <a:endParaRPr lang="en-IN" dirty="0"/>
                    </a:p>
                  </a:txBody>
                  <a:tcPr/>
                </a:tc>
                <a:tc>
                  <a:txBody>
                    <a:bodyPr/>
                    <a:lstStyle/>
                    <a:p>
                      <a:pPr algn="ctr"/>
                      <a:r>
                        <a:rPr lang="en-US" dirty="0"/>
                        <a:t>1</a:t>
                      </a:r>
                      <a:endParaRPr lang="en-IN" dirty="0"/>
                    </a:p>
                  </a:txBody>
                  <a:tcPr/>
                </a:tc>
                <a:extLst>
                  <a:ext uri="{0D108BD9-81ED-4DB2-BD59-A6C34878D82A}">
                    <a16:rowId xmlns:a16="http://schemas.microsoft.com/office/drawing/2014/main" val="109327169"/>
                  </a:ext>
                </a:extLst>
              </a:tr>
            </a:tbl>
          </a:graphicData>
        </a:graphic>
      </p:graphicFrame>
      <p:graphicFrame>
        <p:nvGraphicFramePr>
          <p:cNvPr id="2" name="Table 1">
            <a:extLst>
              <a:ext uri="{FF2B5EF4-FFF2-40B4-BE49-F238E27FC236}">
                <a16:creationId xmlns:a16="http://schemas.microsoft.com/office/drawing/2014/main" id="{7D9AC827-4A11-1DA0-76E9-C53C067687B3}"/>
              </a:ext>
            </a:extLst>
          </p:cNvPr>
          <p:cNvGraphicFramePr>
            <a:graphicFrameLocks noGrp="1"/>
          </p:cNvGraphicFramePr>
          <p:nvPr>
            <p:extLst>
              <p:ext uri="{D42A27DB-BD31-4B8C-83A1-F6EECF244321}">
                <p14:modId xmlns:p14="http://schemas.microsoft.com/office/powerpoint/2010/main" val="4125482641"/>
              </p:ext>
            </p:extLst>
          </p:nvPr>
        </p:nvGraphicFramePr>
        <p:xfrm>
          <a:off x="5926347" y="1795320"/>
          <a:ext cx="6047117" cy="3906030"/>
        </p:xfrm>
        <a:graphic>
          <a:graphicData uri="http://schemas.openxmlformats.org/drawingml/2006/table">
            <a:tbl>
              <a:tblPr firstRow="1" bandRow="1">
                <a:tableStyleId>{21E4AEA4-8DFA-4A89-87EB-49C32662AFE0}</a:tableStyleId>
              </a:tblPr>
              <a:tblGrid>
                <a:gridCol w="1691471">
                  <a:extLst>
                    <a:ext uri="{9D8B030D-6E8A-4147-A177-3AD203B41FA5}">
                      <a16:colId xmlns:a16="http://schemas.microsoft.com/office/drawing/2014/main" val="12825124"/>
                    </a:ext>
                  </a:extLst>
                </a:gridCol>
                <a:gridCol w="1661052">
                  <a:extLst>
                    <a:ext uri="{9D8B030D-6E8A-4147-A177-3AD203B41FA5}">
                      <a16:colId xmlns:a16="http://schemas.microsoft.com/office/drawing/2014/main" val="4217734149"/>
                    </a:ext>
                  </a:extLst>
                </a:gridCol>
                <a:gridCol w="1182814">
                  <a:extLst>
                    <a:ext uri="{9D8B030D-6E8A-4147-A177-3AD203B41FA5}">
                      <a16:colId xmlns:a16="http://schemas.microsoft.com/office/drawing/2014/main" val="3744953430"/>
                    </a:ext>
                  </a:extLst>
                </a:gridCol>
                <a:gridCol w="1511780">
                  <a:extLst>
                    <a:ext uri="{9D8B030D-6E8A-4147-A177-3AD203B41FA5}">
                      <a16:colId xmlns:a16="http://schemas.microsoft.com/office/drawing/2014/main" val="3016790670"/>
                    </a:ext>
                  </a:extLst>
                </a:gridCol>
              </a:tblGrid>
              <a:tr h="231888">
                <a:tc>
                  <a:txBody>
                    <a:bodyPr/>
                    <a:lstStyle/>
                    <a:p>
                      <a:r>
                        <a:rPr lang="en-US" dirty="0" err="1"/>
                        <a:t>EmployeeName</a:t>
                      </a:r>
                      <a:endParaRPr lang="en-IN" dirty="0"/>
                    </a:p>
                  </a:txBody>
                  <a:tcPr/>
                </a:tc>
                <a:tc>
                  <a:txBody>
                    <a:bodyPr/>
                    <a:lstStyle/>
                    <a:p>
                      <a:r>
                        <a:rPr lang="en-US" dirty="0" err="1"/>
                        <a:t>EmployeeDept</a:t>
                      </a:r>
                      <a:endParaRPr lang="en-IN" dirty="0"/>
                    </a:p>
                  </a:txBody>
                  <a:tcPr/>
                </a:tc>
                <a:tc>
                  <a:txBody>
                    <a:bodyPr/>
                    <a:lstStyle/>
                    <a:p>
                      <a:r>
                        <a:rPr lang="en-US" dirty="0" err="1"/>
                        <a:t>ManagerName</a:t>
                      </a:r>
                      <a:endParaRPr lang="en-IN" dirty="0"/>
                    </a:p>
                  </a:txBody>
                  <a:tcPr/>
                </a:tc>
                <a:tc>
                  <a:txBody>
                    <a:bodyPr/>
                    <a:lstStyle/>
                    <a:p>
                      <a:r>
                        <a:rPr lang="en-US" dirty="0" err="1"/>
                        <a:t>ManagerDept</a:t>
                      </a:r>
                      <a:endParaRPr lang="en-IN" dirty="0"/>
                    </a:p>
                  </a:txBody>
                  <a:tcPr/>
                </a:tc>
                <a:extLst>
                  <a:ext uri="{0D108BD9-81ED-4DB2-BD59-A6C34878D82A}">
                    <a16:rowId xmlns:a16="http://schemas.microsoft.com/office/drawing/2014/main" val="1053650914"/>
                  </a:ext>
                </a:extLst>
              </a:tr>
              <a:tr h="544325">
                <a:tc>
                  <a:txBody>
                    <a:bodyPr/>
                    <a:lstStyle/>
                    <a:p>
                      <a:pPr algn="ctr"/>
                      <a:r>
                        <a:rPr lang="en-US" dirty="0"/>
                        <a:t>Alice</a:t>
                      </a:r>
                      <a:endParaRPr lang="en-IN" dirty="0"/>
                    </a:p>
                  </a:txBody>
                  <a:tcPr/>
                </a:tc>
                <a:tc>
                  <a:txBody>
                    <a:bodyPr/>
                    <a:lstStyle/>
                    <a:p>
                      <a:pPr algn="ctr"/>
                      <a:r>
                        <a:rPr lang="en-US" dirty="0"/>
                        <a:t>HR</a:t>
                      </a:r>
                      <a:endParaRPr lang="en-IN" dirty="0"/>
                    </a:p>
                  </a:txBody>
                  <a:tcPr/>
                </a:tc>
                <a:tc>
                  <a:txBody>
                    <a:bodyPr/>
                    <a:lstStyle/>
                    <a:p>
                      <a:r>
                        <a:rPr lang="en-US" dirty="0"/>
                        <a:t>NULL</a:t>
                      </a:r>
                      <a:endParaRPr lang="en-IN" dirty="0"/>
                    </a:p>
                  </a:txBody>
                  <a:tcPr/>
                </a:tc>
                <a:tc>
                  <a:txBody>
                    <a:bodyPr/>
                    <a:lstStyle/>
                    <a:p>
                      <a:r>
                        <a:rPr lang="en-US" dirty="0"/>
                        <a:t>NULL</a:t>
                      </a:r>
                      <a:endParaRPr lang="en-IN" dirty="0"/>
                    </a:p>
                  </a:txBody>
                  <a:tcPr/>
                </a:tc>
                <a:extLst>
                  <a:ext uri="{0D108BD9-81ED-4DB2-BD59-A6C34878D82A}">
                    <a16:rowId xmlns:a16="http://schemas.microsoft.com/office/drawing/2014/main" val="954778750"/>
                  </a:ext>
                </a:extLst>
              </a:tr>
              <a:tr h="544325">
                <a:tc>
                  <a:txBody>
                    <a:bodyPr/>
                    <a:lstStyle/>
                    <a:p>
                      <a:pPr algn="ctr"/>
                      <a:r>
                        <a:rPr lang="en-US" dirty="0"/>
                        <a:t>Bob</a:t>
                      </a:r>
                      <a:endParaRPr lang="en-IN" dirty="0"/>
                    </a:p>
                  </a:txBody>
                  <a:tcPr/>
                </a:tc>
                <a:tc>
                  <a:txBody>
                    <a:bodyPr/>
                    <a:lstStyle/>
                    <a:p>
                      <a:pPr algn="ctr"/>
                      <a:r>
                        <a:rPr lang="en-US" dirty="0"/>
                        <a:t>Finance</a:t>
                      </a:r>
                      <a:endParaRPr lang="en-IN" dirty="0"/>
                    </a:p>
                  </a:txBody>
                  <a:tcPr/>
                </a:tc>
                <a:tc>
                  <a:txBody>
                    <a:bodyPr/>
                    <a:lstStyle/>
                    <a:p>
                      <a:r>
                        <a:rPr lang="en-US" dirty="0"/>
                        <a:t>Alice</a:t>
                      </a:r>
                      <a:endParaRPr lang="en-IN" dirty="0"/>
                    </a:p>
                  </a:txBody>
                  <a:tcPr/>
                </a:tc>
                <a:tc>
                  <a:txBody>
                    <a:bodyPr/>
                    <a:lstStyle/>
                    <a:p>
                      <a:r>
                        <a:rPr lang="en-US" dirty="0"/>
                        <a:t>HR</a:t>
                      </a:r>
                      <a:endParaRPr lang="en-IN" dirty="0"/>
                    </a:p>
                  </a:txBody>
                  <a:tcPr/>
                </a:tc>
                <a:extLst>
                  <a:ext uri="{0D108BD9-81ED-4DB2-BD59-A6C34878D82A}">
                    <a16:rowId xmlns:a16="http://schemas.microsoft.com/office/drawing/2014/main" val="2664358425"/>
                  </a:ext>
                </a:extLst>
              </a:tr>
              <a:tr h="544325">
                <a:tc>
                  <a:txBody>
                    <a:bodyPr/>
                    <a:lstStyle/>
                    <a:p>
                      <a:pPr algn="ctr"/>
                      <a:r>
                        <a:rPr lang="en-US" dirty="0"/>
                        <a:t>Charlie</a:t>
                      </a:r>
                      <a:endParaRPr lang="en-IN" dirty="0"/>
                    </a:p>
                  </a:txBody>
                  <a:tcPr/>
                </a:tc>
                <a:tc>
                  <a:txBody>
                    <a:bodyPr/>
                    <a:lstStyle/>
                    <a:p>
                      <a:pPr algn="ctr"/>
                      <a:r>
                        <a:rPr lang="en-US" dirty="0"/>
                        <a:t>IT</a:t>
                      </a:r>
                      <a:endParaRPr lang="en-IN" dirty="0"/>
                    </a:p>
                  </a:txBody>
                  <a:tcPr/>
                </a:tc>
                <a:tc>
                  <a:txBody>
                    <a:bodyPr/>
                    <a:lstStyle/>
                    <a:p>
                      <a:r>
                        <a:rPr lang="en-US" dirty="0"/>
                        <a:t>Alice</a:t>
                      </a:r>
                      <a:endParaRPr lang="en-IN" dirty="0"/>
                    </a:p>
                  </a:txBody>
                  <a:tcPr/>
                </a:tc>
                <a:tc>
                  <a:txBody>
                    <a:bodyPr/>
                    <a:lstStyle/>
                    <a:p>
                      <a:r>
                        <a:rPr lang="en-US" dirty="0"/>
                        <a:t>HR</a:t>
                      </a:r>
                      <a:endParaRPr lang="en-IN" dirty="0"/>
                    </a:p>
                  </a:txBody>
                  <a:tcPr/>
                </a:tc>
                <a:extLst>
                  <a:ext uri="{0D108BD9-81ED-4DB2-BD59-A6C34878D82A}">
                    <a16:rowId xmlns:a16="http://schemas.microsoft.com/office/drawing/2014/main" val="1004608186"/>
                  </a:ext>
                </a:extLst>
              </a:tr>
              <a:tr h="544325">
                <a:tc>
                  <a:txBody>
                    <a:bodyPr/>
                    <a:lstStyle/>
                    <a:p>
                      <a:pPr algn="ctr"/>
                      <a:r>
                        <a:rPr lang="en-US" dirty="0"/>
                        <a:t>David</a:t>
                      </a:r>
                      <a:endParaRPr lang="en-IN" dirty="0"/>
                    </a:p>
                  </a:txBody>
                  <a:tcPr/>
                </a:tc>
                <a:tc>
                  <a:txBody>
                    <a:bodyPr/>
                    <a:lstStyle/>
                    <a:p>
                      <a:pPr algn="ctr"/>
                      <a:r>
                        <a:rPr lang="en-US" dirty="0"/>
                        <a:t>Finance</a:t>
                      </a:r>
                      <a:endParaRPr lang="en-IN" dirty="0"/>
                    </a:p>
                  </a:txBody>
                  <a:tcPr/>
                </a:tc>
                <a:tc>
                  <a:txBody>
                    <a:bodyPr/>
                    <a:lstStyle/>
                    <a:p>
                      <a:r>
                        <a:rPr lang="en-US" dirty="0"/>
                        <a:t>Bob</a:t>
                      </a:r>
                      <a:endParaRPr lang="en-IN" dirty="0"/>
                    </a:p>
                  </a:txBody>
                  <a:tcPr/>
                </a:tc>
                <a:tc>
                  <a:txBody>
                    <a:bodyPr/>
                    <a:lstStyle/>
                    <a:p>
                      <a:r>
                        <a:rPr lang="en-US" dirty="0"/>
                        <a:t>Finance</a:t>
                      </a:r>
                      <a:endParaRPr lang="en-IN" dirty="0"/>
                    </a:p>
                  </a:txBody>
                  <a:tcPr/>
                </a:tc>
                <a:extLst>
                  <a:ext uri="{0D108BD9-81ED-4DB2-BD59-A6C34878D82A}">
                    <a16:rowId xmlns:a16="http://schemas.microsoft.com/office/drawing/2014/main" val="1498059905"/>
                  </a:ext>
                </a:extLst>
              </a:tr>
              <a:tr h="544325">
                <a:tc>
                  <a:txBody>
                    <a:bodyPr/>
                    <a:lstStyle/>
                    <a:p>
                      <a:pPr algn="ctr"/>
                      <a:r>
                        <a:rPr lang="en-US" dirty="0"/>
                        <a:t>Eve</a:t>
                      </a:r>
                      <a:endParaRPr lang="en-IN" dirty="0"/>
                    </a:p>
                  </a:txBody>
                  <a:tcPr/>
                </a:tc>
                <a:tc>
                  <a:txBody>
                    <a:bodyPr/>
                    <a:lstStyle/>
                    <a:p>
                      <a:pPr algn="ctr"/>
                      <a:r>
                        <a:rPr lang="en-US" dirty="0"/>
                        <a:t>IT</a:t>
                      </a:r>
                      <a:endParaRPr lang="en-IN" dirty="0"/>
                    </a:p>
                  </a:txBody>
                  <a:tcPr/>
                </a:tc>
                <a:tc>
                  <a:txBody>
                    <a:bodyPr/>
                    <a:lstStyle/>
                    <a:p>
                      <a:r>
                        <a:rPr lang="en-US" dirty="0"/>
                        <a:t>Charlie</a:t>
                      </a:r>
                      <a:endParaRPr lang="en-IN" dirty="0"/>
                    </a:p>
                  </a:txBody>
                  <a:tcPr/>
                </a:tc>
                <a:tc>
                  <a:txBody>
                    <a:bodyPr/>
                    <a:lstStyle/>
                    <a:p>
                      <a:r>
                        <a:rPr lang="en-US" dirty="0"/>
                        <a:t>IT</a:t>
                      </a:r>
                      <a:endParaRPr lang="en-IN" dirty="0"/>
                    </a:p>
                  </a:txBody>
                  <a:tcPr/>
                </a:tc>
                <a:extLst>
                  <a:ext uri="{0D108BD9-81ED-4DB2-BD59-A6C34878D82A}">
                    <a16:rowId xmlns:a16="http://schemas.microsoft.com/office/drawing/2014/main" val="3866359568"/>
                  </a:ext>
                </a:extLst>
              </a:tr>
              <a:tr h="544325">
                <a:tc>
                  <a:txBody>
                    <a:bodyPr/>
                    <a:lstStyle/>
                    <a:p>
                      <a:pPr algn="ctr"/>
                      <a:r>
                        <a:rPr lang="en-US" dirty="0"/>
                        <a:t>Frank</a:t>
                      </a:r>
                      <a:endParaRPr lang="en-IN" dirty="0"/>
                    </a:p>
                  </a:txBody>
                  <a:tcPr/>
                </a:tc>
                <a:tc>
                  <a:txBody>
                    <a:bodyPr/>
                    <a:lstStyle/>
                    <a:p>
                      <a:pPr algn="ctr"/>
                      <a:r>
                        <a:rPr lang="en-US" dirty="0"/>
                        <a:t>HR</a:t>
                      </a:r>
                      <a:endParaRPr lang="en-IN" dirty="0"/>
                    </a:p>
                  </a:txBody>
                  <a:tcPr/>
                </a:tc>
                <a:tc>
                  <a:txBody>
                    <a:bodyPr/>
                    <a:lstStyle/>
                    <a:p>
                      <a:r>
                        <a:rPr lang="en-US" dirty="0"/>
                        <a:t>Alice</a:t>
                      </a:r>
                      <a:endParaRPr lang="en-IN" dirty="0"/>
                    </a:p>
                  </a:txBody>
                  <a:tcPr/>
                </a:tc>
                <a:tc>
                  <a:txBody>
                    <a:bodyPr/>
                    <a:lstStyle/>
                    <a:p>
                      <a:r>
                        <a:rPr lang="en-US" dirty="0"/>
                        <a:t>HR</a:t>
                      </a:r>
                      <a:endParaRPr lang="en-IN" dirty="0"/>
                    </a:p>
                  </a:txBody>
                  <a:tcPr/>
                </a:tc>
                <a:extLst>
                  <a:ext uri="{0D108BD9-81ED-4DB2-BD59-A6C34878D82A}">
                    <a16:rowId xmlns:a16="http://schemas.microsoft.com/office/drawing/2014/main" val="2532206042"/>
                  </a:ext>
                </a:extLst>
              </a:tr>
            </a:tbl>
          </a:graphicData>
        </a:graphic>
      </p:graphicFrame>
      <p:sp>
        <p:nvSpPr>
          <p:cNvPr id="3" name="TextBox 2">
            <a:extLst>
              <a:ext uri="{FF2B5EF4-FFF2-40B4-BE49-F238E27FC236}">
                <a16:creationId xmlns:a16="http://schemas.microsoft.com/office/drawing/2014/main" id="{D0A18428-B6FA-5BF6-8DA9-DBF60E5D21D4}"/>
              </a:ext>
            </a:extLst>
          </p:cNvPr>
          <p:cNvSpPr txBox="1"/>
          <p:nvPr/>
        </p:nvSpPr>
        <p:spPr>
          <a:xfrm>
            <a:off x="1302589" y="1190445"/>
            <a:ext cx="2794958" cy="369332"/>
          </a:xfrm>
          <a:prstGeom prst="rect">
            <a:avLst/>
          </a:prstGeom>
          <a:noFill/>
        </p:spPr>
        <p:txBody>
          <a:bodyPr wrap="square" rtlCol="0">
            <a:spAutoFit/>
          </a:bodyPr>
          <a:lstStyle/>
          <a:p>
            <a:r>
              <a:rPr lang="en-US" dirty="0"/>
              <a:t>Input Table: Employee</a:t>
            </a:r>
            <a:endParaRPr lang="en-IN" dirty="0"/>
          </a:p>
        </p:txBody>
      </p:sp>
      <p:sp>
        <p:nvSpPr>
          <p:cNvPr id="5" name="TextBox 4">
            <a:extLst>
              <a:ext uri="{FF2B5EF4-FFF2-40B4-BE49-F238E27FC236}">
                <a16:creationId xmlns:a16="http://schemas.microsoft.com/office/drawing/2014/main" id="{855C2DE6-CC90-EB47-B0D7-C141AE03A350}"/>
              </a:ext>
            </a:extLst>
          </p:cNvPr>
          <p:cNvSpPr txBox="1"/>
          <p:nvPr/>
        </p:nvSpPr>
        <p:spPr>
          <a:xfrm>
            <a:off x="8373374" y="1216324"/>
            <a:ext cx="2794958" cy="369332"/>
          </a:xfrm>
          <a:prstGeom prst="rect">
            <a:avLst/>
          </a:prstGeom>
          <a:noFill/>
        </p:spPr>
        <p:txBody>
          <a:bodyPr wrap="square" rtlCol="0">
            <a:spAutoFit/>
          </a:bodyPr>
          <a:lstStyle/>
          <a:p>
            <a:r>
              <a:rPr lang="en-US" b="1" dirty="0"/>
              <a:t>OUTPUT</a:t>
            </a:r>
            <a:endParaRPr lang="en-IN" b="1" dirty="0"/>
          </a:p>
        </p:txBody>
      </p:sp>
    </p:spTree>
    <p:extLst>
      <p:ext uri="{BB962C8B-B14F-4D97-AF65-F5344CB8AC3E}">
        <p14:creationId xmlns:p14="http://schemas.microsoft.com/office/powerpoint/2010/main" val="1638458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FA595-6419-8857-66C5-558320309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73C047-E256-174E-434F-7F73424F8380}"/>
              </a:ext>
            </a:extLst>
          </p:cNvPr>
          <p:cNvSpPr>
            <a:spLocks noGrp="1"/>
          </p:cNvSpPr>
          <p:nvPr>
            <p:ph type="title"/>
          </p:nvPr>
        </p:nvSpPr>
        <p:spPr>
          <a:xfrm>
            <a:off x="838200" y="658136"/>
            <a:ext cx="10515600" cy="752475"/>
          </a:xfrm>
        </p:spPr>
        <p:txBody>
          <a:bodyPr>
            <a:normAutofit/>
          </a:bodyPr>
          <a:lstStyle/>
          <a:p>
            <a:r>
              <a:rPr lang="en-US" sz="3000" b="1" dirty="0">
                <a:latin typeface="Times New Roman" panose="02020603050405020304" pitchFamily="18" charset="0"/>
                <a:cs typeface="Times New Roman" panose="02020603050405020304" pitchFamily="18" charset="0"/>
              </a:rPr>
              <a:t>      Financial Forecast Matching with Fallback Strategy </a:t>
            </a:r>
            <a:r>
              <a:rPr lang="en-US" sz="3000" dirty="0">
                <a:latin typeface="Times New Roman" panose="02020603050405020304" pitchFamily="18" charset="0"/>
                <a:cs typeface="Times New Roman" panose="02020603050405020304" pitchFamily="18" charset="0"/>
              </a:rPr>
              <a:t>(hard)</a:t>
            </a:r>
            <a:endParaRPr lang="en-IN" sz="3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E3C6F2E-67A3-6845-DA1F-8D6AB7A94486}"/>
              </a:ext>
            </a:extLst>
          </p:cNvPr>
          <p:cNvSpPr txBox="1"/>
          <p:nvPr/>
        </p:nvSpPr>
        <p:spPr>
          <a:xfrm>
            <a:off x="654570" y="1582340"/>
            <a:ext cx="10388600" cy="4247317"/>
          </a:xfrm>
          <a:prstGeom prst="rect">
            <a:avLst/>
          </a:prstGeom>
          <a:noFill/>
        </p:spPr>
        <p:txBody>
          <a:bodyPr wrap="square" rtlCol="0">
            <a:spAutoFit/>
          </a:bodyPr>
          <a:lstStyle/>
          <a:p>
            <a:r>
              <a:rPr lang="en-US" dirty="0"/>
              <a:t>You are a Data Engineer at </a:t>
            </a:r>
            <a:r>
              <a:rPr lang="en-US" b="1" dirty="0" err="1"/>
              <a:t>FinSight</a:t>
            </a:r>
            <a:r>
              <a:rPr lang="en-US" b="1" dirty="0"/>
              <a:t> Corp</a:t>
            </a:r>
            <a:r>
              <a:rPr lang="en-US" dirty="0"/>
              <a:t>, a company that models Net Present Value (NPV) projections for investment decisions. Your system maintains two key datasets:</a:t>
            </a:r>
          </a:p>
          <a:p>
            <a:pPr marL="342900" indent="-342900">
              <a:buAutoNum type="arabicPeriod"/>
            </a:pPr>
            <a:r>
              <a:rPr lang="en-IN" b="1" dirty="0" err="1"/>
              <a:t>Year_tbl</a:t>
            </a:r>
            <a:r>
              <a:rPr lang="en-IN" b="1" dirty="0"/>
              <a:t>: </a:t>
            </a:r>
            <a:r>
              <a:rPr lang="en-IN" dirty="0"/>
              <a:t>Actual recorded NPV’s of various financial instruments over different years:</a:t>
            </a:r>
          </a:p>
          <a:p>
            <a:r>
              <a:rPr lang="en-IN" b="1" dirty="0"/>
              <a:t>        ID: </a:t>
            </a:r>
            <a:r>
              <a:rPr lang="en-IN" dirty="0"/>
              <a:t>Unique Financial instrument identifier.</a:t>
            </a:r>
          </a:p>
          <a:p>
            <a:r>
              <a:rPr lang="en-IN" b="1" dirty="0"/>
              <a:t>        YEAR: </a:t>
            </a:r>
            <a:r>
              <a:rPr lang="en-IN" dirty="0"/>
              <a:t>Year of record</a:t>
            </a:r>
          </a:p>
          <a:p>
            <a:r>
              <a:rPr lang="en-IN" b="1" dirty="0"/>
              <a:t>        NPV: </a:t>
            </a:r>
            <a:r>
              <a:rPr lang="en-IN" dirty="0"/>
              <a:t>Net Present Value in that year</a:t>
            </a:r>
          </a:p>
          <a:p>
            <a:endParaRPr lang="en-IN" dirty="0"/>
          </a:p>
          <a:p>
            <a:pPr marL="342900" indent="-342900">
              <a:buAutoNum type="arabicPeriod" startAt="2"/>
            </a:pPr>
            <a:r>
              <a:rPr lang="en-IN" b="1" dirty="0" err="1"/>
              <a:t>Queries_tbl</a:t>
            </a:r>
            <a:r>
              <a:rPr lang="en-IN" b="1" dirty="0"/>
              <a:t>:</a:t>
            </a:r>
            <a:r>
              <a:rPr lang="en-IN" dirty="0"/>
              <a:t> A list of instrument-year pairs for which stakeholders are requesting NPV values:</a:t>
            </a:r>
          </a:p>
          <a:p>
            <a:r>
              <a:rPr lang="en-IN" dirty="0"/>
              <a:t>         </a:t>
            </a:r>
            <a:r>
              <a:rPr lang="en-IN" b="1" dirty="0"/>
              <a:t>ID:</a:t>
            </a:r>
            <a:r>
              <a:rPr lang="en-IN" dirty="0"/>
              <a:t> Financial instrument identifier</a:t>
            </a:r>
          </a:p>
          <a:p>
            <a:r>
              <a:rPr lang="en-IN" dirty="0"/>
              <a:t>         </a:t>
            </a:r>
            <a:r>
              <a:rPr lang="en-IN" b="1" dirty="0"/>
              <a:t>YEAR:</a:t>
            </a:r>
            <a:r>
              <a:rPr lang="en-IN" dirty="0"/>
              <a:t> Year of interest.</a:t>
            </a:r>
          </a:p>
          <a:p>
            <a:endParaRPr lang="en-IN" dirty="0"/>
          </a:p>
          <a:p>
            <a:r>
              <a:rPr lang="en-IN" dirty="0"/>
              <a:t>Find the NPV of each query from the Queries table. Return the output order by ID and Year in the sorted form.</a:t>
            </a:r>
          </a:p>
          <a:p>
            <a:r>
              <a:rPr lang="en-US" dirty="0"/>
              <a:t>However, not all </a:t>
            </a:r>
            <a:r>
              <a:rPr lang="en-US" b="1" dirty="0"/>
              <a:t>ID-YEAR combinations </a:t>
            </a:r>
            <a:r>
              <a:rPr lang="en-US" dirty="0"/>
              <a:t>in the Queries table are present in the </a:t>
            </a:r>
            <a:r>
              <a:rPr lang="en-US" dirty="0" err="1"/>
              <a:t>Year_tbl</a:t>
            </a:r>
            <a:r>
              <a:rPr lang="en-US" dirty="0"/>
              <a:t>. If an NPV is missing for a requested combination, assume it to be 0 to maintain a consistent financial report.</a:t>
            </a:r>
            <a:endParaRPr lang="en-IN" dirty="0"/>
          </a:p>
        </p:txBody>
      </p:sp>
    </p:spTree>
    <p:extLst>
      <p:ext uri="{BB962C8B-B14F-4D97-AF65-F5344CB8AC3E}">
        <p14:creationId xmlns:p14="http://schemas.microsoft.com/office/powerpoint/2010/main" val="3109415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E0C4B-6DC6-27F7-7870-C14750C49C30}"/>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45029A7-DD91-0C25-1E6E-337DDAA98C3E}"/>
              </a:ext>
            </a:extLst>
          </p:cNvPr>
          <p:cNvGraphicFramePr>
            <a:graphicFrameLocks noGrp="1"/>
          </p:cNvGraphicFramePr>
          <p:nvPr>
            <p:extLst>
              <p:ext uri="{D42A27DB-BD31-4B8C-83A1-F6EECF244321}">
                <p14:modId xmlns:p14="http://schemas.microsoft.com/office/powerpoint/2010/main" val="1393897451"/>
              </p:ext>
            </p:extLst>
          </p:nvPr>
        </p:nvGraphicFramePr>
        <p:xfrm>
          <a:off x="613727" y="1216888"/>
          <a:ext cx="3776345" cy="2638683"/>
        </p:xfrm>
        <a:graphic>
          <a:graphicData uri="http://schemas.openxmlformats.org/drawingml/2006/table">
            <a:tbl>
              <a:tblPr firstRow="1" firstCol="1" bandRow="1">
                <a:tableStyleId>{69012ECD-51FC-41F1-AA8D-1B2483CD663E}</a:tableStyleId>
              </a:tblPr>
              <a:tblGrid>
                <a:gridCol w="1258570">
                  <a:extLst>
                    <a:ext uri="{9D8B030D-6E8A-4147-A177-3AD203B41FA5}">
                      <a16:colId xmlns:a16="http://schemas.microsoft.com/office/drawing/2014/main" val="3428588935"/>
                    </a:ext>
                  </a:extLst>
                </a:gridCol>
                <a:gridCol w="1319138">
                  <a:extLst>
                    <a:ext uri="{9D8B030D-6E8A-4147-A177-3AD203B41FA5}">
                      <a16:colId xmlns:a16="http://schemas.microsoft.com/office/drawing/2014/main" val="368913322"/>
                    </a:ext>
                  </a:extLst>
                </a:gridCol>
                <a:gridCol w="1198637">
                  <a:extLst>
                    <a:ext uri="{9D8B030D-6E8A-4147-A177-3AD203B41FA5}">
                      <a16:colId xmlns:a16="http://schemas.microsoft.com/office/drawing/2014/main" val="3388091793"/>
                    </a:ext>
                  </a:extLst>
                </a:gridCol>
              </a:tblGrid>
              <a:tr h="293187">
                <a:tc>
                  <a:txBody>
                    <a:bodyPr/>
                    <a:lstStyle/>
                    <a:p>
                      <a:pPr>
                        <a:lnSpc>
                          <a:spcPct val="115000"/>
                        </a:lnSpc>
                        <a:spcAft>
                          <a:spcPts val="800"/>
                        </a:spcAft>
                        <a:buNone/>
                        <a:tabLst>
                          <a:tab pos="577850" algn="l"/>
                        </a:tabLst>
                      </a:pPr>
                      <a:r>
                        <a:rPr lang="en-IN" sz="1400" kern="100" dirty="0">
                          <a:effectLst/>
                        </a:rPr>
                        <a:t>ID</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YEAR</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NPV</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51578145"/>
                  </a:ext>
                </a:extLst>
              </a:tr>
              <a:tr h="293187">
                <a:tc>
                  <a:txBody>
                    <a:bodyPr/>
                    <a:lstStyle/>
                    <a:p>
                      <a:pPr>
                        <a:lnSpc>
                          <a:spcPct val="115000"/>
                        </a:lnSpc>
                        <a:spcAft>
                          <a:spcPts val="800"/>
                        </a:spcAft>
                        <a:buNone/>
                        <a:tabLst>
                          <a:tab pos="577850" algn="l"/>
                        </a:tabLst>
                      </a:pPr>
                      <a:r>
                        <a:rPr lang="en-IN" sz="1400" kern="100">
                          <a:effectLst/>
                        </a:rPr>
                        <a:t>1 </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2018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100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90395214"/>
                  </a:ext>
                </a:extLst>
              </a:tr>
              <a:tr h="293187">
                <a:tc>
                  <a:txBody>
                    <a:bodyPr/>
                    <a:lstStyle/>
                    <a:p>
                      <a:pPr>
                        <a:lnSpc>
                          <a:spcPct val="115000"/>
                        </a:lnSpc>
                        <a:spcAft>
                          <a:spcPts val="800"/>
                        </a:spcAft>
                        <a:buNone/>
                        <a:tabLst>
                          <a:tab pos="577850" algn="l"/>
                        </a:tabLst>
                      </a:pPr>
                      <a:r>
                        <a:rPr lang="en-IN" sz="1400" kern="100">
                          <a:effectLst/>
                        </a:rPr>
                        <a:t>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2020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30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2091894"/>
                  </a:ext>
                </a:extLst>
              </a:tr>
              <a:tr h="293187">
                <a:tc>
                  <a:txBody>
                    <a:bodyPr/>
                    <a:lstStyle/>
                    <a:p>
                      <a:pPr>
                        <a:lnSpc>
                          <a:spcPct val="115000"/>
                        </a:lnSpc>
                        <a:spcAft>
                          <a:spcPts val="800"/>
                        </a:spcAft>
                        <a:buNone/>
                        <a:tabLst>
                          <a:tab pos="577850" algn="l"/>
                        </a:tabLst>
                      </a:pPr>
                      <a:r>
                        <a:rPr lang="en-IN" sz="1400" kern="100">
                          <a:effectLst/>
                        </a:rPr>
                        <a:t>13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2019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40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87565593"/>
                  </a:ext>
                </a:extLst>
              </a:tr>
              <a:tr h="293187">
                <a:tc>
                  <a:txBody>
                    <a:bodyPr/>
                    <a:lstStyle/>
                    <a:p>
                      <a:pPr>
                        <a:lnSpc>
                          <a:spcPct val="115000"/>
                        </a:lnSpc>
                        <a:spcAft>
                          <a:spcPts val="800"/>
                        </a:spcAft>
                        <a:buNone/>
                        <a:tabLst>
                          <a:tab pos="577850" algn="l"/>
                        </a:tabLst>
                      </a:pPr>
                      <a:r>
                        <a:rPr lang="en-IN"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2019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113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72460787"/>
                  </a:ext>
                </a:extLst>
              </a:tr>
              <a:tr h="293187">
                <a:tc>
                  <a:txBody>
                    <a:bodyPr/>
                    <a:lstStyle/>
                    <a:p>
                      <a:pPr>
                        <a:lnSpc>
                          <a:spcPct val="115000"/>
                        </a:lnSpc>
                        <a:spcAft>
                          <a:spcPts val="800"/>
                        </a:spcAft>
                        <a:buNone/>
                        <a:tabLst>
                          <a:tab pos="577850" algn="l"/>
                        </a:tabLst>
                      </a:pPr>
                      <a:r>
                        <a:rPr lang="en-IN" sz="1400" kern="100">
                          <a:effectLst/>
                        </a:rPr>
                        <a:t>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2008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121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60071087"/>
                  </a:ext>
                </a:extLst>
              </a:tr>
              <a:tr h="293187">
                <a:tc>
                  <a:txBody>
                    <a:bodyPr/>
                    <a:lstStyle/>
                    <a:p>
                      <a:pPr>
                        <a:lnSpc>
                          <a:spcPct val="115000"/>
                        </a:lnSpc>
                        <a:spcAft>
                          <a:spcPts val="800"/>
                        </a:spcAft>
                        <a:buNone/>
                        <a:tabLst>
                          <a:tab pos="577850" algn="l"/>
                        </a:tabLst>
                      </a:pPr>
                      <a:r>
                        <a:rPr lang="en-IN" sz="1400" kern="100">
                          <a:effectLst/>
                        </a:rPr>
                        <a:t>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2009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12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2000979"/>
                  </a:ext>
                </a:extLst>
              </a:tr>
              <a:tr h="293187">
                <a:tc>
                  <a:txBody>
                    <a:bodyPr/>
                    <a:lstStyle/>
                    <a:p>
                      <a:pPr>
                        <a:lnSpc>
                          <a:spcPct val="115000"/>
                        </a:lnSpc>
                        <a:spcAft>
                          <a:spcPts val="800"/>
                        </a:spcAft>
                        <a:buNone/>
                        <a:tabLst>
                          <a:tab pos="577850" algn="l"/>
                        </a:tabLst>
                      </a:pPr>
                      <a:r>
                        <a:rPr lang="en-IN" sz="1400" kern="100">
                          <a:effectLst/>
                        </a:rPr>
                        <a:t>11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2020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99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53916240"/>
                  </a:ext>
                </a:extLst>
              </a:tr>
              <a:tr h="293187">
                <a:tc>
                  <a:txBody>
                    <a:bodyPr/>
                    <a:lstStyle/>
                    <a:p>
                      <a:pPr>
                        <a:lnSpc>
                          <a:spcPct val="115000"/>
                        </a:lnSpc>
                        <a:spcAft>
                          <a:spcPts val="800"/>
                        </a:spcAft>
                        <a:buNone/>
                        <a:tabLst>
                          <a:tab pos="577850" algn="l"/>
                        </a:tabLst>
                      </a:pPr>
                      <a:r>
                        <a:rPr lang="en-IN" sz="1400" kern="100">
                          <a:effectLst/>
                        </a:rPr>
                        <a:t>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2019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dirty="0">
                          <a:effectLst/>
                        </a:rPr>
                        <a:t>0</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4440808"/>
                  </a:ext>
                </a:extLst>
              </a:tr>
            </a:tbl>
          </a:graphicData>
        </a:graphic>
      </p:graphicFrame>
      <p:graphicFrame>
        <p:nvGraphicFramePr>
          <p:cNvPr id="3" name="Table 2">
            <a:extLst>
              <a:ext uri="{FF2B5EF4-FFF2-40B4-BE49-F238E27FC236}">
                <a16:creationId xmlns:a16="http://schemas.microsoft.com/office/drawing/2014/main" id="{1BF0AC43-2D98-9251-3279-67E269968A3B}"/>
              </a:ext>
            </a:extLst>
          </p:cNvPr>
          <p:cNvGraphicFramePr>
            <a:graphicFrameLocks noGrp="1"/>
          </p:cNvGraphicFramePr>
          <p:nvPr>
            <p:extLst>
              <p:ext uri="{D42A27DB-BD31-4B8C-83A1-F6EECF244321}">
                <p14:modId xmlns:p14="http://schemas.microsoft.com/office/powerpoint/2010/main" val="4191053514"/>
              </p:ext>
            </p:extLst>
          </p:nvPr>
        </p:nvGraphicFramePr>
        <p:xfrm>
          <a:off x="613727" y="4124774"/>
          <a:ext cx="2443480" cy="2501709"/>
        </p:xfrm>
        <a:graphic>
          <a:graphicData uri="http://schemas.openxmlformats.org/drawingml/2006/table">
            <a:tbl>
              <a:tblPr firstRow="1" firstCol="1" bandRow="1">
                <a:tableStyleId>{72833802-FEF1-4C79-8D5D-14CF1EAF98D9}</a:tableStyleId>
              </a:tblPr>
              <a:tblGrid>
                <a:gridCol w="1221740">
                  <a:extLst>
                    <a:ext uri="{9D8B030D-6E8A-4147-A177-3AD203B41FA5}">
                      <a16:colId xmlns:a16="http://schemas.microsoft.com/office/drawing/2014/main" val="2251686928"/>
                    </a:ext>
                  </a:extLst>
                </a:gridCol>
                <a:gridCol w="1221740">
                  <a:extLst>
                    <a:ext uri="{9D8B030D-6E8A-4147-A177-3AD203B41FA5}">
                      <a16:colId xmlns:a16="http://schemas.microsoft.com/office/drawing/2014/main" val="3734207146"/>
                    </a:ext>
                  </a:extLst>
                </a:gridCol>
              </a:tblGrid>
              <a:tr h="311931">
                <a:tc>
                  <a:txBody>
                    <a:bodyPr/>
                    <a:lstStyle/>
                    <a:p>
                      <a:pPr algn="ctr">
                        <a:lnSpc>
                          <a:spcPct val="115000"/>
                        </a:lnSpc>
                        <a:spcAft>
                          <a:spcPts val="800"/>
                        </a:spcAft>
                        <a:buNone/>
                        <a:tabLst>
                          <a:tab pos="577850" algn="l"/>
                        </a:tabLst>
                      </a:pPr>
                      <a:r>
                        <a:rPr lang="en-IN" sz="1400" kern="100">
                          <a:effectLst/>
                        </a:rPr>
                        <a:t>ID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a:effectLst/>
                        </a:rPr>
                        <a:t>YEAR</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4705306"/>
                  </a:ext>
                </a:extLst>
              </a:tr>
              <a:tr h="311931">
                <a:tc>
                  <a:txBody>
                    <a:bodyPr/>
                    <a:lstStyle/>
                    <a:p>
                      <a:pPr algn="ctr">
                        <a:lnSpc>
                          <a:spcPct val="115000"/>
                        </a:lnSpc>
                        <a:spcAft>
                          <a:spcPts val="800"/>
                        </a:spcAft>
                        <a:buNone/>
                        <a:tabLst>
                          <a:tab pos="577850" algn="l"/>
                        </a:tabLst>
                      </a:pPr>
                      <a:r>
                        <a:rPr lang="en-IN"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a:effectLst/>
                        </a:rPr>
                        <a:t>2019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42608305"/>
                  </a:ext>
                </a:extLst>
              </a:tr>
              <a:tr h="311931">
                <a:tc>
                  <a:txBody>
                    <a:bodyPr/>
                    <a:lstStyle/>
                    <a:p>
                      <a:pPr algn="ctr">
                        <a:lnSpc>
                          <a:spcPct val="115000"/>
                        </a:lnSpc>
                        <a:spcAft>
                          <a:spcPts val="800"/>
                        </a:spcAft>
                        <a:buNone/>
                        <a:tabLst>
                          <a:tab pos="577850" algn="l"/>
                        </a:tabLst>
                      </a:pPr>
                      <a:r>
                        <a:rPr lang="en-IN" sz="1400" kern="100">
                          <a:effectLst/>
                        </a:rPr>
                        <a:t>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a:effectLst/>
                        </a:rPr>
                        <a:t>2008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1462736"/>
                  </a:ext>
                </a:extLst>
              </a:tr>
              <a:tr h="311931">
                <a:tc>
                  <a:txBody>
                    <a:bodyPr/>
                    <a:lstStyle/>
                    <a:p>
                      <a:pPr algn="ctr">
                        <a:lnSpc>
                          <a:spcPct val="115000"/>
                        </a:lnSpc>
                        <a:spcAft>
                          <a:spcPts val="800"/>
                        </a:spcAft>
                        <a:buNone/>
                        <a:tabLst>
                          <a:tab pos="577850" algn="l"/>
                        </a:tabLst>
                      </a:pPr>
                      <a:r>
                        <a:rPr lang="en-IN" sz="1400" kern="100">
                          <a:effectLst/>
                        </a:rPr>
                        <a:t>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a:effectLst/>
                        </a:rPr>
                        <a:t>2009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81115585"/>
                  </a:ext>
                </a:extLst>
              </a:tr>
              <a:tr h="311931">
                <a:tc>
                  <a:txBody>
                    <a:bodyPr/>
                    <a:lstStyle/>
                    <a:p>
                      <a:pPr algn="ctr">
                        <a:lnSpc>
                          <a:spcPct val="115000"/>
                        </a:lnSpc>
                        <a:spcAft>
                          <a:spcPts val="800"/>
                        </a:spcAft>
                        <a:buNone/>
                        <a:tabLst>
                          <a:tab pos="577850" algn="l"/>
                        </a:tabLst>
                      </a:pPr>
                      <a:r>
                        <a:rPr lang="en-IN" sz="1400" kern="100">
                          <a:effectLst/>
                        </a:rPr>
                        <a:t>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a:effectLst/>
                        </a:rPr>
                        <a:t>2018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4266704"/>
                  </a:ext>
                </a:extLst>
              </a:tr>
              <a:tr h="311931">
                <a:tc>
                  <a:txBody>
                    <a:bodyPr/>
                    <a:lstStyle/>
                    <a:p>
                      <a:pPr algn="ctr">
                        <a:lnSpc>
                          <a:spcPct val="115000"/>
                        </a:lnSpc>
                        <a:spcAft>
                          <a:spcPts val="800"/>
                        </a:spcAft>
                        <a:buNone/>
                        <a:tabLst>
                          <a:tab pos="577850" algn="l"/>
                        </a:tabLst>
                      </a:pPr>
                      <a:r>
                        <a:rPr lang="en-IN" sz="1400" kern="100">
                          <a:effectLst/>
                        </a:rPr>
                        <a:t>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a:effectLst/>
                        </a:rPr>
                        <a:t>2019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2503925"/>
                  </a:ext>
                </a:extLst>
              </a:tr>
              <a:tr h="311931">
                <a:tc>
                  <a:txBody>
                    <a:bodyPr/>
                    <a:lstStyle/>
                    <a:p>
                      <a:pPr algn="ctr">
                        <a:lnSpc>
                          <a:spcPct val="115000"/>
                        </a:lnSpc>
                        <a:spcAft>
                          <a:spcPts val="800"/>
                        </a:spcAft>
                        <a:buNone/>
                        <a:tabLst>
                          <a:tab pos="577850" algn="l"/>
                        </a:tabLst>
                      </a:pPr>
                      <a:r>
                        <a:rPr lang="en-IN" sz="1400" kern="100">
                          <a:effectLst/>
                        </a:rPr>
                        <a:t>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a:effectLst/>
                        </a:rPr>
                        <a:t>2020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33698089"/>
                  </a:ext>
                </a:extLst>
              </a:tr>
              <a:tr h="318192">
                <a:tc>
                  <a:txBody>
                    <a:bodyPr/>
                    <a:lstStyle/>
                    <a:p>
                      <a:pPr algn="ctr">
                        <a:lnSpc>
                          <a:spcPct val="115000"/>
                        </a:lnSpc>
                        <a:spcAft>
                          <a:spcPts val="800"/>
                        </a:spcAft>
                        <a:buNone/>
                        <a:tabLst>
                          <a:tab pos="577850" algn="l"/>
                        </a:tabLst>
                      </a:pPr>
                      <a:r>
                        <a:rPr lang="en-IN" sz="1400" kern="100">
                          <a:effectLst/>
                        </a:rPr>
                        <a:t>13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dirty="0">
                          <a:effectLst/>
                        </a:rPr>
                        <a:t>2019</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55056603"/>
                  </a:ext>
                </a:extLst>
              </a:tr>
            </a:tbl>
          </a:graphicData>
        </a:graphic>
      </p:graphicFrame>
      <p:graphicFrame>
        <p:nvGraphicFramePr>
          <p:cNvPr id="4" name="Table 3">
            <a:extLst>
              <a:ext uri="{FF2B5EF4-FFF2-40B4-BE49-F238E27FC236}">
                <a16:creationId xmlns:a16="http://schemas.microsoft.com/office/drawing/2014/main" id="{38CE5890-C32E-B6A7-315C-8E11F1C182FC}"/>
              </a:ext>
            </a:extLst>
          </p:cNvPr>
          <p:cNvGraphicFramePr>
            <a:graphicFrameLocks noGrp="1"/>
          </p:cNvGraphicFramePr>
          <p:nvPr>
            <p:extLst>
              <p:ext uri="{D42A27DB-BD31-4B8C-83A1-F6EECF244321}">
                <p14:modId xmlns:p14="http://schemas.microsoft.com/office/powerpoint/2010/main" val="4065775830"/>
              </p:ext>
            </p:extLst>
          </p:nvPr>
        </p:nvGraphicFramePr>
        <p:xfrm>
          <a:off x="7312457" y="2340536"/>
          <a:ext cx="3823970" cy="2761130"/>
        </p:xfrm>
        <a:graphic>
          <a:graphicData uri="http://schemas.openxmlformats.org/drawingml/2006/table">
            <a:tbl>
              <a:tblPr firstRow="1" firstCol="1" bandRow="1">
                <a:tableStyleId>{17292A2E-F333-43FB-9621-5CBBE7FDCDCB}</a:tableStyleId>
              </a:tblPr>
              <a:tblGrid>
                <a:gridCol w="1274445">
                  <a:extLst>
                    <a:ext uri="{9D8B030D-6E8A-4147-A177-3AD203B41FA5}">
                      <a16:colId xmlns:a16="http://schemas.microsoft.com/office/drawing/2014/main" val="847191618"/>
                    </a:ext>
                  </a:extLst>
                </a:gridCol>
                <a:gridCol w="1274445">
                  <a:extLst>
                    <a:ext uri="{9D8B030D-6E8A-4147-A177-3AD203B41FA5}">
                      <a16:colId xmlns:a16="http://schemas.microsoft.com/office/drawing/2014/main" val="1740949713"/>
                    </a:ext>
                  </a:extLst>
                </a:gridCol>
                <a:gridCol w="1275080">
                  <a:extLst>
                    <a:ext uri="{9D8B030D-6E8A-4147-A177-3AD203B41FA5}">
                      <a16:colId xmlns:a16="http://schemas.microsoft.com/office/drawing/2014/main" val="690083415"/>
                    </a:ext>
                  </a:extLst>
                </a:gridCol>
              </a:tblGrid>
              <a:tr h="339571">
                <a:tc>
                  <a:txBody>
                    <a:bodyPr/>
                    <a:lstStyle/>
                    <a:p>
                      <a:pPr>
                        <a:lnSpc>
                          <a:spcPct val="115000"/>
                        </a:lnSpc>
                        <a:spcAft>
                          <a:spcPts val="800"/>
                        </a:spcAft>
                        <a:buNone/>
                        <a:tabLst>
                          <a:tab pos="577850" algn="l"/>
                        </a:tabLst>
                      </a:pPr>
                      <a:r>
                        <a:rPr lang="en-IN" sz="1400" kern="100">
                          <a:effectLst/>
                        </a:rPr>
                        <a:t>ID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YEAR</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NPV</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85941830"/>
                  </a:ext>
                </a:extLst>
              </a:tr>
              <a:tr h="345937">
                <a:tc>
                  <a:txBody>
                    <a:bodyPr/>
                    <a:lstStyle/>
                    <a:p>
                      <a:pPr>
                        <a:lnSpc>
                          <a:spcPct val="115000"/>
                        </a:lnSpc>
                        <a:spcAft>
                          <a:spcPts val="800"/>
                        </a:spcAft>
                        <a:buNone/>
                        <a:tabLst>
                          <a:tab pos="577850" algn="l"/>
                        </a:tabLst>
                      </a:pPr>
                      <a:r>
                        <a:rPr lang="en-IN"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2019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113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01216376"/>
                  </a:ext>
                </a:extLst>
              </a:tr>
              <a:tr h="345937">
                <a:tc>
                  <a:txBody>
                    <a:bodyPr/>
                    <a:lstStyle/>
                    <a:p>
                      <a:pPr>
                        <a:lnSpc>
                          <a:spcPct val="115000"/>
                        </a:lnSpc>
                        <a:spcAft>
                          <a:spcPts val="800"/>
                        </a:spcAft>
                        <a:buNone/>
                        <a:tabLst>
                          <a:tab pos="577850" algn="l"/>
                        </a:tabLst>
                      </a:pPr>
                      <a:r>
                        <a:rPr lang="en-IN" sz="1400" kern="100">
                          <a:effectLst/>
                        </a:rPr>
                        <a:t>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2008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121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0329685"/>
                  </a:ext>
                </a:extLst>
              </a:tr>
              <a:tr h="345937">
                <a:tc>
                  <a:txBody>
                    <a:bodyPr/>
                    <a:lstStyle/>
                    <a:p>
                      <a:pPr>
                        <a:lnSpc>
                          <a:spcPct val="115000"/>
                        </a:lnSpc>
                        <a:spcAft>
                          <a:spcPts val="800"/>
                        </a:spcAft>
                        <a:buNone/>
                        <a:tabLst>
                          <a:tab pos="577850" algn="l"/>
                        </a:tabLst>
                      </a:pPr>
                      <a:r>
                        <a:rPr lang="en-IN" sz="1400" kern="100">
                          <a:effectLst/>
                        </a:rPr>
                        <a:t>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2009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12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6617525"/>
                  </a:ext>
                </a:extLst>
              </a:tr>
              <a:tr h="345937">
                <a:tc>
                  <a:txBody>
                    <a:bodyPr/>
                    <a:lstStyle/>
                    <a:p>
                      <a:pPr>
                        <a:lnSpc>
                          <a:spcPct val="115000"/>
                        </a:lnSpc>
                        <a:spcAft>
                          <a:spcPts val="800"/>
                        </a:spcAft>
                        <a:buNone/>
                        <a:tabLst>
                          <a:tab pos="577850" algn="l"/>
                        </a:tabLst>
                      </a:pPr>
                      <a:r>
                        <a:rPr lang="en-IN" sz="1400" kern="100">
                          <a:effectLst/>
                        </a:rPr>
                        <a:t>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2018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20204630"/>
                  </a:ext>
                </a:extLst>
              </a:tr>
              <a:tr h="345937">
                <a:tc>
                  <a:txBody>
                    <a:bodyPr/>
                    <a:lstStyle/>
                    <a:p>
                      <a:pPr>
                        <a:lnSpc>
                          <a:spcPct val="115000"/>
                        </a:lnSpc>
                        <a:spcAft>
                          <a:spcPts val="800"/>
                        </a:spcAft>
                        <a:buNone/>
                        <a:tabLst>
                          <a:tab pos="577850" algn="l"/>
                        </a:tabLst>
                      </a:pPr>
                      <a:r>
                        <a:rPr lang="en-IN" sz="1400" kern="100">
                          <a:effectLst/>
                        </a:rPr>
                        <a:t>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2019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26041639"/>
                  </a:ext>
                </a:extLst>
              </a:tr>
              <a:tr h="345937">
                <a:tc>
                  <a:txBody>
                    <a:bodyPr/>
                    <a:lstStyle/>
                    <a:p>
                      <a:pPr>
                        <a:lnSpc>
                          <a:spcPct val="115000"/>
                        </a:lnSpc>
                        <a:spcAft>
                          <a:spcPts val="800"/>
                        </a:spcAft>
                        <a:buNone/>
                        <a:tabLst>
                          <a:tab pos="577850" algn="l"/>
                        </a:tabLst>
                      </a:pPr>
                      <a:r>
                        <a:rPr lang="en-IN" sz="1400" kern="100">
                          <a:effectLst/>
                        </a:rPr>
                        <a:t>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2020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30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5501494"/>
                  </a:ext>
                </a:extLst>
              </a:tr>
              <a:tr h="345937">
                <a:tc>
                  <a:txBody>
                    <a:bodyPr/>
                    <a:lstStyle/>
                    <a:p>
                      <a:pPr>
                        <a:lnSpc>
                          <a:spcPct val="115000"/>
                        </a:lnSpc>
                        <a:spcAft>
                          <a:spcPts val="800"/>
                        </a:spcAft>
                        <a:buNone/>
                        <a:tabLst>
                          <a:tab pos="577850" algn="l"/>
                        </a:tabLst>
                      </a:pPr>
                      <a:r>
                        <a:rPr lang="en-IN" sz="1400" kern="100">
                          <a:effectLst/>
                        </a:rPr>
                        <a:t>13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a:effectLst/>
                        </a:rPr>
                        <a:t>2019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tabLst>
                          <a:tab pos="577850" algn="l"/>
                        </a:tabLst>
                      </a:pPr>
                      <a:r>
                        <a:rPr lang="en-IN" sz="1400" kern="100" dirty="0">
                          <a:effectLst/>
                        </a:rPr>
                        <a:t>40</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8610303"/>
                  </a:ext>
                </a:extLst>
              </a:tr>
            </a:tbl>
          </a:graphicData>
        </a:graphic>
      </p:graphicFrame>
      <p:sp>
        <p:nvSpPr>
          <p:cNvPr id="5" name="TextBox 4">
            <a:extLst>
              <a:ext uri="{FF2B5EF4-FFF2-40B4-BE49-F238E27FC236}">
                <a16:creationId xmlns:a16="http://schemas.microsoft.com/office/drawing/2014/main" id="{5857E12A-F88B-C52E-E087-E2DBA942FB57}"/>
              </a:ext>
            </a:extLst>
          </p:cNvPr>
          <p:cNvSpPr txBox="1"/>
          <p:nvPr/>
        </p:nvSpPr>
        <p:spPr>
          <a:xfrm>
            <a:off x="7312457" y="1794720"/>
            <a:ext cx="2324602" cy="369332"/>
          </a:xfrm>
          <a:prstGeom prst="rect">
            <a:avLst/>
          </a:prstGeom>
          <a:noFill/>
        </p:spPr>
        <p:txBody>
          <a:bodyPr wrap="square" rtlCol="0">
            <a:spAutoFit/>
          </a:bodyPr>
          <a:lstStyle/>
          <a:p>
            <a:r>
              <a:rPr lang="en-US" b="1" dirty="0"/>
              <a:t>OUTPUT:</a:t>
            </a:r>
            <a:endParaRPr lang="en-IN" b="1" dirty="0"/>
          </a:p>
        </p:txBody>
      </p:sp>
      <p:sp>
        <p:nvSpPr>
          <p:cNvPr id="6" name="TextBox 5">
            <a:extLst>
              <a:ext uri="{FF2B5EF4-FFF2-40B4-BE49-F238E27FC236}">
                <a16:creationId xmlns:a16="http://schemas.microsoft.com/office/drawing/2014/main" id="{AEB8A017-C6B9-7C49-E24A-F875B9208E9D}"/>
              </a:ext>
            </a:extLst>
          </p:cNvPr>
          <p:cNvSpPr txBox="1"/>
          <p:nvPr/>
        </p:nvSpPr>
        <p:spPr>
          <a:xfrm>
            <a:off x="505257" y="847556"/>
            <a:ext cx="2324602" cy="369332"/>
          </a:xfrm>
          <a:prstGeom prst="rect">
            <a:avLst/>
          </a:prstGeom>
          <a:noFill/>
        </p:spPr>
        <p:txBody>
          <a:bodyPr wrap="square" rtlCol="0">
            <a:spAutoFit/>
          </a:bodyPr>
          <a:lstStyle/>
          <a:p>
            <a:r>
              <a:rPr lang="en-US" b="1" dirty="0" err="1"/>
              <a:t>Year_tbl</a:t>
            </a:r>
            <a:endParaRPr lang="en-IN" b="1" dirty="0"/>
          </a:p>
        </p:txBody>
      </p:sp>
      <p:sp>
        <p:nvSpPr>
          <p:cNvPr id="7" name="TextBox 6">
            <a:extLst>
              <a:ext uri="{FF2B5EF4-FFF2-40B4-BE49-F238E27FC236}">
                <a16:creationId xmlns:a16="http://schemas.microsoft.com/office/drawing/2014/main" id="{B69D3B1A-B469-ABF8-8BBA-82F037264549}"/>
              </a:ext>
            </a:extLst>
          </p:cNvPr>
          <p:cNvSpPr txBox="1"/>
          <p:nvPr/>
        </p:nvSpPr>
        <p:spPr>
          <a:xfrm>
            <a:off x="3227771" y="4748556"/>
            <a:ext cx="2324602" cy="369332"/>
          </a:xfrm>
          <a:prstGeom prst="rect">
            <a:avLst/>
          </a:prstGeom>
          <a:noFill/>
        </p:spPr>
        <p:txBody>
          <a:bodyPr wrap="square" rtlCol="0">
            <a:spAutoFit/>
          </a:bodyPr>
          <a:lstStyle/>
          <a:p>
            <a:r>
              <a:rPr lang="en-US" b="1" dirty="0" err="1"/>
              <a:t>Queries_tbl</a:t>
            </a:r>
            <a:endParaRPr lang="en-IN" b="1" dirty="0"/>
          </a:p>
        </p:txBody>
      </p:sp>
    </p:spTree>
    <p:extLst>
      <p:ext uri="{BB962C8B-B14F-4D97-AF65-F5344CB8AC3E}">
        <p14:creationId xmlns:p14="http://schemas.microsoft.com/office/powerpoint/2010/main" val="2436532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8C1B5-8B55-2844-9411-DD474F850C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35910-B5B4-A95D-8638-EE77514C0C81}"/>
              </a:ext>
            </a:extLst>
          </p:cNvPr>
          <p:cNvSpPr>
            <a:spLocks noGrp="1"/>
          </p:cNvSpPr>
          <p:nvPr>
            <p:ph type="title"/>
          </p:nvPr>
        </p:nvSpPr>
        <p:spPr>
          <a:xfrm>
            <a:off x="1664898" y="997407"/>
            <a:ext cx="9282023" cy="752475"/>
          </a:xfrm>
        </p:spPr>
        <p:txBody>
          <a:bodyPr>
            <a:normAutofit/>
          </a:bodyPr>
          <a:lstStyle/>
          <a:p>
            <a:r>
              <a:rPr lang="en-US" sz="3500" b="1" dirty="0">
                <a:latin typeface="Times New Roman" panose="02020603050405020304" pitchFamily="18" charset="0"/>
                <a:cs typeface="Times New Roman" panose="02020603050405020304" pitchFamily="18" charset="0"/>
              </a:rPr>
              <a:t>    EXPERIMENT 03: SUB-QUERIES</a:t>
            </a:r>
            <a:endParaRPr lang="en-IN" sz="3500" b="1"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09D67F4-2B5C-B2DD-8936-7DCAC8A1E637}"/>
              </a:ext>
            </a:extLst>
          </p:cNvPr>
          <p:cNvSpPr txBox="1"/>
          <p:nvPr/>
        </p:nvSpPr>
        <p:spPr>
          <a:xfrm>
            <a:off x="753979" y="2502357"/>
            <a:ext cx="10684042" cy="2800767"/>
          </a:xfrm>
          <a:prstGeom prst="rect">
            <a:avLst/>
          </a:prstGeom>
          <a:noFill/>
        </p:spPr>
        <p:txBody>
          <a:bodyPr wrap="square">
            <a:spAutoFit/>
          </a:bodyPr>
          <a:lstStyle/>
          <a:p>
            <a:pPr>
              <a:buNone/>
            </a:pPr>
            <a:r>
              <a:rPr lang="en-US" sz="2200" dirty="0"/>
              <a:t>In a bustling corporate organization, each department strives to retain the most talented (and well-compensated) employees. You have access to two key records: </a:t>
            </a:r>
            <a:r>
              <a:rPr lang="en-US" sz="2200" b="1" dirty="0"/>
              <a:t>one lists every employee along with their salary and department</a:t>
            </a:r>
            <a:r>
              <a:rPr lang="en-US" sz="2200" dirty="0"/>
              <a:t>, </a:t>
            </a:r>
            <a:r>
              <a:rPr lang="en-US" sz="2200" b="1" dirty="0"/>
              <a:t>while the other details the names of each department</a:t>
            </a:r>
            <a:r>
              <a:rPr lang="en-US" sz="2200" dirty="0"/>
              <a:t>. Your task is to identify the </a:t>
            </a:r>
            <a:r>
              <a:rPr lang="en-US" sz="2200" b="1" dirty="0"/>
              <a:t>top earners in every department</a:t>
            </a:r>
            <a:r>
              <a:rPr lang="en-US" sz="2200" dirty="0"/>
              <a:t>.</a:t>
            </a:r>
          </a:p>
          <a:p>
            <a:pPr>
              <a:buNone/>
            </a:pPr>
            <a:endParaRPr lang="en-US" sz="2200" dirty="0"/>
          </a:p>
          <a:p>
            <a:r>
              <a:rPr lang="en-US" sz="2200" dirty="0"/>
              <a:t>If multiple employees share the same highest salary within a department, all of them should be celebrated equally. The final result should present the </a:t>
            </a:r>
            <a:r>
              <a:rPr lang="en-US" sz="2200" b="1" dirty="0"/>
              <a:t>department name, employee name, and salary of these top-tier professionals </a:t>
            </a:r>
            <a:r>
              <a:rPr lang="en-US" sz="2200" dirty="0"/>
              <a:t>arranged by department.</a:t>
            </a:r>
          </a:p>
        </p:txBody>
      </p:sp>
      <p:sp>
        <p:nvSpPr>
          <p:cNvPr id="6" name="TextBox 5">
            <a:extLst>
              <a:ext uri="{FF2B5EF4-FFF2-40B4-BE49-F238E27FC236}">
                <a16:creationId xmlns:a16="http://schemas.microsoft.com/office/drawing/2014/main" id="{2C389EAE-D13B-8BC9-395D-2F258AB8F37D}"/>
              </a:ext>
            </a:extLst>
          </p:cNvPr>
          <p:cNvSpPr txBox="1"/>
          <p:nvPr/>
        </p:nvSpPr>
        <p:spPr>
          <a:xfrm>
            <a:off x="3384883" y="1887592"/>
            <a:ext cx="6096000" cy="477054"/>
          </a:xfrm>
          <a:prstGeom prst="rect">
            <a:avLst/>
          </a:prstGeom>
          <a:noFill/>
        </p:spPr>
        <p:txBody>
          <a:bodyPr wrap="square">
            <a:spAutoFit/>
          </a:bodyPr>
          <a:lstStyle/>
          <a:p>
            <a:r>
              <a:rPr lang="en-IN" sz="2500" b="1" dirty="0"/>
              <a:t>Department Salary Champions</a:t>
            </a:r>
          </a:p>
        </p:txBody>
      </p:sp>
    </p:spTree>
    <p:extLst>
      <p:ext uri="{BB962C8B-B14F-4D97-AF65-F5344CB8AC3E}">
        <p14:creationId xmlns:p14="http://schemas.microsoft.com/office/powerpoint/2010/main" val="3746457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33A-8635-E840-D5BD-73DBB29317A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83973C-87E7-DFB6-7236-35605555226F}"/>
              </a:ext>
            </a:extLst>
          </p:cNvPr>
          <p:cNvSpPr txBox="1"/>
          <p:nvPr/>
        </p:nvSpPr>
        <p:spPr>
          <a:xfrm>
            <a:off x="1687599" y="940369"/>
            <a:ext cx="2794958" cy="369332"/>
          </a:xfrm>
          <a:prstGeom prst="rect">
            <a:avLst/>
          </a:prstGeom>
          <a:noFill/>
        </p:spPr>
        <p:txBody>
          <a:bodyPr wrap="square" rtlCol="0">
            <a:spAutoFit/>
          </a:bodyPr>
          <a:lstStyle/>
          <a:p>
            <a:r>
              <a:rPr lang="en-US" dirty="0"/>
              <a:t>Input Table: </a:t>
            </a:r>
            <a:r>
              <a:rPr lang="en-US" b="1" dirty="0"/>
              <a:t>Employee</a:t>
            </a:r>
            <a:endParaRPr lang="en-IN" b="1" dirty="0"/>
          </a:p>
        </p:txBody>
      </p:sp>
      <p:sp>
        <p:nvSpPr>
          <p:cNvPr id="5" name="TextBox 4">
            <a:extLst>
              <a:ext uri="{FF2B5EF4-FFF2-40B4-BE49-F238E27FC236}">
                <a16:creationId xmlns:a16="http://schemas.microsoft.com/office/drawing/2014/main" id="{61C93502-1780-4FEE-9F0D-482AC3B1E479}"/>
              </a:ext>
            </a:extLst>
          </p:cNvPr>
          <p:cNvSpPr txBox="1"/>
          <p:nvPr/>
        </p:nvSpPr>
        <p:spPr>
          <a:xfrm>
            <a:off x="5533922" y="4106820"/>
            <a:ext cx="2794958" cy="369332"/>
          </a:xfrm>
          <a:prstGeom prst="rect">
            <a:avLst/>
          </a:prstGeom>
          <a:noFill/>
        </p:spPr>
        <p:txBody>
          <a:bodyPr wrap="square" rtlCol="0">
            <a:spAutoFit/>
          </a:bodyPr>
          <a:lstStyle/>
          <a:p>
            <a:r>
              <a:rPr lang="en-US" b="1" dirty="0"/>
              <a:t>OUTPUT</a:t>
            </a:r>
            <a:endParaRPr lang="en-IN" b="1" dirty="0"/>
          </a:p>
        </p:txBody>
      </p:sp>
      <p:graphicFrame>
        <p:nvGraphicFramePr>
          <p:cNvPr id="6" name="Table 5">
            <a:extLst>
              <a:ext uri="{FF2B5EF4-FFF2-40B4-BE49-F238E27FC236}">
                <a16:creationId xmlns:a16="http://schemas.microsoft.com/office/drawing/2014/main" id="{BF27F093-288C-E7DF-0748-BB1AE8E2B7CE}"/>
              </a:ext>
            </a:extLst>
          </p:cNvPr>
          <p:cNvGraphicFramePr>
            <a:graphicFrameLocks noGrp="1"/>
          </p:cNvGraphicFramePr>
          <p:nvPr>
            <p:extLst>
              <p:ext uri="{D42A27DB-BD31-4B8C-83A1-F6EECF244321}">
                <p14:modId xmlns:p14="http://schemas.microsoft.com/office/powerpoint/2010/main" val="1773941048"/>
              </p:ext>
            </p:extLst>
          </p:nvPr>
        </p:nvGraphicFramePr>
        <p:xfrm>
          <a:off x="567602" y="1377551"/>
          <a:ext cx="5367976" cy="2424426"/>
        </p:xfrm>
        <a:graphic>
          <a:graphicData uri="http://schemas.openxmlformats.org/drawingml/2006/table">
            <a:tbl>
              <a:tblPr firstRow="1" firstCol="1" bandRow="1">
                <a:tableStyleId>{69C7853C-536D-4A76-A0AE-DD22124D55A5}</a:tableStyleId>
              </a:tblPr>
              <a:tblGrid>
                <a:gridCol w="1341994">
                  <a:extLst>
                    <a:ext uri="{9D8B030D-6E8A-4147-A177-3AD203B41FA5}">
                      <a16:colId xmlns:a16="http://schemas.microsoft.com/office/drawing/2014/main" val="1124047244"/>
                    </a:ext>
                  </a:extLst>
                </a:gridCol>
                <a:gridCol w="1341994">
                  <a:extLst>
                    <a:ext uri="{9D8B030D-6E8A-4147-A177-3AD203B41FA5}">
                      <a16:colId xmlns:a16="http://schemas.microsoft.com/office/drawing/2014/main" val="12736906"/>
                    </a:ext>
                  </a:extLst>
                </a:gridCol>
                <a:gridCol w="1341994">
                  <a:extLst>
                    <a:ext uri="{9D8B030D-6E8A-4147-A177-3AD203B41FA5}">
                      <a16:colId xmlns:a16="http://schemas.microsoft.com/office/drawing/2014/main" val="95873788"/>
                    </a:ext>
                  </a:extLst>
                </a:gridCol>
                <a:gridCol w="1341994">
                  <a:extLst>
                    <a:ext uri="{9D8B030D-6E8A-4147-A177-3AD203B41FA5}">
                      <a16:colId xmlns:a16="http://schemas.microsoft.com/office/drawing/2014/main" val="1464958756"/>
                    </a:ext>
                  </a:extLst>
                </a:gridCol>
              </a:tblGrid>
              <a:tr h="404071">
                <a:tc>
                  <a:txBody>
                    <a:bodyPr/>
                    <a:lstStyle/>
                    <a:p>
                      <a:pPr algn="ctr">
                        <a:lnSpc>
                          <a:spcPct val="115000"/>
                        </a:lnSpc>
                        <a:spcAft>
                          <a:spcPts val="800"/>
                        </a:spcAft>
                        <a:buNone/>
                        <a:tabLst>
                          <a:tab pos="577850" algn="l"/>
                        </a:tabLst>
                      </a:pPr>
                      <a:r>
                        <a:rPr lang="en-IN" sz="1800" b="1" kern="100" dirty="0">
                          <a:effectLst/>
                        </a:rPr>
                        <a:t>ID</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b="1" kern="100" dirty="0">
                          <a:effectLst/>
                        </a:rPr>
                        <a:t>NAME</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b="1" kern="100" dirty="0">
                          <a:effectLst/>
                        </a:rPr>
                        <a:t>SALARY</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b="1" kern="100" dirty="0">
                          <a:effectLst/>
                        </a:rPr>
                        <a:t>DEPT_ID</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99146063"/>
                  </a:ext>
                </a:extLst>
              </a:tr>
              <a:tr h="404071">
                <a:tc>
                  <a:txBody>
                    <a:bodyPr/>
                    <a:lstStyle/>
                    <a:p>
                      <a:pPr algn="ctr">
                        <a:lnSpc>
                          <a:spcPct val="115000"/>
                        </a:lnSpc>
                        <a:spcAft>
                          <a:spcPts val="800"/>
                        </a:spcAft>
                        <a:buNone/>
                        <a:tabLst>
                          <a:tab pos="577850" algn="l"/>
                        </a:tabLst>
                      </a:pPr>
                      <a:r>
                        <a:rPr lang="en-IN" sz="1800" kern="100" dirty="0">
                          <a:effectLst/>
                        </a:rPr>
                        <a:t>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JOE</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70000</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1</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36754099"/>
                  </a:ext>
                </a:extLst>
              </a:tr>
              <a:tr h="404071">
                <a:tc>
                  <a:txBody>
                    <a:bodyPr/>
                    <a:lstStyle/>
                    <a:p>
                      <a:pPr algn="ctr">
                        <a:lnSpc>
                          <a:spcPct val="115000"/>
                        </a:lnSpc>
                        <a:spcAft>
                          <a:spcPts val="800"/>
                        </a:spcAft>
                        <a:buNone/>
                        <a:tabLst>
                          <a:tab pos="577850" algn="l"/>
                        </a:tabLst>
                      </a:pPr>
                      <a:r>
                        <a:rPr lang="en-IN" sz="1800" kern="100">
                          <a:effectLst/>
                        </a:rPr>
                        <a:t>2</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JIM</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dirty="0">
                          <a:effectLst/>
                        </a:rPr>
                        <a:t>90000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1</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95975244"/>
                  </a:ext>
                </a:extLst>
              </a:tr>
              <a:tr h="404071">
                <a:tc>
                  <a:txBody>
                    <a:bodyPr/>
                    <a:lstStyle/>
                    <a:p>
                      <a:pPr algn="ctr">
                        <a:lnSpc>
                          <a:spcPct val="115000"/>
                        </a:lnSpc>
                        <a:spcAft>
                          <a:spcPts val="800"/>
                        </a:spcAft>
                        <a:buNone/>
                        <a:tabLst>
                          <a:tab pos="577850" algn="l"/>
                        </a:tabLst>
                      </a:pPr>
                      <a:r>
                        <a:rPr lang="en-IN" sz="1800" kern="100">
                          <a:effectLst/>
                        </a:rPr>
                        <a:t>3</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HENRY</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80000</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dirty="0">
                          <a:effectLst/>
                        </a:rPr>
                        <a:t>2</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74786780"/>
                  </a:ext>
                </a:extLst>
              </a:tr>
              <a:tr h="404071">
                <a:tc>
                  <a:txBody>
                    <a:bodyPr/>
                    <a:lstStyle/>
                    <a:p>
                      <a:pPr algn="ctr">
                        <a:lnSpc>
                          <a:spcPct val="115000"/>
                        </a:lnSpc>
                        <a:spcAft>
                          <a:spcPts val="800"/>
                        </a:spcAft>
                        <a:buNone/>
                        <a:tabLst>
                          <a:tab pos="577850" algn="l"/>
                        </a:tabLst>
                      </a:pPr>
                      <a:r>
                        <a:rPr lang="en-IN" sz="1800" kern="100">
                          <a:effectLst/>
                        </a:rPr>
                        <a:t>4</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SAM</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60000</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2</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49276600"/>
                  </a:ext>
                </a:extLst>
              </a:tr>
              <a:tr h="404071">
                <a:tc>
                  <a:txBody>
                    <a:bodyPr/>
                    <a:lstStyle/>
                    <a:p>
                      <a:pPr algn="ctr">
                        <a:lnSpc>
                          <a:spcPct val="115000"/>
                        </a:lnSpc>
                        <a:spcAft>
                          <a:spcPts val="800"/>
                        </a:spcAft>
                        <a:buNone/>
                        <a:tabLst>
                          <a:tab pos="577850" algn="l"/>
                        </a:tabLst>
                      </a:pPr>
                      <a:r>
                        <a:rPr lang="en-IN" sz="1800" kern="100">
                          <a:effectLst/>
                        </a:rPr>
                        <a:t>4</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MAX</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90000</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dirty="0">
                          <a:effectLst/>
                        </a:rPr>
                        <a:t>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04043329"/>
                  </a:ext>
                </a:extLst>
              </a:tr>
            </a:tbl>
          </a:graphicData>
        </a:graphic>
      </p:graphicFrame>
      <p:graphicFrame>
        <p:nvGraphicFramePr>
          <p:cNvPr id="7" name="Table 6">
            <a:extLst>
              <a:ext uri="{FF2B5EF4-FFF2-40B4-BE49-F238E27FC236}">
                <a16:creationId xmlns:a16="http://schemas.microsoft.com/office/drawing/2014/main" id="{2F285B6E-CC1D-8D46-6826-721723C3FEA7}"/>
              </a:ext>
            </a:extLst>
          </p:cNvPr>
          <p:cNvGraphicFramePr>
            <a:graphicFrameLocks noGrp="1"/>
          </p:cNvGraphicFramePr>
          <p:nvPr>
            <p:extLst>
              <p:ext uri="{D42A27DB-BD31-4B8C-83A1-F6EECF244321}">
                <p14:modId xmlns:p14="http://schemas.microsoft.com/office/powerpoint/2010/main" val="2805301935"/>
              </p:ext>
            </p:extLst>
          </p:nvPr>
        </p:nvGraphicFramePr>
        <p:xfrm>
          <a:off x="6558380" y="1537311"/>
          <a:ext cx="4337050" cy="1410426"/>
        </p:xfrm>
        <a:graphic>
          <a:graphicData uri="http://schemas.openxmlformats.org/drawingml/2006/table">
            <a:tbl>
              <a:tblPr firstRow="1" firstCol="1" bandRow="1">
                <a:tableStyleId>{35758FB7-9AC5-4552-8A53-C91805E547FA}</a:tableStyleId>
              </a:tblPr>
              <a:tblGrid>
                <a:gridCol w="2168525">
                  <a:extLst>
                    <a:ext uri="{9D8B030D-6E8A-4147-A177-3AD203B41FA5}">
                      <a16:colId xmlns:a16="http://schemas.microsoft.com/office/drawing/2014/main" val="1138610497"/>
                    </a:ext>
                  </a:extLst>
                </a:gridCol>
                <a:gridCol w="2168525">
                  <a:extLst>
                    <a:ext uri="{9D8B030D-6E8A-4147-A177-3AD203B41FA5}">
                      <a16:colId xmlns:a16="http://schemas.microsoft.com/office/drawing/2014/main" val="2489345112"/>
                    </a:ext>
                  </a:extLst>
                </a:gridCol>
              </a:tblGrid>
              <a:tr h="470142">
                <a:tc>
                  <a:txBody>
                    <a:bodyPr/>
                    <a:lstStyle/>
                    <a:p>
                      <a:pPr algn="ctr">
                        <a:lnSpc>
                          <a:spcPct val="115000"/>
                        </a:lnSpc>
                        <a:spcAft>
                          <a:spcPts val="800"/>
                        </a:spcAft>
                        <a:buNone/>
                        <a:tabLst>
                          <a:tab pos="577850" algn="l"/>
                        </a:tabLst>
                      </a:pPr>
                      <a:r>
                        <a:rPr lang="en-IN" sz="1800" kern="100" dirty="0">
                          <a:effectLst/>
                        </a:rPr>
                        <a:t>ID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DEPT_NAME</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11135613"/>
                  </a:ext>
                </a:extLst>
              </a:tr>
              <a:tr h="470142">
                <a:tc>
                  <a:txBody>
                    <a:bodyPr/>
                    <a:lstStyle/>
                    <a:p>
                      <a:pPr algn="ctr">
                        <a:lnSpc>
                          <a:spcPct val="115000"/>
                        </a:lnSpc>
                        <a:spcAft>
                          <a:spcPts val="800"/>
                        </a:spcAft>
                        <a:buNone/>
                        <a:tabLst>
                          <a:tab pos="577850" algn="l"/>
                        </a:tabLst>
                      </a:pPr>
                      <a:r>
                        <a:rPr lang="en-IN" sz="1800" kern="100" dirty="0">
                          <a:effectLst/>
                        </a:rPr>
                        <a:t>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IT</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02147436"/>
                  </a:ext>
                </a:extLst>
              </a:tr>
              <a:tr h="470142">
                <a:tc>
                  <a:txBody>
                    <a:bodyPr/>
                    <a:lstStyle/>
                    <a:p>
                      <a:pPr algn="ctr">
                        <a:lnSpc>
                          <a:spcPct val="115000"/>
                        </a:lnSpc>
                        <a:spcAft>
                          <a:spcPts val="800"/>
                        </a:spcAft>
                        <a:buNone/>
                        <a:tabLst>
                          <a:tab pos="577850" algn="l"/>
                        </a:tabLst>
                      </a:pPr>
                      <a:r>
                        <a:rPr lang="en-IN" sz="1800" kern="100">
                          <a:effectLst/>
                        </a:rPr>
                        <a:t>2</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dirty="0">
                          <a:effectLst/>
                        </a:rPr>
                        <a:t>SALES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95331200"/>
                  </a:ext>
                </a:extLst>
              </a:tr>
            </a:tbl>
          </a:graphicData>
        </a:graphic>
      </p:graphicFrame>
      <p:sp>
        <p:nvSpPr>
          <p:cNvPr id="8" name="TextBox 7">
            <a:extLst>
              <a:ext uri="{FF2B5EF4-FFF2-40B4-BE49-F238E27FC236}">
                <a16:creationId xmlns:a16="http://schemas.microsoft.com/office/drawing/2014/main" id="{D125CDA7-50C5-B274-D127-28D02E9BEA39}"/>
              </a:ext>
            </a:extLst>
          </p:cNvPr>
          <p:cNvSpPr txBox="1"/>
          <p:nvPr/>
        </p:nvSpPr>
        <p:spPr>
          <a:xfrm>
            <a:off x="7133894" y="1008219"/>
            <a:ext cx="2794958" cy="369332"/>
          </a:xfrm>
          <a:prstGeom prst="rect">
            <a:avLst/>
          </a:prstGeom>
          <a:noFill/>
        </p:spPr>
        <p:txBody>
          <a:bodyPr wrap="square" rtlCol="0">
            <a:spAutoFit/>
          </a:bodyPr>
          <a:lstStyle/>
          <a:p>
            <a:r>
              <a:rPr lang="en-US" b="1" dirty="0"/>
              <a:t>Department</a:t>
            </a:r>
            <a:endParaRPr lang="en-IN" b="1" dirty="0"/>
          </a:p>
        </p:txBody>
      </p:sp>
      <p:graphicFrame>
        <p:nvGraphicFramePr>
          <p:cNvPr id="9" name="Table 8">
            <a:extLst>
              <a:ext uri="{FF2B5EF4-FFF2-40B4-BE49-F238E27FC236}">
                <a16:creationId xmlns:a16="http://schemas.microsoft.com/office/drawing/2014/main" id="{C0ED7A55-24CC-2B5B-39F2-ED6401CFFA47}"/>
              </a:ext>
            </a:extLst>
          </p:cNvPr>
          <p:cNvGraphicFramePr>
            <a:graphicFrameLocks noGrp="1"/>
          </p:cNvGraphicFramePr>
          <p:nvPr>
            <p:extLst>
              <p:ext uri="{D42A27DB-BD31-4B8C-83A1-F6EECF244321}">
                <p14:modId xmlns:p14="http://schemas.microsoft.com/office/powerpoint/2010/main" val="2738402014"/>
              </p:ext>
            </p:extLst>
          </p:nvPr>
        </p:nvGraphicFramePr>
        <p:xfrm>
          <a:off x="2680927" y="4665419"/>
          <a:ext cx="6509302" cy="1915124"/>
        </p:xfrm>
        <a:graphic>
          <a:graphicData uri="http://schemas.openxmlformats.org/drawingml/2006/table">
            <a:tbl>
              <a:tblPr firstRow="1" firstCol="1" bandRow="1">
                <a:tableStyleId>{284E427A-3D55-4303-BF80-6455036E1DE7}</a:tableStyleId>
              </a:tblPr>
              <a:tblGrid>
                <a:gridCol w="2169439">
                  <a:extLst>
                    <a:ext uri="{9D8B030D-6E8A-4147-A177-3AD203B41FA5}">
                      <a16:colId xmlns:a16="http://schemas.microsoft.com/office/drawing/2014/main" val="959511497"/>
                    </a:ext>
                  </a:extLst>
                </a:gridCol>
                <a:gridCol w="2169439">
                  <a:extLst>
                    <a:ext uri="{9D8B030D-6E8A-4147-A177-3AD203B41FA5}">
                      <a16:colId xmlns:a16="http://schemas.microsoft.com/office/drawing/2014/main" val="945651853"/>
                    </a:ext>
                  </a:extLst>
                </a:gridCol>
                <a:gridCol w="2170424">
                  <a:extLst>
                    <a:ext uri="{9D8B030D-6E8A-4147-A177-3AD203B41FA5}">
                      <a16:colId xmlns:a16="http://schemas.microsoft.com/office/drawing/2014/main" val="104726711"/>
                    </a:ext>
                  </a:extLst>
                </a:gridCol>
              </a:tblGrid>
              <a:tr h="478781">
                <a:tc>
                  <a:txBody>
                    <a:bodyPr/>
                    <a:lstStyle/>
                    <a:p>
                      <a:pPr algn="ctr">
                        <a:lnSpc>
                          <a:spcPct val="115000"/>
                        </a:lnSpc>
                        <a:spcAft>
                          <a:spcPts val="800"/>
                        </a:spcAft>
                        <a:buNone/>
                        <a:tabLst>
                          <a:tab pos="577850" algn="l"/>
                        </a:tabLst>
                      </a:pPr>
                      <a:r>
                        <a:rPr lang="en-IN" sz="1800" kern="100">
                          <a:effectLst/>
                        </a:rPr>
                        <a:t>DEPT_NAME</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NAME</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SALARY</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92437097"/>
                  </a:ext>
                </a:extLst>
              </a:tr>
              <a:tr h="478781">
                <a:tc>
                  <a:txBody>
                    <a:bodyPr/>
                    <a:lstStyle/>
                    <a:p>
                      <a:pPr algn="ctr">
                        <a:lnSpc>
                          <a:spcPct val="115000"/>
                        </a:lnSpc>
                        <a:spcAft>
                          <a:spcPts val="800"/>
                        </a:spcAft>
                        <a:buNone/>
                        <a:tabLst>
                          <a:tab pos="577850" algn="l"/>
                        </a:tabLst>
                      </a:pPr>
                      <a:r>
                        <a:rPr lang="en-IN" sz="1800" kern="100" dirty="0">
                          <a:effectLst/>
                        </a:rPr>
                        <a:t>IT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MAX</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90000</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63865"/>
                  </a:ext>
                </a:extLst>
              </a:tr>
              <a:tr h="478781">
                <a:tc>
                  <a:txBody>
                    <a:bodyPr/>
                    <a:lstStyle/>
                    <a:p>
                      <a:pPr algn="ctr">
                        <a:lnSpc>
                          <a:spcPct val="115000"/>
                        </a:lnSpc>
                        <a:spcAft>
                          <a:spcPts val="800"/>
                        </a:spcAft>
                        <a:buNone/>
                        <a:tabLst>
                          <a:tab pos="577850" algn="l"/>
                        </a:tabLst>
                      </a:pPr>
                      <a:r>
                        <a:rPr lang="en-IN" sz="1800" kern="100">
                          <a:effectLst/>
                        </a:rPr>
                        <a:t>IT</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JIM</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90000</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81940090"/>
                  </a:ext>
                </a:extLst>
              </a:tr>
              <a:tr h="478781">
                <a:tc>
                  <a:txBody>
                    <a:bodyPr/>
                    <a:lstStyle/>
                    <a:p>
                      <a:pPr algn="ctr">
                        <a:lnSpc>
                          <a:spcPct val="115000"/>
                        </a:lnSpc>
                        <a:spcAft>
                          <a:spcPts val="800"/>
                        </a:spcAft>
                        <a:buNone/>
                        <a:tabLst>
                          <a:tab pos="577850" algn="l"/>
                        </a:tabLst>
                      </a:pPr>
                      <a:r>
                        <a:rPr lang="en-IN" sz="1800" kern="100">
                          <a:effectLst/>
                        </a:rPr>
                        <a:t>SALES</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a:effectLst/>
                        </a:rPr>
                        <a:t>HENRY</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800" kern="100" dirty="0">
                          <a:effectLst/>
                        </a:rPr>
                        <a:t>80000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06497112"/>
                  </a:ext>
                </a:extLst>
              </a:tr>
            </a:tbl>
          </a:graphicData>
        </a:graphic>
      </p:graphicFrame>
    </p:spTree>
    <p:extLst>
      <p:ext uri="{BB962C8B-B14F-4D97-AF65-F5344CB8AC3E}">
        <p14:creationId xmlns:p14="http://schemas.microsoft.com/office/powerpoint/2010/main" val="1585097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A2A81-92DB-D532-7D01-0A16B839A8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61F58C-21D2-1469-DA6E-DCE6DB0B1793}"/>
              </a:ext>
            </a:extLst>
          </p:cNvPr>
          <p:cNvSpPr>
            <a:spLocks noGrp="1"/>
          </p:cNvSpPr>
          <p:nvPr>
            <p:ph type="title"/>
          </p:nvPr>
        </p:nvSpPr>
        <p:spPr>
          <a:xfrm>
            <a:off x="838200" y="658136"/>
            <a:ext cx="10515600" cy="752475"/>
          </a:xfrm>
        </p:spPr>
        <p:txBody>
          <a:bodyPr>
            <a:normAutofit/>
          </a:bodyPr>
          <a:lstStyle/>
          <a:p>
            <a:r>
              <a:rPr lang="en-US" sz="3000" b="1" dirty="0">
                <a:latin typeface="Times New Roman" panose="02020603050405020304" pitchFamily="18" charset="0"/>
                <a:cs typeface="Times New Roman" panose="02020603050405020304" pitchFamily="18" charset="0"/>
              </a:rPr>
              <a:t>      </a:t>
            </a:r>
            <a:r>
              <a:rPr lang="en-US" sz="3200" b="1" dirty="0"/>
              <a:t>Merging Employee Histories: Who Earned Least?</a:t>
            </a:r>
            <a:r>
              <a:rPr lang="en-US" sz="3000" b="1" dirty="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(Hard)</a:t>
            </a:r>
            <a:endParaRPr lang="en-IN" sz="3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D0B6558-F8E3-3334-3273-99E31FA1FDE3}"/>
              </a:ext>
            </a:extLst>
          </p:cNvPr>
          <p:cNvSpPr txBox="1"/>
          <p:nvPr/>
        </p:nvSpPr>
        <p:spPr>
          <a:xfrm>
            <a:off x="654570" y="1582340"/>
            <a:ext cx="10388600" cy="2031325"/>
          </a:xfrm>
          <a:prstGeom prst="rect">
            <a:avLst/>
          </a:prstGeom>
          <a:noFill/>
        </p:spPr>
        <p:txBody>
          <a:bodyPr wrap="square" rtlCol="0">
            <a:spAutoFit/>
          </a:bodyPr>
          <a:lstStyle/>
          <a:p>
            <a:r>
              <a:rPr lang="en-US" dirty="0"/>
              <a:t>Two legacy HR systems (A and B) have separate records of employee salaries. These records may overlap. Management wants to </a:t>
            </a:r>
            <a:r>
              <a:rPr lang="en-US" b="1" dirty="0"/>
              <a:t>merge these datasets</a:t>
            </a:r>
            <a:r>
              <a:rPr lang="en-US" dirty="0"/>
              <a:t> and identify </a:t>
            </a:r>
            <a:r>
              <a:rPr lang="en-US" b="1" dirty="0"/>
              <a:t>each unique employee (</a:t>
            </a:r>
            <a:r>
              <a:rPr lang="en-US" dirty="0"/>
              <a:t>by </a:t>
            </a:r>
            <a:r>
              <a:rPr lang="en-US" dirty="0" err="1"/>
              <a:t>EmpID</a:t>
            </a:r>
            <a:r>
              <a:rPr lang="en-US" dirty="0"/>
              <a:t>) along with their </a:t>
            </a:r>
            <a:r>
              <a:rPr lang="en-US" b="1" dirty="0"/>
              <a:t>lowest recorded salary</a:t>
            </a:r>
            <a:r>
              <a:rPr lang="en-US" dirty="0"/>
              <a:t> across both systems.</a:t>
            </a:r>
            <a:br>
              <a:rPr lang="en-US" dirty="0"/>
            </a:br>
            <a:br>
              <a:rPr lang="en-US" dirty="0"/>
            </a:br>
            <a:r>
              <a:rPr lang="en-US" b="1" dirty="0"/>
              <a:t>Objective</a:t>
            </a:r>
            <a:br>
              <a:rPr lang="en-US" b="1" dirty="0"/>
            </a:br>
            <a:r>
              <a:rPr lang="en-US" dirty="0"/>
              <a:t>1. Combine two tables A and B.</a:t>
            </a:r>
          </a:p>
          <a:p>
            <a:r>
              <a:rPr lang="en-US" dirty="0"/>
              <a:t>2. Return each </a:t>
            </a:r>
            <a:r>
              <a:rPr lang="en-US" dirty="0" err="1"/>
              <a:t>EmpID</a:t>
            </a:r>
            <a:r>
              <a:rPr lang="en-US" dirty="0"/>
              <a:t> with their </a:t>
            </a:r>
            <a:r>
              <a:rPr lang="en-US" b="1" dirty="0"/>
              <a:t>lowest salary, </a:t>
            </a:r>
            <a:r>
              <a:rPr lang="en-US" dirty="0"/>
              <a:t>and the corresponding </a:t>
            </a:r>
            <a:r>
              <a:rPr lang="en-US" b="1" dirty="0" err="1"/>
              <a:t>Ename</a:t>
            </a:r>
            <a:r>
              <a:rPr lang="en-US" b="1" dirty="0"/>
              <a:t>.</a:t>
            </a:r>
            <a:r>
              <a:rPr lang="en-US" dirty="0"/>
              <a:t> </a:t>
            </a:r>
          </a:p>
        </p:txBody>
      </p:sp>
      <p:graphicFrame>
        <p:nvGraphicFramePr>
          <p:cNvPr id="9" name="Table 8">
            <a:extLst>
              <a:ext uri="{FF2B5EF4-FFF2-40B4-BE49-F238E27FC236}">
                <a16:creationId xmlns:a16="http://schemas.microsoft.com/office/drawing/2014/main" id="{35DDA170-B67A-6F65-BB30-15230B3195ED}"/>
              </a:ext>
            </a:extLst>
          </p:cNvPr>
          <p:cNvGraphicFramePr>
            <a:graphicFrameLocks noGrp="1"/>
          </p:cNvGraphicFramePr>
          <p:nvPr>
            <p:extLst>
              <p:ext uri="{D42A27DB-BD31-4B8C-83A1-F6EECF244321}">
                <p14:modId xmlns:p14="http://schemas.microsoft.com/office/powerpoint/2010/main" val="3837958030"/>
              </p:ext>
            </p:extLst>
          </p:nvPr>
        </p:nvGraphicFramePr>
        <p:xfrm>
          <a:off x="838199" y="4548455"/>
          <a:ext cx="3910263" cy="1454410"/>
        </p:xfrm>
        <a:graphic>
          <a:graphicData uri="http://schemas.openxmlformats.org/drawingml/2006/table">
            <a:tbl>
              <a:tblPr firstRow="1" bandRow="1">
                <a:tableStyleId>{21E4AEA4-8DFA-4A89-87EB-49C32662AFE0}</a:tableStyleId>
              </a:tblPr>
              <a:tblGrid>
                <a:gridCol w="1130817">
                  <a:extLst>
                    <a:ext uri="{9D8B030D-6E8A-4147-A177-3AD203B41FA5}">
                      <a16:colId xmlns:a16="http://schemas.microsoft.com/office/drawing/2014/main" val="3744953430"/>
                    </a:ext>
                  </a:extLst>
                </a:gridCol>
                <a:gridCol w="1389723">
                  <a:extLst>
                    <a:ext uri="{9D8B030D-6E8A-4147-A177-3AD203B41FA5}">
                      <a16:colId xmlns:a16="http://schemas.microsoft.com/office/drawing/2014/main" val="2840010777"/>
                    </a:ext>
                  </a:extLst>
                </a:gridCol>
                <a:gridCol w="1389723">
                  <a:extLst>
                    <a:ext uri="{9D8B030D-6E8A-4147-A177-3AD203B41FA5}">
                      <a16:colId xmlns:a16="http://schemas.microsoft.com/office/drawing/2014/main" val="3016790670"/>
                    </a:ext>
                  </a:extLst>
                </a:gridCol>
              </a:tblGrid>
              <a:tr h="231888">
                <a:tc>
                  <a:txBody>
                    <a:bodyPr/>
                    <a:lstStyle/>
                    <a:p>
                      <a:pPr algn="ctr"/>
                      <a:r>
                        <a:rPr lang="en-US" dirty="0" err="1"/>
                        <a:t>EmpID</a:t>
                      </a:r>
                      <a:endParaRPr lang="en-IN" dirty="0"/>
                    </a:p>
                  </a:txBody>
                  <a:tcPr/>
                </a:tc>
                <a:tc>
                  <a:txBody>
                    <a:bodyPr/>
                    <a:lstStyle/>
                    <a:p>
                      <a:pPr algn="ctr"/>
                      <a:r>
                        <a:rPr lang="en-US" dirty="0" err="1"/>
                        <a:t>Ename</a:t>
                      </a:r>
                      <a:endParaRPr lang="en-IN" dirty="0"/>
                    </a:p>
                  </a:txBody>
                  <a:tcPr/>
                </a:tc>
                <a:tc>
                  <a:txBody>
                    <a:bodyPr/>
                    <a:lstStyle/>
                    <a:p>
                      <a:pPr algn="ctr"/>
                      <a:r>
                        <a:rPr lang="en-US" dirty="0"/>
                        <a:t>Salary</a:t>
                      </a:r>
                      <a:endParaRPr lang="en-IN" dirty="0"/>
                    </a:p>
                  </a:txBody>
                  <a:tcPr/>
                </a:tc>
                <a:extLst>
                  <a:ext uri="{0D108BD9-81ED-4DB2-BD59-A6C34878D82A}">
                    <a16:rowId xmlns:a16="http://schemas.microsoft.com/office/drawing/2014/main" val="1053650914"/>
                  </a:ext>
                </a:extLst>
              </a:tr>
              <a:tr h="544325">
                <a:tc>
                  <a:txBody>
                    <a:bodyPr/>
                    <a:lstStyle/>
                    <a:p>
                      <a:pPr algn="ctr"/>
                      <a:r>
                        <a:rPr lang="en-US" dirty="0"/>
                        <a:t>1</a:t>
                      </a:r>
                      <a:endParaRPr lang="en-IN" dirty="0"/>
                    </a:p>
                  </a:txBody>
                  <a:tcPr/>
                </a:tc>
                <a:tc>
                  <a:txBody>
                    <a:bodyPr/>
                    <a:lstStyle/>
                    <a:p>
                      <a:pPr algn="ctr"/>
                      <a:r>
                        <a:rPr lang="en-US" dirty="0"/>
                        <a:t>AA</a:t>
                      </a:r>
                      <a:endParaRPr lang="en-IN" dirty="0"/>
                    </a:p>
                  </a:txBody>
                  <a:tcPr/>
                </a:tc>
                <a:tc>
                  <a:txBody>
                    <a:bodyPr/>
                    <a:lstStyle/>
                    <a:p>
                      <a:pPr algn="ctr"/>
                      <a:r>
                        <a:rPr lang="en-US" dirty="0"/>
                        <a:t>1000</a:t>
                      </a:r>
                      <a:endParaRPr lang="en-IN" dirty="0"/>
                    </a:p>
                  </a:txBody>
                  <a:tcPr/>
                </a:tc>
                <a:extLst>
                  <a:ext uri="{0D108BD9-81ED-4DB2-BD59-A6C34878D82A}">
                    <a16:rowId xmlns:a16="http://schemas.microsoft.com/office/drawing/2014/main" val="954778750"/>
                  </a:ext>
                </a:extLst>
              </a:tr>
              <a:tr h="544325">
                <a:tc>
                  <a:txBody>
                    <a:bodyPr/>
                    <a:lstStyle/>
                    <a:p>
                      <a:pPr algn="ctr"/>
                      <a:r>
                        <a:rPr lang="en-US" dirty="0"/>
                        <a:t>2</a:t>
                      </a:r>
                      <a:endParaRPr lang="en-IN" dirty="0"/>
                    </a:p>
                  </a:txBody>
                  <a:tcPr/>
                </a:tc>
                <a:tc>
                  <a:txBody>
                    <a:bodyPr/>
                    <a:lstStyle/>
                    <a:p>
                      <a:pPr algn="ctr"/>
                      <a:r>
                        <a:rPr lang="en-US" dirty="0"/>
                        <a:t>BB</a:t>
                      </a:r>
                      <a:endParaRPr lang="en-IN" dirty="0"/>
                    </a:p>
                  </a:txBody>
                  <a:tcPr/>
                </a:tc>
                <a:tc>
                  <a:txBody>
                    <a:bodyPr/>
                    <a:lstStyle/>
                    <a:p>
                      <a:pPr algn="ctr"/>
                      <a:r>
                        <a:rPr lang="en-US" dirty="0"/>
                        <a:t>300</a:t>
                      </a:r>
                      <a:endParaRPr lang="en-IN" dirty="0"/>
                    </a:p>
                  </a:txBody>
                  <a:tcPr/>
                </a:tc>
                <a:extLst>
                  <a:ext uri="{0D108BD9-81ED-4DB2-BD59-A6C34878D82A}">
                    <a16:rowId xmlns:a16="http://schemas.microsoft.com/office/drawing/2014/main" val="2664358425"/>
                  </a:ext>
                </a:extLst>
              </a:tr>
            </a:tbl>
          </a:graphicData>
        </a:graphic>
      </p:graphicFrame>
      <p:sp>
        <p:nvSpPr>
          <p:cNvPr id="11" name="TextBox 10">
            <a:extLst>
              <a:ext uri="{FF2B5EF4-FFF2-40B4-BE49-F238E27FC236}">
                <a16:creationId xmlns:a16="http://schemas.microsoft.com/office/drawing/2014/main" id="{66620DA6-157B-B0B2-B245-BA6BE2DE41FA}"/>
              </a:ext>
            </a:extLst>
          </p:cNvPr>
          <p:cNvSpPr txBox="1"/>
          <p:nvPr/>
        </p:nvSpPr>
        <p:spPr>
          <a:xfrm>
            <a:off x="2069430" y="4056816"/>
            <a:ext cx="895559" cy="369332"/>
          </a:xfrm>
          <a:prstGeom prst="rect">
            <a:avLst/>
          </a:prstGeom>
          <a:noFill/>
        </p:spPr>
        <p:txBody>
          <a:bodyPr wrap="square">
            <a:spAutoFit/>
          </a:bodyPr>
          <a:lstStyle/>
          <a:p>
            <a:r>
              <a:rPr lang="en-US" b="1" dirty="0"/>
              <a:t>T</a:t>
            </a:r>
            <a:r>
              <a:rPr lang="en-IN" b="1" dirty="0"/>
              <a:t>able A</a:t>
            </a:r>
          </a:p>
        </p:txBody>
      </p:sp>
      <p:graphicFrame>
        <p:nvGraphicFramePr>
          <p:cNvPr id="12" name="Table 11">
            <a:extLst>
              <a:ext uri="{FF2B5EF4-FFF2-40B4-BE49-F238E27FC236}">
                <a16:creationId xmlns:a16="http://schemas.microsoft.com/office/drawing/2014/main" id="{403738A0-247A-C96B-554A-D657241FDCEC}"/>
              </a:ext>
            </a:extLst>
          </p:cNvPr>
          <p:cNvGraphicFramePr>
            <a:graphicFrameLocks noGrp="1"/>
          </p:cNvGraphicFramePr>
          <p:nvPr>
            <p:extLst>
              <p:ext uri="{D42A27DB-BD31-4B8C-83A1-F6EECF244321}">
                <p14:modId xmlns:p14="http://schemas.microsoft.com/office/powerpoint/2010/main" val="1752360218"/>
              </p:ext>
            </p:extLst>
          </p:nvPr>
        </p:nvGraphicFramePr>
        <p:xfrm>
          <a:off x="6701589" y="4548455"/>
          <a:ext cx="3910263" cy="1454410"/>
        </p:xfrm>
        <a:graphic>
          <a:graphicData uri="http://schemas.openxmlformats.org/drawingml/2006/table">
            <a:tbl>
              <a:tblPr firstRow="1" bandRow="1">
                <a:tableStyleId>{21E4AEA4-8DFA-4A89-87EB-49C32662AFE0}</a:tableStyleId>
              </a:tblPr>
              <a:tblGrid>
                <a:gridCol w="1130817">
                  <a:extLst>
                    <a:ext uri="{9D8B030D-6E8A-4147-A177-3AD203B41FA5}">
                      <a16:colId xmlns:a16="http://schemas.microsoft.com/office/drawing/2014/main" val="3744953430"/>
                    </a:ext>
                  </a:extLst>
                </a:gridCol>
                <a:gridCol w="1389723">
                  <a:extLst>
                    <a:ext uri="{9D8B030D-6E8A-4147-A177-3AD203B41FA5}">
                      <a16:colId xmlns:a16="http://schemas.microsoft.com/office/drawing/2014/main" val="2840010777"/>
                    </a:ext>
                  </a:extLst>
                </a:gridCol>
                <a:gridCol w="1389723">
                  <a:extLst>
                    <a:ext uri="{9D8B030D-6E8A-4147-A177-3AD203B41FA5}">
                      <a16:colId xmlns:a16="http://schemas.microsoft.com/office/drawing/2014/main" val="3016790670"/>
                    </a:ext>
                  </a:extLst>
                </a:gridCol>
              </a:tblGrid>
              <a:tr h="231888">
                <a:tc>
                  <a:txBody>
                    <a:bodyPr/>
                    <a:lstStyle/>
                    <a:p>
                      <a:pPr algn="ctr"/>
                      <a:r>
                        <a:rPr lang="en-US" dirty="0" err="1"/>
                        <a:t>EmpID</a:t>
                      </a:r>
                      <a:endParaRPr lang="en-IN" dirty="0"/>
                    </a:p>
                  </a:txBody>
                  <a:tcPr/>
                </a:tc>
                <a:tc>
                  <a:txBody>
                    <a:bodyPr/>
                    <a:lstStyle/>
                    <a:p>
                      <a:pPr algn="ctr"/>
                      <a:r>
                        <a:rPr lang="en-US" dirty="0" err="1"/>
                        <a:t>Ename</a:t>
                      </a:r>
                      <a:endParaRPr lang="en-IN" dirty="0"/>
                    </a:p>
                  </a:txBody>
                  <a:tcPr/>
                </a:tc>
                <a:tc>
                  <a:txBody>
                    <a:bodyPr/>
                    <a:lstStyle/>
                    <a:p>
                      <a:pPr algn="ctr"/>
                      <a:r>
                        <a:rPr lang="en-US" dirty="0"/>
                        <a:t>Salary</a:t>
                      </a:r>
                      <a:endParaRPr lang="en-IN" dirty="0"/>
                    </a:p>
                  </a:txBody>
                  <a:tcPr/>
                </a:tc>
                <a:extLst>
                  <a:ext uri="{0D108BD9-81ED-4DB2-BD59-A6C34878D82A}">
                    <a16:rowId xmlns:a16="http://schemas.microsoft.com/office/drawing/2014/main" val="1053650914"/>
                  </a:ext>
                </a:extLst>
              </a:tr>
              <a:tr h="544325">
                <a:tc>
                  <a:txBody>
                    <a:bodyPr/>
                    <a:lstStyle/>
                    <a:p>
                      <a:pPr algn="ctr"/>
                      <a:r>
                        <a:rPr lang="en-US" dirty="0"/>
                        <a:t>2</a:t>
                      </a:r>
                      <a:endParaRPr lang="en-IN" dirty="0"/>
                    </a:p>
                  </a:txBody>
                  <a:tcPr/>
                </a:tc>
                <a:tc>
                  <a:txBody>
                    <a:bodyPr/>
                    <a:lstStyle/>
                    <a:p>
                      <a:pPr algn="ctr"/>
                      <a:r>
                        <a:rPr lang="en-US" dirty="0"/>
                        <a:t>BB</a:t>
                      </a:r>
                      <a:endParaRPr lang="en-IN" dirty="0"/>
                    </a:p>
                  </a:txBody>
                  <a:tcPr/>
                </a:tc>
                <a:tc>
                  <a:txBody>
                    <a:bodyPr/>
                    <a:lstStyle/>
                    <a:p>
                      <a:pPr algn="ctr"/>
                      <a:r>
                        <a:rPr lang="en-US" dirty="0"/>
                        <a:t>400</a:t>
                      </a:r>
                      <a:endParaRPr lang="en-IN" dirty="0"/>
                    </a:p>
                  </a:txBody>
                  <a:tcPr/>
                </a:tc>
                <a:extLst>
                  <a:ext uri="{0D108BD9-81ED-4DB2-BD59-A6C34878D82A}">
                    <a16:rowId xmlns:a16="http://schemas.microsoft.com/office/drawing/2014/main" val="954778750"/>
                  </a:ext>
                </a:extLst>
              </a:tr>
              <a:tr h="544325">
                <a:tc>
                  <a:txBody>
                    <a:bodyPr/>
                    <a:lstStyle/>
                    <a:p>
                      <a:pPr algn="ctr"/>
                      <a:r>
                        <a:rPr lang="en-US" dirty="0"/>
                        <a:t>3</a:t>
                      </a:r>
                      <a:endParaRPr lang="en-IN" dirty="0"/>
                    </a:p>
                  </a:txBody>
                  <a:tcPr/>
                </a:tc>
                <a:tc>
                  <a:txBody>
                    <a:bodyPr/>
                    <a:lstStyle/>
                    <a:p>
                      <a:pPr algn="ctr"/>
                      <a:r>
                        <a:rPr lang="en-US" dirty="0"/>
                        <a:t>CC</a:t>
                      </a:r>
                      <a:endParaRPr lang="en-IN" dirty="0"/>
                    </a:p>
                  </a:txBody>
                  <a:tcPr/>
                </a:tc>
                <a:tc>
                  <a:txBody>
                    <a:bodyPr/>
                    <a:lstStyle/>
                    <a:p>
                      <a:pPr algn="ctr"/>
                      <a:r>
                        <a:rPr lang="en-US" dirty="0"/>
                        <a:t>100</a:t>
                      </a:r>
                      <a:endParaRPr lang="en-IN" dirty="0"/>
                    </a:p>
                  </a:txBody>
                  <a:tcPr/>
                </a:tc>
                <a:extLst>
                  <a:ext uri="{0D108BD9-81ED-4DB2-BD59-A6C34878D82A}">
                    <a16:rowId xmlns:a16="http://schemas.microsoft.com/office/drawing/2014/main" val="2664358425"/>
                  </a:ext>
                </a:extLst>
              </a:tr>
            </a:tbl>
          </a:graphicData>
        </a:graphic>
      </p:graphicFrame>
      <p:sp>
        <p:nvSpPr>
          <p:cNvPr id="13" name="TextBox 12">
            <a:extLst>
              <a:ext uri="{FF2B5EF4-FFF2-40B4-BE49-F238E27FC236}">
                <a16:creationId xmlns:a16="http://schemas.microsoft.com/office/drawing/2014/main" id="{F40F26A0-278F-6EDD-BE32-AC79FF442DC6}"/>
              </a:ext>
            </a:extLst>
          </p:cNvPr>
          <p:cNvSpPr txBox="1"/>
          <p:nvPr/>
        </p:nvSpPr>
        <p:spPr>
          <a:xfrm>
            <a:off x="7932820" y="4056816"/>
            <a:ext cx="895559" cy="369332"/>
          </a:xfrm>
          <a:prstGeom prst="rect">
            <a:avLst/>
          </a:prstGeom>
          <a:noFill/>
        </p:spPr>
        <p:txBody>
          <a:bodyPr wrap="square">
            <a:spAutoFit/>
          </a:bodyPr>
          <a:lstStyle/>
          <a:p>
            <a:r>
              <a:rPr lang="en-US" b="1" dirty="0"/>
              <a:t>T</a:t>
            </a:r>
            <a:r>
              <a:rPr lang="en-IN" b="1" dirty="0"/>
              <a:t>able B</a:t>
            </a:r>
          </a:p>
        </p:txBody>
      </p:sp>
    </p:spTree>
    <p:extLst>
      <p:ext uri="{BB962C8B-B14F-4D97-AF65-F5344CB8AC3E}">
        <p14:creationId xmlns:p14="http://schemas.microsoft.com/office/powerpoint/2010/main" val="641142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84867-74A2-95E3-5FE4-DAD722F0912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F1E9292-96D7-8313-D176-19457527BE9A}"/>
              </a:ext>
            </a:extLst>
          </p:cNvPr>
          <p:cNvSpPr txBox="1"/>
          <p:nvPr/>
        </p:nvSpPr>
        <p:spPr>
          <a:xfrm>
            <a:off x="3526521" y="1505962"/>
            <a:ext cx="2324602" cy="369332"/>
          </a:xfrm>
          <a:prstGeom prst="rect">
            <a:avLst/>
          </a:prstGeom>
          <a:noFill/>
        </p:spPr>
        <p:txBody>
          <a:bodyPr wrap="square" rtlCol="0">
            <a:spAutoFit/>
          </a:bodyPr>
          <a:lstStyle/>
          <a:p>
            <a:r>
              <a:rPr lang="en-US" b="1" dirty="0"/>
              <a:t>OUTPUT:</a:t>
            </a:r>
            <a:endParaRPr lang="en-IN" b="1" dirty="0"/>
          </a:p>
        </p:txBody>
      </p:sp>
      <p:graphicFrame>
        <p:nvGraphicFramePr>
          <p:cNvPr id="8" name="Table 7">
            <a:extLst>
              <a:ext uri="{FF2B5EF4-FFF2-40B4-BE49-F238E27FC236}">
                <a16:creationId xmlns:a16="http://schemas.microsoft.com/office/drawing/2014/main" id="{A1547555-ED27-EC53-1CC4-F6459C608D37}"/>
              </a:ext>
            </a:extLst>
          </p:cNvPr>
          <p:cNvGraphicFramePr>
            <a:graphicFrameLocks noGrp="1"/>
          </p:cNvGraphicFramePr>
          <p:nvPr>
            <p:extLst>
              <p:ext uri="{D42A27DB-BD31-4B8C-83A1-F6EECF244321}">
                <p14:modId xmlns:p14="http://schemas.microsoft.com/office/powerpoint/2010/main" val="4059196037"/>
              </p:ext>
            </p:extLst>
          </p:nvPr>
        </p:nvGraphicFramePr>
        <p:xfrm>
          <a:off x="1622459" y="2015393"/>
          <a:ext cx="5756910" cy="1610124"/>
        </p:xfrm>
        <a:graphic>
          <a:graphicData uri="http://schemas.openxmlformats.org/drawingml/2006/table">
            <a:tbl>
              <a:tblPr firstRow="1" firstCol="1" bandRow="1">
                <a:tableStyleId>{5C22544A-7EE6-4342-B048-85BDC9FD1C3A}</a:tableStyleId>
              </a:tblPr>
              <a:tblGrid>
                <a:gridCol w="1918970">
                  <a:extLst>
                    <a:ext uri="{9D8B030D-6E8A-4147-A177-3AD203B41FA5}">
                      <a16:colId xmlns:a16="http://schemas.microsoft.com/office/drawing/2014/main" val="1523613311"/>
                    </a:ext>
                  </a:extLst>
                </a:gridCol>
                <a:gridCol w="1918970">
                  <a:extLst>
                    <a:ext uri="{9D8B030D-6E8A-4147-A177-3AD203B41FA5}">
                      <a16:colId xmlns:a16="http://schemas.microsoft.com/office/drawing/2014/main" val="3294304083"/>
                    </a:ext>
                  </a:extLst>
                </a:gridCol>
                <a:gridCol w="1918970">
                  <a:extLst>
                    <a:ext uri="{9D8B030D-6E8A-4147-A177-3AD203B41FA5}">
                      <a16:colId xmlns:a16="http://schemas.microsoft.com/office/drawing/2014/main" val="2969974709"/>
                    </a:ext>
                  </a:extLst>
                </a:gridCol>
              </a:tblGrid>
              <a:tr h="402531">
                <a:tc>
                  <a:txBody>
                    <a:bodyPr/>
                    <a:lstStyle/>
                    <a:p>
                      <a:pPr algn="ctr">
                        <a:lnSpc>
                          <a:spcPct val="115000"/>
                        </a:lnSpc>
                        <a:spcAft>
                          <a:spcPts val="800"/>
                        </a:spcAft>
                        <a:buNone/>
                        <a:tabLst>
                          <a:tab pos="577850" algn="l"/>
                        </a:tabLst>
                      </a:pPr>
                      <a:r>
                        <a:rPr lang="en-IN" sz="2200" kern="100" dirty="0" err="1">
                          <a:effectLst/>
                        </a:rPr>
                        <a:t>EmpID</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2200" kern="100" dirty="0" err="1">
                          <a:effectLst/>
                        </a:rPr>
                        <a:t>Ename</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2200" kern="100" dirty="0">
                          <a:effectLst/>
                        </a:rPr>
                        <a:t>Salary</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5989731"/>
                  </a:ext>
                </a:extLst>
              </a:tr>
              <a:tr h="402531">
                <a:tc>
                  <a:txBody>
                    <a:bodyPr/>
                    <a:lstStyle/>
                    <a:p>
                      <a:pPr algn="ctr">
                        <a:lnSpc>
                          <a:spcPct val="115000"/>
                        </a:lnSpc>
                        <a:spcAft>
                          <a:spcPts val="800"/>
                        </a:spcAft>
                        <a:buNone/>
                        <a:tabLst>
                          <a:tab pos="577850" algn="l"/>
                        </a:tabLst>
                      </a:pPr>
                      <a:r>
                        <a:rPr lang="en-IN" sz="2200" kern="100">
                          <a:effectLst/>
                        </a:rPr>
                        <a:t>1</a:t>
                      </a:r>
                      <a:endParaRPr lang="en-IN" sz="2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2200" kern="100">
                          <a:effectLst/>
                        </a:rPr>
                        <a:t>AA</a:t>
                      </a:r>
                      <a:endParaRPr lang="en-IN" sz="2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2200" kern="100" dirty="0">
                          <a:effectLst/>
                        </a:rPr>
                        <a:t>1000</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92154470"/>
                  </a:ext>
                </a:extLst>
              </a:tr>
              <a:tr h="402531">
                <a:tc>
                  <a:txBody>
                    <a:bodyPr/>
                    <a:lstStyle/>
                    <a:p>
                      <a:pPr algn="ctr">
                        <a:lnSpc>
                          <a:spcPct val="115000"/>
                        </a:lnSpc>
                        <a:spcAft>
                          <a:spcPts val="800"/>
                        </a:spcAft>
                        <a:buNone/>
                        <a:tabLst>
                          <a:tab pos="577850" algn="l"/>
                        </a:tabLst>
                      </a:pPr>
                      <a:r>
                        <a:rPr lang="en-IN" sz="2200" kern="100">
                          <a:effectLst/>
                        </a:rPr>
                        <a:t>2</a:t>
                      </a:r>
                      <a:endParaRPr lang="en-IN" sz="2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2200" kern="100">
                          <a:effectLst/>
                        </a:rPr>
                        <a:t>BB</a:t>
                      </a:r>
                      <a:endParaRPr lang="en-IN" sz="2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2200" kern="100" dirty="0">
                          <a:effectLst/>
                        </a:rPr>
                        <a:t>300</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92469358"/>
                  </a:ext>
                </a:extLst>
              </a:tr>
              <a:tr h="402531">
                <a:tc>
                  <a:txBody>
                    <a:bodyPr/>
                    <a:lstStyle/>
                    <a:p>
                      <a:pPr algn="ctr">
                        <a:lnSpc>
                          <a:spcPct val="115000"/>
                        </a:lnSpc>
                        <a:spcAft>
                          <a:spcPts val="800"/>
                        </a:spcAft>
                        <a:buNone/>
                        <a:tabLst>
                          <a:tab pos="577850" algn="l"/>
                        </a:tabLst>
                      </a:pPr>
                      <a:r>
                        <a:rPr lang="en-IN" sz="2200" kern="100">
                          <a:effectLst/>
                        </a:rPr>
                        <a:t>3</a:t>
                      </a:r>
                      <a:endParaRPr lang="en-IN" sz="2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2200" kern="100">
                          <a:effectLst/>
                        </a:rPr>
                        <a:t>CC</a:t>
                      </a:r>
                      <a:endParaRPr lang="en-IN" sz="2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2200" kern="100" dirty="0">
                          <a:effectLst/>
                        </a:rPr>
                        <a:t>100</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24218006"/>
                  </a:ext>
                </a:extLst>
              </a:tr>
            </a:tbl>
          </a:graphicData>
        </a:graphic>
      </p:graphicFrame>
    </p:spTree>
    <p:extLst>
      <p:ext uri="{BB962C8B-B14F-4D97-AF65-F5344CB8AC3E}">
        <p14:creationId xmlns:p14="http://schemas.microsoft.com/office/powerpoint/2010/main" val="4123686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3CEC-0869-80C2-E307-DA5926D4418E}"/>
              </a:ext>
            </a:extLst>
          </p:cNvPr>
          <p:cNvSpPr>
            <a:spLocks noGrp="1"/>
          </p:cNvSpPr>
          <p:nvPr>
            <p:ph type="title"/>
          </p:nvPr>
        </p:nvSpPr>
        <p:spPr>
          <a:xfrm>
            <a:off x="838200" y="873543"/>
            <a:ext cx="10515600" cy="696077"/>
          </a:xfrm>
        </p:spPr>
        <p:txBody>
          <a:bodyPr/>
          <a:lstStyle/>
          <a:p>
            <a:r>
              <a:rPr lang="en-US" b="1" dirty="0"/>
              <a:t>IF-ELSE  &amp; ELSE-IF LADDER (SQL SERVER)</a:t>
            </a:r>
            <a:endParaRPr lang="en-IN" b="1" dirty="0"/>
          </a:p>
        </p:txBody>
      </p:sp>
      <p:pic>
        <p:nvPicPr>
          <p:cNvPr id="5" name="Picture 4">
            <a:extLst>
              <a:ext uri="{FF2B5EF4-FFF2-40B4-BE49-F238E27FC236}">
                <a16:creationId xmlns:a16="http://schemas.microsoft.com/office/drawing/2014/main" id="{DB848DD0-FA9F-2764-374D-6602102862B1}"/>
              </a:ext>
            </a:extLst>
          </p:cNvPr>
          <p:cNvPicPr>
            <a:picLocks noChangeAspect="1"/>
          </p:cNvPicPr>
          <p:nvPr/>
        </p:nvPicPr>
        <p:blipFill>
          <a:blip r:embed="rId2"/>
          <a:stretch>
            <a:fillRect/>
          </a:stretch>
        </p:blipFill>
        <p:spPr>
          <a:xfrm>
            <a:off x="710855" y="2126451"/>
            <a:ext cx="6074954" cy="3344659"/>
          </a:xfrm>
          <a:prstGeom prst="rect">
            <a:avLst/>
          </a:prstGeom>
        </p:spPr>
      </p:pic>
      <p:pic>
        <p:nvPicPr>
          <p:cNvPr id="7" name="Picture 6">
            <a:extLst>
              <a:ext uri="{FF2B5EF4-FFF2-40B4-BE49-F238E27FC236}">
                <a16:creationId xmlns:a16="http://schemas.microsoft.com/office/drawing/2014/main" id="{D4E3499D-DC46-3BC3-AA9B-4461272A10AC}"/>
              </a:ext>
            </a:extLst>
          </p:cNvPr>
          <p:cNvPicPr>
            <a:picLocks noChangeAspect="1"/>
          </p:cNvPicPr>
          <p:nvPr/>
        </p:nvPicPr>
        <p:blipFill>
          <a:blip r:embed="rId3"/>
          <a:stretch>
            <a:fillRect/>
          </a:stretch>
        </p:blipFill>
        <p:spPr>
          <a:xfrm>
            <a:off x="6785809" y="2126451"/>
            <a:ext cx="3796977" cy="3344659"/>
          </a:xfrm>
          <a:prstGeom prst="rect">
            <a:avLst/>
          </a:prstGeom>
        </p:spPr>
      </p:pic>
    </p:spTree>
    <p:extLst>
      <p:ext uri="{BB962C8B-B14F-4D97-AF65-F5344CB8AC3E}">
        <p14:creationId xmlns:p14="http://schemas.microsoft.com/office/powerpoint/2010/main" val="1126101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8D897-9076-5B09-0DF7-C7B2B26017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9BFC7-3B44-C5B9-F226-31E0C9112B3B}"/>
              </a:ext>
            </a:extLst>
          </p:cNvPr>
          <p:cNvSpPr>
            <a:spLocks noGrp="1"/>
          </p:cNvSpPr>
          <p:nvPr>
            <p:ph type="title"/>
          </p:nvPr>
        </p:nvSpPr>
        <p:spPr>
          <a:xfrm>
            <a:off x="838200" y="873543"/>
            <a:ext cx="10515600" cy="696077"/>
          </a:xfrm>
        </p:spPr>
        <p:txBody>
          <a:bodyPr/>
          <a:lstStyle/>
          <a:p>
            <a:r>
              <a:rPr lang="en-US" b="1" dirty="0"/>
              <a:t>Examples:</a:t>
            </a:r>
            <a:endParaRPr lang="en-IN" b="1" dirty="0"/>
          </a:p>
        </p:txBody>
      </p:sp>
      <p:pic>
        <p:nvPicPr>
          <p:cNvPr id="4" name="Picture 3">
            <a:extLst>
              <a:ext uri="{FF2B5EF4-FFF2-40B4-BE49-F238E27FC236}">
                <a16:creationId xmlns:a16="http://schemas.microsoft.com/office/drawing/2014/main" id="{B8641008-E11F-2E46-EF75-9868EA0C5A59}"/>
              </a:ext>
            </a:extLst>
          </p:cNvPr>
          <p:cNvPicPr>
            <a:picLocks noChangeAspect="1"/>
          </p:cNvPicPr>
          <p:nvPr/>
        </p:nvPicPr>
        <p:blipFill>
          <a:blip r:embed="rId2"/>
          <a:stretch>
            <a:fillRect/>
          </a:stretch>
        </p:blipFill>
        <p:spPr>
          <a:xfrm>
            <a:off x="838200" y="2148201"/>
            <a:ext cx="7760578" cy="2923349"/>
          </a:xfrm>
          <a:prstGeom prst="rect">
            <a:avLst/>
          </a:prstGeom>
        </p:spPr>
      </p:pic>
    </p:spTree>
    <p:extLst>
      <p:ext uri="{BB962C8B-B14F-4D97-AF65-F5344CB8AC3E}">
        <p14:creationId xmlns:p14="http://schemas.microsoft.com/office/powerpoint/2010/main" val="3519594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119DB-9645-5187-17B2-3420FD7003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7A79D1-F9FF-4D7C-D920-3F4065D6A1B0}"/>
              </a:ext>
            </a:extLst>
          </p:cNvPr>
          <p:cNvSpPr>
            <a:spLocks noGrp="1"/>
          </p:cNvSpPr>
          <p:nvPr>
            <p:ph type="title"/>
          </p:nvPr>
        </p:nvSpPr>
        <p:spPr>
          <a:xfrm>
            <a:off x="838200" y="873543"/>
            <a:ext cx="10515600" cy="696077"/>
          </a:xfrm>
        </p:spPr>
        <p:txBody>
          <a:bodyPr/>
          <a:lstStyle/>
          <a:p>
            <a:r>
              <a:rPr lang="en-US" b="1" dirty="0"/>
              <a:t>Examples:</a:t>
            </a:r>
            <a:endParaRPr lang="en-IN" b="1" dirty="0"/>
          </a:p>
        </p:txBody>
      </p:sp>
      <p:pic>
        <p:nvPicPr>
          <p:cNvPr id="5" name="Picture 4">
            <a:extLst>
              <a:ext uri="{FF2B5EF4-FFF2-40B4-BE49-F238E27FC236}">
                <a16:creationId xmlns:a16="http://schemas.microsoft.com/office/drawing/2014/main" id="{E70CDD92-3BDB-9A16-0111-A91E3A97157A}"/>
              </a:ext>
            </a:extLst>
          </p:cNvPr>
          <p:cNvPicPr>
            <a:picLocks noChangeAspect="1"/>
          </p:cNvPicPr>
          <p:nvPr/>
        </p:nvPicPr>
        <p:blipFill>
          <a:blip r:embed="rId2"/>
          <a:stretch>
            <a:fillRect/>
          </a:stretch>
        </p:blipFill>
        <p:spPr>
          <a:xfrm>
            <a:off x="838199" y="2074651"/>
            <a:ext cx="5963653" cy="3905795"/>
          </a:xfrm>
          <a:prstGeom prst="rect">
            <a:avLst/>
          </a:prstGeom>
        </p:spPr>
      </p:pic>
    </p:spTree>
    <p:extLst>
      <p:ext uri="{BB962C8B-B14F-4D97-AF65-F5344CB8AC3E}">
        <p14:creationId xmlns:p14="http://schemas.microsoft.com/office/powerpoint/2010/main" val="1197468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89644-16A4-0F05-D245-2C31134F7E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5FBE8D-FCEA-862B-AED9-4AC369D6814F}"/>
              </a:ext>
            </a:extLst>
          </p:cNvPr>
          <p:cNvSpPr>
            <a:spLocks noGrp="1"/>
          </p:cNvSpPr>
          <p:nvPr>
            <p:ph type="title"/>
          </p:nvPr>
        </p:nvSpPr>
        <p:spPr>
          <a:xfrm>
            <a:off x="838200" y="873543"/>
            <a:ext cx="10515600" cy="696077"/>
          </a:xfrm>
        </p:spPr>
        <p:txBody>
          <a:bodyPr/>
          <a:lstStyle/>
          <a:p>
            <a:r>
              <a:rPr lang="en-US" b="1" dirty="0"/>
              <a:t>IF-ELSE  &amp; ELSE-IF LADDER (POSTGRES)</a:t>
            </a:r>
            <a:endParaRPr lang="en-IN" b="1" dirty="0"/>
          </a:p>
        </p:txBody>
      </p:sp>
      <p:pic>
        <p:nvPicPr>
          <p:cNvPr id="4" name="Picture 3">
            <a:extLst>
              <a:ext uri="{FF2B5EF4-FFF2-40B4-BE49-F238E27FC236}">
                <a16:creationId xmlns:a16="http://schemas.microsoft.com/office/drawing/2014/main" id="{E0D11750-396C-A122-70C2-F4966967B444}"/>
              </a:ext>
            </a:extLst>
          </p:cNvPr>
          <p:cNvPicPr>
            <a:picLocks noChangeAspect="1"/>
          </p:cNvPicPr>
          <p:nvPr/>
        </p:nvPicPr>
        <p:blipFill>
          <a:blip r:embed="rId2"/>
          <a:stretch>
            <a:fillRect/>
          </a:stretch>
        </p:blipFill>
        <p:spPr>
          <a:xfrm>
            <a:off x="629739" y="1780675"/>
            <a:ext cx="4696240" cy="4331368"/>
          </a:xfrm>
          <a:prstGeom prst="rect">
            <a:avLst/>
          </a:prstGeom>
        </p:spPr>
      </p:pic>
      <p:pic>
        <p:nvPicPr>
          <p:cNvPr id="8" name="Picture 7">
            <a:extLst>
              <a:ext uri="{FF2B5EF4-FFF2-40B4-BE49-F238E27FC236}">
                <a16:creationId xmlns:a16="http://schemas.microsoft.com/office/drawing/2014/main" id="{AA65D10D-B908-B475-AB28-D878F1B3D010}"/>
              </a:ext>
            </a:extLst>
          </p:cNvPr>
          <p:cNvPicPr>
            <a:picLocks noChangeAspect="1"/>
          </p:cNvPicPr>
          <p:nvPr/>
        </p:nvPicPr>
        <p:blipFill>
          <a:blip r:embed="rId3"/>
          <a:stretch>
            <a:fillRect/>
          </a:stretch>
        </p:blipFill>
        <p:spPr>
          <a:xfrm>
            <a:off x="5808061" y="1780675"/>
            <a:ext cx="5212866" cy="4748461"/>
          </a:xfrm>
          <a:prstGeom prst="rect">
            <a:avLst/>
          </a:prstGeom>
        </p:spPr>
      </p:pic>
    </p:spTree>
    <p:extLst>
      <p:ext uri="{BB962C8B-B14F-4D97-AF65-F5344CB8AC3E}">
        <p14:creationId xmlns:p14="http://schemas.microsoft.com/office/powerpoint/2010/main" val="339559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58CD5-1F59-716E-FA03-57C3616C10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00D7DF-7B7E-DCC5-B97B-A17A43A25152}"/>
              </a:ext>
            </a:extLst>
          </p:cNvPr>
          <p:cNvSpPr>
            <a:spLocks noGrp="1"/>
          </p:cNvSpPr>
          <p:nvPr>
            <p:ph type="title"/>
          </p:nvPr>
        </p:nvSpPr>
        <p:spPr>
          <a:xfrm>
            <a:off x="838200" y="873543"/>
            <a:ext cx="10515600" cy="696077"/>
          </a:xfrm>
        </p:spPr>
        <p:txBody>
          <a:bodyPr/>
          <a:lstStyle/>
          <a:p>
            <a:r>
              <a:rPr lang="en-US" b="1" dirty="0"/>
              <a:t>Examples:</a:t>
            </a:r>
            <a:endParaRPr lang="en-IN" b="1" dirty="0"/>
          </a:p>
        </p:txBody>
      </p:sp>
      <p:pic>
        <p:nvPicPr>
          <p:cNvPr id="5" name="Picture 4">
            <a:extLst>
              <a:ext uri="{FF2B5EF4-FFF2-40B4-BE49-F238E27FC236}">
                <a16:creationId xmlns:a16="http://schemas.microsoft.com/office/drawing/2014/main" id="{CC0ED0DA-8112-E87B-65C1-538FE9770B58}"/>
              </a:ext>
            </a:extLst>
          </p:cNvPr>
          <p:cNvPicPr>
            <a:picLocks noChangeAspect="1"/>
          </p:cNvPicPr>
          <p:nvPr/>
        </p:nvPicPr>
        <p:blipFill>
          <a:blip r:embed="rId2"/>
          <a:stretch>
            <a:fillRect/>
          </a:stretch>
        </p:blipFill>
        <p:spPr>
          <a:xfrm>
            <a:off x="1234096" y="2201135"/>
            <a:ext cx="8423251" cy="3172970"/>
          </a:xfrm>
          <a:prstGeom prst="rect">
            <a:avLst/>
          </a:prstGeom>
        </p:spPr>
      </p:pic>
    </p:spTree>
    <p:extLst>
      <p:ext uri="{BB962C8B-B14F-4D97-AF65-F5344CB8AC3E}">
        <p14:creationId xmlns:p14="http://schemas.microsoft.com/office/powerpoint/2010/main" val="1622724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48913-4C8F-1B93-5119-D22270C28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04986-CC6A-1FC3-5FC3-01B1322F1BD7}"/>
              </a:ext>
            </a:extLst>
          </p:cNvPr>
          <p:cNvSpPr>
            <a:spLocks noGrp="1"/>
          </p:cNvSpPr>
          <p:nvPr>
            <p:ph type="title"/>
          </p:nvPr>
        </p:nvSpPr>
        <p:spPr>
          <a:xfrm>
            <a:off x="838200" y="873543"/>
            <a:ext cx="10515600" cy="696077"/>
          </a:xfrm>
        </p:spPr>
        <p:txBody>
          <a:bodyPr/>
          <a:lstStyle/>
          <a:p>
            <a:r>
              <a:rPr lang="en-US" b="1" dirty="0"/>
              <a:t>Examples:</a:t>
            </a:r>
            <a:endParaRPr lang="en-IN" b="1" dirty="0"/>
          </a:p>
        </p:txBody>
      </p:sp>
      <p:pic>
        <p:nvPicPr>
          <p:cNvPr id="4" name="Picture 3">
            <a:extLst>
              <a:ext uri="{FF2B5EF4-FFF2-40B4-BE49-F238E27FC236}">
                <a16:creationId xmlns:a16="http://schemas.microsoft.com/office/drawing/2014/main" id="{CEC93B2B-B433-9193-62CE-69D9C63A264D}"/>
              </a:ext>
            </a:extLst>
          </p:cNvPr>
          <p:cNvPicPr>
            <a:picLocks noChangeAspect="1"/>
          </p:cNvPicPr>
          <p:nvPr/>
        </p:nvPicPr>
        <p:blipFill>
          <a:blip r:embed="rId2"/>
          <a:stretch>
            <a:fillRect/>
          </a:stretch>
        </p:blipFill>
        <p:spPr>
          <a:xfrm>
            <a:off x="838200" y="2032429"/>
            <a:ext cx="6387303" cy="3947715"/>
          </a:xfrm>
          <a:prstGeom prst="rect">
            <a:avLst/>
          </a:prstGeom>
        </p:spPr>
      </p:pic>
    </p:spTree>
    <p:extLst>
      <p:ext uri="{BB962C8B-B14F-4D97-AF65-F5344CB8AC3E}">
        <p14:creationId xmlns:p14="http://schemas.microsoft.com/office/powerpoint/2010/main" val="1291987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0521-6C93-AA3E-4AF1-6786D625F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ACD04B-1631-599B-F602-DD81326E02A0}"/>
              </a:ext>
            </a:extLst>
          </p:cNvPr>
          <p:cNvSpPr>
            <a:spLocks noGrp="1"/>
          </p:cNvSpPr>
          <p:nvPr>
            <p:ph type="title"/>
          </p:nvPr>
        </p:nvSpPr>
        <p:spPr>
          <a:xfrm>
            <a:off x="838200" y="873543"/>
            <a:ext cx="10515600" cy="696077"/>
          </a:xfrm>
        </p:spPr>
        <p:txBody>
          <a:bodyPr/>
          <a:lstStyle/>
          <a:p>
            <a:r>
              <a:rPr lang="en-US" b="1" dirty="0"/>
              <a:t>CASE STATEMENTS (SQL SERVER)</a:t>
            </a:r>
            <a:endParaRPr lang="en-IN" b="1" dirty="0"/>
          </a:p>
        </p:txBody>
      </p:sp>
      <p:pic>
        <p:nvPicPr>
          <p:cNvPr id="8" name="Picture 7">
            <a:extLst>
              <a:ext uri="{FF2B5EF4-FFF2-40B4-BE49-F238E27FC236}">
                <a16:creationId xmlns:a16="http://schemas.microsoft.com/office/drawing/2014/main" id="{D50777CB-1090-D00D-B878-93A13C0EE5CB}"/>
              </a:ext>
            </a:extLst>
          </p:cNvPr>
          <p:cNvPicPr>
            <a:picLocks noChangeAspect="1"/>
          </p:cNvPicPr>
          <p:nvPr/>
        </p:nvPicPr>
        <p:blipFill>
          <a:blip r:embed="rId2"/>
          <a:stretch>
            <a:fillRect/>
          </a:stretch>
        </p:blipFill>
        <p:spPr>
          <a:xfrm>
            <a:off x="963798" y="2021304"/>
            <a:ext cx="8212287" cy="3642310"/>
          </a:xfrm>
          <a:prstGeom prst="rect">
            <a:avLst/>
          </a:prstGeom>
        </p:spPr>
      </p:pic>
    </p:spTree>
    <p:extLst>
      <p:ext uri="{BB962C8B-B14F-4D97-AF65-F5344CB8AC3E}">
        <p14:creationId xmlns:p14="http://schemas.microsoft.com/office/powerpoint/2010/main" val="1324743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E85C1-497E-9FA8-049C-408BAD864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2C9AEC-0EFE-7723-845B-10D243AC1172}"/>
              </a:ext>
            </a:extLst>
          </p:cNvPr>
          <p:cNvSpPr>
            <a:spLocks noGrp="1"/>
          </p:cNvSpPr>
          <p:nvPr>
            <p:ph type="title"/>
          </p:nvPr>
        </p:nvSpPr>
        <p:spPr>
          <a:xfrm>
            <a:off x="838200" y="873543"/>
            <a:ext cx="10515600" cy="696077"/>
          </a:xfrm>
        </p:spPr>
        <p:txBody>
          <a:bodyPr/>
          <a:lstStyle/>
          <a:p>
            <a:r>
              <a:rPr lang="en-US" b="1" dirty="0"/>
              <a:t>Example: </a:t>
            </a:r>
            <a:endParaRPr lang="en-IN" b="1" dirty="0"/>
          </a:p>
        </p:txBody>
      </p:sp>
      <p:pic>
        <p:nvPicPr>
          <p:cNvPr id="5" name="Picture 4">
            <a:extLst>
              <a:ext uri="{FF2B5EF4-FFF2-40B4-BE49-F238E27FC236}">
                <a16:creationId xmlns:a16="http://schemas.microsoft.com/office/drawing/2014/main" id="{BC48BC1A-49E8-1D32-E134-C8280A74C788}"/>
              </a:ext>
            </a:extLst>
          </p:cNvPr>
          <p:cNvPicPr>
            <a:picLocks noChangeAspect="1"/>
          </p:cNvPicPr>
          <p:nvPr/>
        </p:nvPicPr>
        <p:blipFill>
          <a:blip r:embed="rId2"/>
          <a:stretch>
            <a:fillRect/>
          </a:stretch>
        </p:blipFill>
        <p:spPr>
          <a:xfrm>
            <a:off x="589781" y="2103230"/>
            <a:ext cx="11012437" cy="3877216"/>
          </a:xfrm>
          <a:prstGeom prst="rect">
            <a:avLst/>
          </a:prstGeom>
        </p:spPr>
      </p:pic>
    </p:spTree>
    <p:extLst>
      <p:ext uri="{BB962C8B-B14F-4D97-AF65-F5344CB8AC3E}">
        <p14:creationId xmlns:p14="http://schemas.microsoft.com/office/powerpoint/2010/main" val="3400941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F92B2-8FC2-499F-FD1A-2ACEE2DBD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D6FBE-E03A-1908-FF0C-183744E2EA0A}"/>
              </a:ext>
            </a:extLst>
          </p:cNvPr>
          <p:cNvSpPr>
            <a:spLocks noGrp="1"/>
          </p:cNvSpPr>
          <p:nvPr>
            <p:ph type="title"/>
          </p:nvPr>
        </p:nvSpPr>
        <p:spPr>
          <a:xfrm>
            <a:off x="838200" y="873543"/>
            <a:ext cx="10515600" cy="696077"/>
          </a:xfrm>
        </p:spPr>
        <p:txBody>
          <a:bodyPr/>
          <a:lstStyle/>
          <a:p>
            <a:r>
              <a:rPr lang="en-US" b="1" dirty="0"/>
              <a:t>Practice Set: </a:t>
            </a:r>
            <a:endParaRPr lang="en-IN" b="1" dirty="0"/>
          </a:p>
        </p:txBody>
      </p:sp>
      <p:sp>
        <p:nvSpPr>
          <p:cNvPr id="7" name="TextBox 6">
            <a:extLst>
              <a:ext uri="{FF2B5EF4-FFF2-40B4-BE49-F238E27FC236}">
                <a16:creationId xmlns:a16="http://schemas.microsoft.com/office/drawing/2014/main" id="{379CA0B1-1C96-108B-509A-EC02E7208D75}"/>
              </a:ext>
            </a:extLst>
          </p:cNvPr>
          <p:cNvSpPr txBox="1"/>
          <p:nvPr/>
        </p:nvSpPr>
        <p:spPr>
          <a:xfrm>
            <a:off x="994610" y="1885271"/>
            <a:ext cx="3192379" cy="3416320"/>
          </a:xfrm>
          <a:prstGeom prst="rect">
            <a:avLst/>
          </a:prstGeom>
          <a:noFill/>
        </p:spPr>
        <p:txBody>
          <a:bodyPr wrap="square">
            <a:spAutoFit/>
          </a:bodyPr>
          <a:lstStyle/>
          <a:p>
            <a:r>
              <a:rPr lang="en-IN" dirty="0"/>
              <a:t>CREATE TABLE Department (</a:t>
            </a:r>
          </a:p>
          <a:p>
            <a:r>
              <a:rPr lang="en-IN" dirty="0"/>
              <a:t>    </a:t>
            </a:r>
            <a:r>
              <a:rPr lang="en-IN" dirty="0" err="1"/>
              <a:t>DeptID</a:t>
            </a:r>
            <a:r>
              <a:rPr lang="en-IN" dirty="0"/>
              <a:t> INT PRIMARY KEY,</a:t>
            </a:r>
          </a:p>
          <a:p>
            <a:r>
              <a:rPr lang="en-IN" dirty="0"/>
              <a:t>    </a:t>
            </a:r>
            <a:r>
              <a:rPr lang="en-IN" dirty="0" err="1"/>
              <a:t>DeptName</a:t>
            </a:r>
            <a:r>
              <a:rPr lang="en-IN" dirty="0"/>
              <a:t> VARCHAR(50)</a:t>
            </a:r>
          </a:p>
          <a:p>
            <a:r>
              <a:rPr lang="en-IN" dirty="0"/>
              <a:t>);</a:t>
            </a:r>
          </a:p>
          <a:p>
            <a:endParaRPr lang="en-IN" dirty="0"/>
          </a:p>
          <a:p>
            <a:r>
              <a:rPr lang="en-IN" dirty="0"/>
              <a:t>CREATE TABLE Employee (</a:t>
            </a:r>
          </a:p>
          <a:p>
            <a:r>
              <a:rPr lang="en-IN" dirty="0"/>
              <a:t>    </a:t>
            </a:r>
            <a:r>
              <a:rPr lang="en-IN" dirty="0" err="1"/>
              <a:t>EmpID</a:t>
            </a:r>
            <a:r>
              <a:rPr lang="en-IN" dirty="0"/>
              <a:t> INT PRIMARY KEY,</a:t>
            </a:r>
          </a:p>
          <a:p>
            <a:r>
              <a:rPr lang="en-IN" dirty="0"/>
              <a:t>    Name VARCHAR(50),</a:t>
            </a:r>
          </a:p>
          <a:p>
            <a:r>
              <a:rPr lang="en-IN" dirty="0"/>
              <a:t>    </a:t>
            </a:r>
            <a:r>
              <a:rPr lang="en-IN" dirty="0" err="1"/>
              <a:t>DeptID</a:t>
            </a:r>
            <a:r>
              <a:rPr lang="en-IN" dirty="0"/>
              <a:t> INT,</a:t>
            </a:r>
          </a:p>
          <a:p>
            <a:r>
              <a:rPr lang="en-IN" dirty="0"/>
              <a:t>    Salary INT,</a:t>
            </a:r>
          </a:p>
          <a:p>
            <a:r>
              <a:rPr lang="en-IN" dirty="0"/>
              <a:t>    Marks INT</a:t>
            </a:r>
          </a:p>
          <a:p>
            <a:r>
              <a:rPr lang="en-IN" dirty="0"/>
              <a:t>);</a:t>
            </a:r>
          </a:p>
        </p:txBody>
      </p:sp>
      <p:sp>
        <p:nvSpPr>
          <p:cNvPr id="9" name="TextBox 8">
            <a:extLst>
              <a:ext uri="{FF2B5EF4-FFF2-40B4-BE49-F238E27FC236}">
                <a16:creationId xmlns:a16="http://schemas.microsoft.com/office/drawing/2014/main" id="{6CBD72EB-80DE-FFAD-2E9E-146878574C80}"/>
              </a:ext>
            </a:extLst>
          </p:cNvPr>
          <p:cNvSpPr txBox="1"/>
          <p:nvPr/>
        </p:nvSpPr>
        <p:spPr>
          <a:xfrm>
            <a:off x="4604084" y="1885271"/>
            <a:ext cx="6096000" cy="2862322"/>
          </a:xfrm>
          <a:prstGeom prst="rect">
            <a:avLst/>
          </a:prstGeom>
          <a:noFill/>
        </p:spPr>
        <p:txBody>
          <a:bodyPr wrap="square">
            <a:spAutoFit/>
          </a:bodyPr>
          <a:lstStyle/>
          <a:p>
            <a:r>
              <a:rPr lang="en-IN" dirty="0"/>
              <a:t>INSERT INTO Department VALUES</a:t>
            </a:r>
          </a:p>
          <a:p>
            <a:r>
              <a:rPr lang="en-IN" dirty="0"/>
              <a:t>(1, 'IT'), (2, 'HR'), (3, 'Finance');</a:t>
            </a:r>
          </a:p>
          <a:p>
            <a:endParaRPr lang="en-IN" dirty="0"/>
          </a:p>
          <a:p>
            <a:r>
              <a:rPr lang="en-IN" dirty="0"/>
              <a:t>INSERT INTO Employee VALUES</a:t>
            </a:r>
          </a:p>
          <a:p>
            <a:r>
              <a:rPr lang="en-IN" dirty="0"/>
              <a:t>(1, 'John', 1, 12000, 88),</a:t>
            </a:r>
          </a:p>
          <a:p>
            <a:r>
              <a:rPr lang="en-IN" dirty="0"/>
              <a:t>(2, 'Alice', 2, 9000, 72),</a:t>
            </a:r>
          </a:p>
          <a:p>
            <a:r>
              <a:rPr lang="en-IN" dirty="0"/>
              <a:t>(3, 'Bob', 1, 6000, 55),</a:t>
            </a:r>
          </a:p>
          <a:p>
            <a:r>
              <a:rPr lang="en-IN" dirty="0"/>
              <a:t>(4, 'Sarah', 3, 15000, 95),</a:t>
            </a:r>
          </a:p>
          <a:p>
            <a:r>
              <a:rPr lang="en-IN" dirty="0"/>
              <a:t>(5, 'David', 2, 7000, 65),</a:t>
            </a:r>
          </a:p>
          <a:p>
            <a:r>
              <a:rPr lang="en-IN" dirty="0"/>
              <a:t>(6, 'Tom', 1, 8000, 45);</a:t>
            </a:r>
          </a:p>
        </p:txBody>
      </p:sp>
    </p:spTree>
    <p:extLst>
      <p:ext uri="{BB962C8B-B14F-4D97-AF65-F5344CB8AC3E}">
        <p14:creationId xmlns:p14="http://schemas.microsoft.com/office/powerpoint/2010/main" val="1956627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DEA42-F3CD-2904-2CAC-140003F5A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D95A4-CE26-B5AF-87B3-1CE420C08E96}"/>
              </a:ext>
            </a:extLst>
          </p:cNvPr>
          <p:cNvSpPr>
            <a:spLocks noGrp="1"/>
          </p:cNvSpPr>
          <p:nvPr>
            <p:ph type="title"/>
          </p:nvPr>
        </p:nvSpPr>
        <p:spPr>
          <a:xfrm>
            <a:off x="838200" y="873543"/>
            <a:ext cx="10515600" cy="696077"/>
          </a:xfrm>
        </p:spPr>
        <p:txBody>
          <a:bodyPr/>
          <a:lstStyle/>
          <a:p>
            <a:r>
              <a:rPr lang="en-US" b="1" dirty="0"/>
              <a:t>Practice Set: </a:t>
            </a:r>
            <a:endParaRPr lang="en-IN" b="1" dirty="0"/>
          </a:p>
        </p:txBody>
      </p:sp>
      <p:graphicFrame>
        <p:nvGraphicFramePr>
          <p:cNvPr id="4" name="Table 3">
            <a:extLst>
              <a:ext uri="{FF2B5EF4-FFF2-40B4-BE49-F238E27FC236}">
                <a16:creationId xmlns:a16="http://schemas.microsoft.com/office/drawing/2014/main" id="{50CB5A05-07F0-2B89-4782-C5C98F6B1D26}"/>
              </a:ext>
            </a:extLst>
          </p:cNvPr>
          <p:cNvGraphicFramePr>
            <a:graphicFrameLocks noGrp="1"/>
          </p:cNvGraphicFramePr>
          <p:nvPr>
            <p:extLst>
              <p:ext uri="{D42A27DB-BD31-4B8C-83A1-F6EECF244321}">
                <p14:modId xmlns:p14="http://schemas.microsoft.com/office/powerpoint/2010/main" val="2611983333"/>
              </p:ext>
            </p:extLst>
          </p:nvPr>
        </p:nvGraphicFramePr>
        <p:xfrm>
          <a:off x="1197810" y="1922824"/>
          <a:ext cx="10515599" cy="3759200"/>
        </p:xfrm>
        <a:graphic>
          <a:graphicData uri="http://schemas.openxmlformats.org/drawingml/2006/table">
            <a:tbl>
              <a:tblPr firstRow="1" bandRow="1">
                <a:tableStyleId>{5C22544A-7EE6-4342-B048-85BDC9FD1C3A}</a:tableStyleId>
              </a:tblPr>
              <a:tblGrid>
                <a:gridCol w="1044641">
                  <a:extLst>
                    <a:ext uri="{9D8B030D-6E8A-4147-A177-3AD203B41FA5}">
                      <a16:colId xmlns:a16="http://schemas.microsoft.com/office/drawing/2014/main" val="1560590589"/>
                    </a:ext>
                  </a:extLst>
                </a:gridCol>
                <a:gridCol w="9470958">
                  <a:extLst>
                    <a:ext uri="{9D8B030D-6E8A-4147-A177-3AD203B41FA5}">
                      <a16:colId xmlns:a16="http://schemas.microsoft.com/office/drawing/2014/main" val="432771360"/>
                    </a:ext>
                  </a:extLst>
                </a:gridCol>
              </a:tblGrid>
              <a:tr h="370840">
                <a:tc>
                  <a:txBody>
                    <a:bodyPr/>
                    <a:lstStyle/>
                    <a:p>
                      <a:r>
                        <a:rPr lang="en-US" dirty="0"/>
                        <a:t>Sno</a:t>
                      </a:r>
                      <a:endParaRPr lang="en-IN" dirty="0"/>
                    </a:p>
                  </a:txBody>
                  <a:tcPr/>
                </a:tc>
                <a:tc>
                  <a:txBody>
                    <a:bodyPr/>
                    <a:lstStyle/>
                    <a:p>
                      <a:r>
                        <a:rPr lang="en-US" dirty="0"/>
                        <a:t>Problem Statement</a:t>
                      </a:r>
                      <a:endParaRPr lang="en-IN" dirty="0"/>
                    </a:p>
                  </a:txBody>
                  <a:tcPr/>
                </a:tc>
                <a:extLst>
                  <a:ext uri="{0D108BD9-81ED-4DB2-BD59-A6C34878D82A}">
                    <a16:rowId xmlns:a16="http://schemas.microsoft.com/office/drawing/2014/main" val="713624511"/>
                  </a:ext>
                </a:extLst>
              </a:tr>
              <a:tr h="370840">
                <a:tc>
                  <a:txBody>
                    <a:bodyPr/>
                    <a:lstStyle/>
                    <a:p>
                      <a:r>
                        <a:rPr lang="en-US" dirty="0"/>
                        <a:t>1</a:t>
                      </a:r>
                      <a:endParaRPr lang="en-IN" dirty="0"/>
                    </a:p>
                  </a:txBody>
                  <a:tcPr/>
                </a:tc>
                <a:tc>
                  <a:txBody>
                    <a:bodyPr/>
                    <a:lstStyle/>
                    <a:p>
                      <a:r>
                        <a:rPr lang="en-US" dirty="0"/>
                        <a:t>Write an IF-ELSE block to check if the average salary of all the employees is greater than 1000. (SQL SERVER + POSTGRES)</a:t>
                      </a:r>
                    </a:p>
                    <a:p>
                      <a:r>
                        <a:rPr lang="en-US" dirty="0"/>
                        <a:t>If yes, print ‘Highest Salary Company’, else ‘Average Salary Company’</a:t>
                      </a:r>
                    </a:p>
                    <a:p>
                      <a:endParaRPr lang="en-IN" dirty="0"/>
                    </a:p>
                  </a:txBody>
                  <a:tcPr/>
                </a:tc>
                <a:extLst>
                  <a:ext uri="{0D108BD9-81ED-4DB2-BD59-A6C34878D82A}">
                    <a16:rowId xmlns:a16="http://schemas.microsoft.com/office/drawing/2014/main" val="2305115069"/>
                  </a:ext>
                </a:extLst>
              </a:tr>
              <a:tr h="370840">
                <a:tc>
                  <a:txBody>
                    <a:bodyPr/>
                    <a:lstStyle/>
                    <a:p>
                      <a:r>
                        <a:rPr lang="en-US" dirty="0"/>
                        <a:t>2</a:t>
                      </a:r>
                      <a:endParaRPr lang="en-IN" dirty="0"/>
                    </a:p>
                  </a:txBody>
                  <a:tcPr/>
                </a:tc>
                <a:tc>
                  <a:txBody>
                    <a:bodyPr/>
                    <a:lstStyle/>
                    <a:p>
                      <a:r>
                        <a:rPr lang="en-US" dirty="0"/>
                        <a:t>Use IF-ELSE Ladder to classify marks of a given employee (second class =&gt; 50/ first class &gt;= 70/ distinction &gt; 85)</a:t>
                      </a:r>
                      <a:endParaRPr lang="en-IN" dirty="0"/>
                    </a:p>
                  </a:txBody>
                  <a:tcPr/>
                </a:tc>
                <a:extLst>
                  <a:ext uri="{0D108BD9-81ED-4DB2-BD59-A6C34878D82A}">
                    <a16:rowId xmlns:a16="http://schemas.microsoft.com/office/drawing/2014/main" val="1169291945"/>
                  </a:ext>
                </a:extLst>
              </a:tr>
              <a:tr h="370840">
                <a:tc>
                  <a:txBody>
                    <a:bodyPr/>
                    <a:lstStyle/>
                    <a:p>
                      <a:r>
                        <a:rPr lang="en-US" dirty="0"/>
                        <a:t>3</a:t>
                      </a:r>
                      <a:endParaRPr lang="en-IN" dirty="0"/>
                    </a:p>
                  </a:txBody>
                  <a:tcPr/>
                </a:tc>
                <a:tc>
                  <a:txBody>
                    <a:bodyPr/>
                    <a:lstStyle/>
                    <a:p>
                      <a:r>
                        <a:rPr lang="en-US" dirty="0"/>
                        <a:t>Write a query to classify employees based on salary using CASE statements:</a:t>
                      </a:r>
                    </a:p>
                    <a:p>
                      <a:r>
                        <a:rPr lang="en-IN" dirty="0"/>
                        <a:t>            1. &gt;=12000 – Platinum</a:t>
                      </a:r>
                    </a:p>
                    <a:p>
                      <a:r>
                        <a:rPr lang="en-IN" dirty="0"/>
                        <a:t>            2. 8000 – 11999 – Gold</a:t>
                      </a:r>
                    </a:p>
                    <a:p>
                      <a:r>
                        <a:rPr lang="en-IN" dirty="0"/>
                        <a:t>            3. Else Silver</a:t>
                      </a:r>
                    </a:p>
                  </a:txBody>
                  <a:tcPr/>
                </a:tc>
                <a:extLst>
                  <a:ext uri="{0D108BD9-81ED-4DB2-BD59-A6C34878D82A}">
                    <a16:rowId xmlns:a16="http://schemas.microsoft.com/office/drawing/2014/main" val="2001372688"/>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304651087"/>
                  </a:ext>
                </a:extLst>
              </a:tr>
            </a:tbl>
          </a:graphicData>
        </a:graphic>
      </p:graphicFrame>
    </p:spTree>
    <p:extLst>
      <p:ext uri="{BB962C8B-B14F-4D97-AF65-F5344CB8AC3E}">
        <p14:creationId xmlns:p14="http://schemas.microsoft.com/office/powerpoint/2010/main" val="2194753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75"/>
          <p:cNvSpPr txBox="1">
            <a:spLocks noGrp="1"/>
          </p:cNvSpPr>
          <p:nvPr>
            <p:ph type="title"/>
          </p:nvPr>
        </p:nvSpPr>
        <p:spPr>
          <a:xfrm>
            <a:off x="838200" y="365126"/>
            <a:ext cx="10515600" cy="94609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400"/>
              <a:buFont typeface="Times New Roman"/>
              <a:buNone/>
            </a:pPr>
            <a:r>
              <a:rPr lang="en-US" sz="3400" b="1">
                <a:latin typeface="Times New Roman"/>
                <a:ea typeface="Times New Roman"/>
                <a:cs typeface="Times New Roman"/>
                <a:sym typeface="Times New Roman"/>
              </a:rPr>
              <a:t>Functional Dependency</a:t>
            </a:r>
            <a:endParaRPr sz="3400" b="1">
              <a:latin typeface="Times New Roman"/>
              <a:ea typeface="Times New Roman"/>
              <a:cs typeface="Times New Roman"/>
              <a:sym typeface="Times New Roman"/>
            </a:endParaRPr>
          </a:p>
        </p:txBody>
      </p:sp>
      <p:pic>
        <p:nvPicPr>
          <p:cNvPr id="703" name="Google Shape;703;p75"/>
          <p:cNvPicPr preferRelativeResize="0"/>
          <p:nvPr/>
        </p:nvPicPr>
        <p:blipFill rotWithShape="1">
          <a:blip r:embed="rId3">
            <a:alphaModFix/>
          </a:blip>
          <a:srcRect/>
          <a:stretch/>
        </p:blipFill>
        <p:spPr>
          <a:xfrm>
            <a:off x="3594502" y="1311217"/>
            <a:ext cx="4105848" cy="1147312"/>
          </a:xfrm>
          <a:prstGeom prst="rect">
            <a:avLst/>
          </a:prstGeom>
          <a:noFill/>
          <a:ln>
            <a:noFill/>
          </a:ln>
        </p:spPr>
      </p:pic>
      <p:sp>
        <p:nvSpPr>
          <p:cNvPr id="704" name="Google Shape;704;p75"/>
          <p:cNvSpPr txBox="1"/>
          <p:nvPr/>
        </p:nvSpPr>
        <p:spPr>
          <a:xfrm>
            <a:off x="2277374" y="2458529"/>
            <a:ext cx="74014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dirty="0">
                <a:solidFill>
                  <a:schemeClr val="dk1"/>
                </a:solidFill>
                <a:latin typeface="Calibri"/>
                <a:ea typeface="Calibri"/>
                <a:cs typeface="Calibri"/>
                <a:sym typeface="Calibri"/>
              </a:rPr>
              <a:t>If we know the value of </a:t>
            </a:r>
            <a:r>
              <a:rPr lang="en-US" sz="1800" b="1" i="0" dirty="0">
                <a:solidFill>
                  <a:srgbClr val="202124"/>
                </a:solidFill>
                <a:highlight>
                  <a:srgbClr val="FFFFFF"/>
                </a:highlight>
                <a:latin typeface="Arial"/>
                <a:ea typeface="Arial"/>
                <a:cs typeface="Arial"/>
                <a:sym typeface="Arial"/>
              </a:rPr>
              <a:t>α</a:t>
            </a:r>
            <a:r>
              <a:rPr lang="en-US" sz="1800" i="1" dirty="0">
                <a:solidFill>
                  <a:schemeClr val="dk1"/>
                </a:solidFill>
                <a:latin typeface="Calibri"/>
                <a:ea typeface="Calibri"/>
                <a:cs typeface="Calibri"/>
                <a:sym typeface="Calibri"/>
              </a:rPr>
              <a:t>, we can get the value of </a:t>
            </a:r>
            <a:r>
              <a:rPr lang="en-US" sz="1800" b="1" i="0" dirty="0">
                <a:solidFill>
                  <a:srgbClr val="202124"/>
                </a:solidFill>
                <a:highlight>
                  <a:srgbClr val="FFFFFF"/>
                </a:highlight>
                <a:latin typeface="Arial"/>
                <a:ea typeface="Arial"/>
                <a:cs typeface="Arial"/>
                <a:sym typeface="Arial"/>
              </a:rPr>
              <a:t>β</a:t>
            </a:r>
            <a:r>
              <a:rPr lang="en-US" sz="1800" i="1" dirty="0">
                <a:solidFill>
                  <a:schemeClr val="dk1"/>
                </a:solidFill>
                <a:latin typeface="Calibri"/>
                <a:ea typeface="Calibri"/>
                <a:cs typeface="Calibri"/>
                <a:sym typeface="Calibri"/>
              </a:rPr>
              <a:t> from the relation.</a:t>
            </a:r>
            <a:endParaRPr sz="1800" i="1" dirty="0">
              <a:solidFill>
                <a:schemeClr val="dk1"/>
              </a:solidFill>
              <a:latin typeface="Calibri"/>
              <a:ea typeface="Calibri"/>
              <a:cs typeface="Calibri"/>
              <a:sym typeface="Calibri"/>
            </a:endParaRPr>
          </a:p>
        </p:txBody>
      </p:sp>
      <p:graphicFrame>
        <p:nvGraphicFramePr>
          <p:cNvPr id="705" name="Google Shape;705;p75"/>
          <p:cNvGraphicFramePr/>
          <p:nvPr/>
        </p:nvGraphicFramePr>
        <p:xfrm>
          <a:off x="1242200" y="3752491"/>
          <a:ext cx="1578650" cy="1849170"/>
        </p:xfrm>
        <a:graphic>
          <a:graphicData uri="http://schemas.openxmlformats.org/drawingml/2006/table">
            <a:tbl>
              <a:tblPr firstRow="1" bandRow="1">
                <a:noFill/>
              </a:tblPr>
              <a:tblGrid>
                <a:gridCol w="789325">
                  <a:extLst>
                    <a:ext uri="{9D8B030D-6E8A-4147-A177-3AD203B41FA5}">
                      <a16:colId xmlns:a16="http://schemas.microsoft.com/office/drawing/2014/main" val="20000"/>
                    </a:ext>
                  </a:extLst>
                </a:gridCol>
                <a:gridCol w="789325">
                  <a:extLst>
                    <a:ext uri="{9D8B030D-6E8A-4147-A177-3AD203B41FA5}">
                      <a16:colId xmlns:a16="http://schemas.microsoft.com/office/drawing/2014/main" val="20001"/>
                    </a:ext>
                  </a:extLst>
                </a:gridCol>
              </a:tblGrid>
              <a:tr h="228600">
                <a:tc>
                  <a:txBody>
                    <a:bodyPr/>
                    <a:lstStyle/>
                    <a:p>
                      <a:pPr marL="0" marR="0" lvl="0" indent="0" algn="l" rtl="0">
                        <a:spcBef>
                          <a:spcPts val="0"/>
                        </a:spcBef>
                        <a:spcAft>
                          <a:spcPts val="0"/>
                        </a:spcAft>
                        <a:buNone/>
                      </a:pPr>
                      <a:r>
                        <a:rPr lang="en-US" sz="1800" b="1" i="0">
                          <a:solidFill>
                            <a:schemeClr val="lt1"/>
                          </a:solidFill>
                          <a:latin typeface="Calibri"/>
                          <a:ea typeface="Calibri"/>
                          <a:cs typeface="Calibri"/>
                          <a:sym typeface="Calibri"/>
                        </a:rPr>
                        <a:t>α</a:t>
                      </a:r>
                      <a:endParaRPr sz="1800"/>
                    </a:p>
                  </a:txBody>
                  <a:tcPr marL="91450" marR="91450" marT="45725" marB="45725"/>
                </a:tc>
                <a:tc>
                  <a:txBody>
                    <a:bodyPr/>
                    <a:lstStyle/>
                    <a:p>
                      <a:pPr marL="0" marR="0" lvl="0" indent="0" algn="l" rtl="0">
                        <a:spcBef>
                          <a:spcPts val="0"/>
                        </a:spcBef>
                        <a:spcAft>
                          <a:spcPts val="0"/>
                        </a:spcAft>
                        <a:buNone/>
                      </a:pPr>
                      <a:r>
                        <a:rPr lang="en-US" sz="1800" b="1" i="0">
                          <a:solidFill>
                            <a:schemeClr val="lt1"/>
                          </a:solidFill>
                          <a:latin typeface="Calibri"/>
                          <a:ea typeface="Calibri"/>
                          <a:cs typeface="Calibri"/>
                          <a:sym typeface="Calibri"/>
                        </a:rPr>
                        <a:t>β</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dirty="0"/>
                        <a:t>a</a:t>
                      </a:r>
                      <a:endParaRPr sz="1800" dirty="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dirty="0"/>
                        <a:t>4</a:t>
                      </a:r>
                      <a:endParaRPr sz="1800" dirty="0"/>
                    </a:p>
                  </a:txBody>
                  <a:tcPr marL="91450" marR="91450" marT="45725" marB="45725"/>
                </a:tc>
                <a:extLst>
                  <a:ext uri="{0D108BD9-81ED-4DB2-BD59-A6C34878D82A}">
                    <a16:rowId xmlns:a16="http://schemas.microsoft.com/office/drawing/2014/main" val="10004"/>
                  </a:ext>
                </a:extLst>
              </a:tr>
            </a:tbl>
          </a:graphicData>
        </a:graphic>
      </p:graphicFrame>
      <p:sp>
        <p:nvSpPr>
          <p:cNvPr id="706" name="Google Shape;706;p75"/>
          <p:cNvSpPr txBox="1"/>
          <p:nvPr/>
        </p:nvSpPr>
        <p:spPr>
          <a:xfrm>
            <a:off x="3295291" y="3752491"/>
            <a:ext cx="1837426"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For each value of </a:t>
            </a:r>
            <a:r>
              <a:rPr lang="en-US" sz="1800" b="1" i="0">
                <a:solidFill>
                  <a:srgbClr val="202124"/>
                </a:solidFill>
                <a:highlight>
                  <a:srgbClr val="FFFFFF"/>
                </a:highlight>
                <a:latin typeface="Arial"/>
                <a:ea typeface="Arial"/>
                <a:cs typeface="Arial"/>
                <a:sym typeface="Arial"/>
              </a:rPr>
              <a:t>α </a:t>
            </a:r>
            <a:r>
              <a:rPr lang="en-US" sz="1800" i="0">
                <a:solidFill>
                  <a:srgbClr val="202124"/>
                </a:solidFill>
                <a:highlight>
                  <a:srgbClr val="FFFFFF"/>
                </a:highlight>
                <a:latin typeface="Arial"/>
                <a:ea typeface="Arial"/>
                <a:cs typeface="Arial"/>
                <a:sym typeface="Arial"/>
              </a:rPr>
              <a:t>we should hav</a:t>
            </a:r>
            <a:r>
              <a:rPr lang="en-US" sz="1800">
                <a:solidFill>
                  <a:srgbClr val="202124"/>
                </a:solidFill>
                <a:highlight>
                  <a:srgbClr val="FFFFFF"/>
                </a:highlight>
                <a:latin typeface="Arial"/>
                <a:ea typeface="Arial"/>
                <a:cs typeface="Arial"/>
                <a:sym typeface="Arial"/>
              </a:rPr>
              <a:t>e same value of</a:t>
            </a:r>
            <a:r>
              <a:rPr lang="en-US" sz="1800" i="0">
                <a:solidFill>
                  <a:srgbClr val="202124"/>
                </a:solidFill>
                <a:highlight>
                  <a:srgbClr val="FFFFFF"/>
                </a:highlight>
                <a:latin typeface="Arial"/>
                <a:ea typeface="Arial"/>
                <a:cs typeface="Arial"/>
                <a:sym typeface="Arial"/>
              </a:rPr>
              <a:t> </a:t>
            </a:r>
            <a:r>
              <a:rPr lang="en-US" sz="1800" b="1" i="0">
                <a:solidFill>
                  <a:srgbClr val="202124"/>
                </a:solidFill>
                <a:highlight>
                  <a:srgbClr val="FFFFFF"/>
                </a:highlight>
                <a:latin typeface="Arial"/>
                <a:ea typeface="Arial"/>
                <a:cs typeface="Arial"/>
                <a:sym typeface="Arial"/>
              </a:rPr>
              <a:t>β.</a:t>
            </a:r>
            <a:endParaRPr sz="1800" b="1" i="0">
              <a:solidFill>
                <a:srgbClr val="202124"/>
              </a:solidFill>
              <a:highlight>
                <a:srgbClr val="FFFFFF"/>
              </a:highlight>
              <a:latin typeface="Arial"/>
              <a:ea typeface="Arial"/>
              <a:cs typeface="Arial"/>
              <a:sym typeface="Arial"/>
            </a:endParaRPr>
          </a:p>
        </p:txBody>
      </p:sp>
      <p:graphicFrame>
        <p:nvGraphicFramePr>
          <p:cNvPr id="707" name="Google Shape;707;p75"/>
          <p:cNvGraphicFramePr/>
          <p:nvPr/>
        </p:nvGraphicFramePr>
        <p:xfrm>
          <a:off x="6717098" y="3726612"/>
          <a:ext cx="1578650" cy="1849170"/>
        </p:xfrm>
        <a:graphic>
          <a:graphicData uri="http://schemas.openxmlformats.org/drawingml/2006/table">
            <a:tbl>
              <a:tblPr firstRow="1" bandRow="1">
                <a:noFill/>
              </a:tblPr>
              <a:tblGrid>
                <a:gridCol w="789325">
                  <a:extLst>
                    <a:ext uri="{9D8B030D-6E8A-4147-A177-3AD203B41FA5}">
                      <a16:colId xmlns:a16="http://schemas.microsoft.com/office/drawing/2014/main" val="20000"/>
                    </a:ext>
                  </a:extLst>
                </a:gridCol>
                <a:gridCol w="789325">
                  <a:extLst>
                    <a:ext uri="{9D8B030D-6E8A-4147-A177-3AD203B41FA5}">
                      <a16:colId xmlns:a16="http://schemas.microsoft.com/office/drawing/2014/main" val="20001"/>
                    </a:ext>
                  </a:extLst>
                </a:gridCol>
              </a:tblGrid>
              <a:tr h="228600">
                <a:tc>
                  <a:txBody>
                    <a:bodyPr/>
                    <a:lstStyle/>
                    <a:p>
                      <a:pPr marL="0" marR="0" lvl="0" indent="0" algn="l" rtl="0">
                        <a:spcBef>
                          <a:spcPts val="0"/>
                        </a:spcBef>
                        <a:spcAft>
                          <a:spcPts val="0"/>
                        </a:spcAft>
                        <a:buNone/>
                      </a:pPr>
                      <a:r>
                        <a:rPr lang="en-US" sz="1800" b="1" i="0">
                          <a:solidFill>
                            <a:schemeClr val="lt1"/>
                          </a:solidFill>
                          <a:latin typeface="Calibri"/>
                          <a:ea typeface="Calibri"/>
                          <a:cs typeface="Calibri"/>
                          <a:sym typeface="Calibri"/>
                        </a:rPr>
                        <a:t>α</a:t>
                      </a:r>
                      <a:endParaRPr sz="1800"/>
                    </a:p>
                  </a:txBody>
                  <a:tcPr marL="91450" marR="91450" marT="45725" marB="45725"/>
                </a:tc>
                <a:tc>
                  <a:txBody>
                    <a:bodyPr/>
                    <a:lstStyle/>
                    <a:p>
                      <a:pPr marL="0" marR="0" lvl="0" indent="0" algn="l" rtl="0">
                        <a:spcBef>
                          <a:spcPts val="0"/>
                        </a:spcBef>
                        <a:spcAft>
                          <a:spcPts val="0"/>
                        </a:spcAft>
                        <a:buNone/>
                      </a:pPr>
                      <a:r>
                        <a:rPr lang="en-US" sz="1800" b="1" i="0">
                          <a:solidFill>
                            <a:schemeClr val="lt1"/>
                          </a:solidFill>
                          <a:latin typeface="Calibri"/>
                          <a:ea typeface="Calibri"/>
                          <a:cs typeface="Calibri"/>
                          <a:sym typeface="Calibri"/>
                        </a:rPr>
                        <a:t>β</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extLst>
                  <a:ext uri="{0D108BD9-81ED-4DB2-BD59-A6C34878D82A}">
                    <a16:rowId xmlns:a16="http://schemas.microsoft.com/office/drawing/2014/main" val="10004"/>
                  </a:ext>
                </a:extLst>
              </a:tr>
            </a:tbl>
          </a:graphicData>
        </a:graphic>
      </p:graphicFrame>
      <p:sp>
        <p:nvSpPr>
          <p:cNvPr id="708" name="Google Shape;708;p75"/>
          <p:cNvSpPr/>
          <p:nvPr/>
        </p:nvSpPr>
        <p:spPr>
          <a:xfrm>
            <a:off x="6504317" y="4088921"/>
            <a:ext cx="1923691" cy="715992"/>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latin typeface="Calibri"/>
              <a:ea typeface="Calibri"/>
              <a:cs typeface="Calibri"/>
              <a:sym typeface="Calibri"/>
            </a:endParaRPr>
          </a:p>
        </p:txBody>
      </p:sp>
      <p:sp>
        <p:nvSpPr>
          <p:cNvPr id="709" name="Google Shape;709;p75"/>
          <p:cNvSpPr txBox="1"/>
          <p:nvPr/>
        </p:nvSpPr>
        <p:spPr>
          <a:xfrm>
            <a:off x="9028977" y="3880283"/>
            <a:ext cx="1837426"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Here in this case, on same value of </a:t>
            </a:r>
            <a:r>
              <a:rPr lang="en-US" sz="1800" b="1" i="0">
                <a:solidFill>
                  <a:srgbClr val="202124"/>
                </a:solidFill>
                <a:highlight>
                  <a:srgbClr val="FFFFFF"/>
                </a:highlight>
                <a:latin typeface="Arial"/>
                <a:ea typeface="Arial"/>
                <a:cs typeface="Arial"/>
                <a:sym typeface="Arial"/>
              </a:rPr>
              <a:t>α </a:t>
            </a:r>
            <a:r>
              <a:rPr lang="en-US" sz="1800" i="0">
                <a:solidFill>
                  <a:srgbClr val="202124"/>
                </a:solidFill>
                <a:highlight>
                  <a:srgbClr val="FFFFFF"/>
                </a:highlight>
                <a:latin typeface="Arial"/>
                <a:ea typeface="Arial"/>
                <a:cs typeface="Arial"/>
                <a:sym typeface="Arial"/>
              </a:rPr>
              <a:t>we have different value of </a:t>
            </a:r>
            <a:r>
              <a:rPr lang="en-US" sz="1800" b="1" i="0">
                <a:solidFill>
                  <a:srgbClr val="202124"/>
                </a:solidFill>
                <a:highlight>
                  <a:srgbClr val="FFFFFF"/>
                </a:highlight>
                <a:latin typeface="Arial"/>
                <a:ea typeface="Arial"/>
                <a:cs typeface="Arial"/>
                <a:sym typeface="Arial"/>
              </a:rPr>
              <a:t>β.</a:t>
            </a:r>
            <a:r>
              <a:rPr lang="en-US" sz="1800" i="0">
                <a:solidFill>
                  <a:srgbClr val="202124"/>
                </a:solidFill>
                <a:highlight>
                  <a:srgbClr val="FFFFFF"/>
                </a:highlight>
                <a:latin typeface="Arial"/>
                <a:ea typeface="Arial"/>
                <a:cs typeface="Arial"/>
                <a:sym typeface="Arial"/>
              </a:rPr>
              <a:t> </a:t>
            </a: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710" name="Google Shape;710;p75"/>
          <p:cNvSpPr/>
          <p:nvPr/>
        </p:nvSpPr>
        <p:spPr>
          <a:xfrm>
            <a:off x="7384211" y="5785614"/>
            <a:ext cx="398251" cy="560717"/>
          </a:xfrm>
          <a:prstGeom prst="mathMultiply">
            <a:avLst>
              <a:gd name="adj1" fmla="val 23520"/>
            </a:avLst>
          </a:prstGeom>
          <a:solidFill>
            <a:srgbClr val="FF000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1" name="Google Shape;711;p75"/>
          <p:cNvSpPr/>
          <p:nvPr/>
        </p:nvSpPr>
        <p:spPr>
          <a:xfrm rot="-2839573">
            <a:off x="1810133" y="5934030"/>
            <a:ext cx="577126" cy="218793"/>
          </a:xfrm>
          <a:prstGeom prst="corner">
            <a:avLst>
              <a:gd name="adj1" fmla="val 50000"/>
              <a:gd name="adj2" fmla="val 50000"/>
            </a:avLst>
          </a:prstGeom>
          <a:solidFill>
            <a:schemeClr val="accent6"/>
          </a:solidFill>
          <a:ln w="1270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2" name="Google Shape;712;p75"/>
          <p:cNvSpPr txBox="1"/>
          <p:nvPr/>
        </p:nvSpPr>
        <p:spPr>
          <a:xfrm>
            <a:off x="405442" y="4149306"/>
            <a:ext cx="6714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t1 -&gt;</a:t>
            </a:r>
            <a:endParaRPr sz="1800">
              <a:solidFill>
                <a:schemeClr val="dk1"/>
              </a:solidFill>
              <a:latin typeface="Calibri"/>
              <a:ea typeface="Calibri"/>
              <a:cs typeface="Calibri"/>
              <a:sym typeface="Calibri"/>
            </a:endParaRPr>
          </a:p>
        </p:txBody>
      </p:sp>
      <p:sp>
        <p:nvSpPr>
          <p:cNvPr id="713" name="Google Shape;713;p75"/>
          <p:cNvSpPr txBox="1"/>
          <p:nvPr/>
        </p:nvSpPr>
        <p:spPr>
          <a:xfrm>
            <a:off x="405442" y="4466506"/>
            <a:ext cx="6714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t2 -&gt;</a:t>
            </a:r>
            <a:endParaRPr sz="1800">
              <a:solidFill>
                <a:schemeClr val="dk1"/>
              </a:solidFill>
              <a:latin typeface="Calibri"/>
              <a:ea typeface="Calibri"/>
              <a:cs typeface="Calibri"/>
              <a:sym typeface="Calibri"/>
            </a:endParaRPr>
          </a:p>
        </p:txBody>
      </p:sp>
      <p:sp>
        <p:nvSpPr>
          <p:cNvPr id="714" name="Google Shape;714;p75"/>
          <p:cNvSpPr txBox="1"/>
          <p:nvPr/>
        </p:nvSpPr>
        <p:spPr>
          <a:xfrm>
            <a:off x="405442" y="5244720"/>
            <a:ext cx="6714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tn -&gt;</a:t>
            </a:r>
            <a:endParaRPr sz="1800">
              <a:solidFill>
                <a:schemeClr val="dk1"/>
              </a:solidFill>
              <a:latin typeface="Calibri"/>
              <a:ea typeface="Calibri"/>
              <a:cs typeface="Calibri"/>
              <a:sym typeface="Calibri"/>
            </a:endParaRPr>
          </a:p>
        </p:txBody>
      </p:sp>
      <p:sp>
        <p:nvSpPr>
          <p:cNvPr id="715" name="Google Shape;715;p75"/>
          <p:cNvSpPr txBox="1"/>
          <p:nvPr/>
        </p:nvSpPr>
        <p:spPr>
          <a:xfrm>
            <a:off x="3295291" y="4946618"/>
            <a:ext cx="1837426"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t1[</a:t>
            </a:r>
            <a:r>
              <a:rPr lang="en-US" sz="1800" b="1" i="0">
                <a:solidFill>
                  <a:srgbClr val="202124"/>
                </a:solidFill>
                <a:highlight>
                  <a:srgbClr val="FFFFFF"/>
                </a:highlight>
                <a:latin typeface="Arial"/>
                <a:ea typeface="Arial"/>
                <a:cs typeface="Arial"/>
                <a:sym typeface="Arial"/>
              </a:rPr>
              <a:t>α</a:t>
            </a:r>
            <a:r>
              <a:rPr lang="en-US" sz="1800">
                <a:solidFill>
                  <a:schemeClr val="dk1"/>
                </a:solidFill>
                <a:latin typeface="Calibri"/>
                <a:ea typeface="Calibri"/>
                <a:cs typeface="Calibri"/>
                <a:sym typeface="Calibri"/>
              </a:rPr>
              <a:t>] = t2[</a:t>
            </a:r>
            <a:r>
              <a:rPr lang="en-US" sz="1800" b="1" i="0">
                <a:solidFill>
                  <a:srgbClr val="202124"/>
                </a:solidFill>
                <a:highlight>
                  <a:srgbClr val="FFFFFF"/>
                </a:highlight>
                <a:latin typeface="Arial"/>
                <a:ea typeface="Arial"/>
                <a:cs typeface="Arial"/>
                <a:sym typeface="Arial"/>
              </a:rPr>
              <a:t>α</a:t>
            </a:r>
            <a:r>
              <a:rPr lang="en-US" sz="1800">
                <a:solidFill>
                  <a:schemeClr val="dk1"/>
                </a:solidFill>
                <a:latin typeface="Calibri"/>
                <a:ea typeface="Calibri"/>
                <a:cs typeface="Calibri"/>
                <a:sym typeface="Calibri"/>
              </a:rPr>
              <a: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then</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t1[</a:t>
            </a:r>
            <a:r>
              <a:rPr lang="en-US" sz="1800" b="1" i="0">
                <a:solidFill>
                  <a:srgbClr val="202124"/>
                </a:solidFill>
                <a:highlight>
                  <a:srgbClr val="FFFFFF"/>
                </a:highlight>
                <a:latin typeface="Arial"/>
                <a:ea typeface="Arial"/>
                <a:cs typeface="Arial"/>
                <a:sym typeface="Arial"/>
              </a:rPr>
              <a:t>β</a:t>
            </a:r>
            <a:r>
              <a:rPr lang="en-US" sz="1800">
                <a:solidFill>
                  <a:schemeClr val="dk1"/>
                </a:solidFill>
                <a:latin typeface="Calibri"/>
                <a:ea typeface="Calibri"/>
                <a:cs typeface="Calibri"/>
                <a:sym typeface="Calibri"/>
              </a:rPr>
              <a:t>] = t2[</a:t>
            </a:r>
            <a:r>
              <a:rPr lang="en-US" sz="1800" b="1" i="0">
                <a:solidFill>
                  <a:srgbClr val="202124"/>
                </a:solidFill>
                <a:highlight>
                  <a:srgbClr val="FFFFFF"/>
                </a:highlight>
                <a:latin typeface="Arial"/>
                <a:ea typeface="Arial"/>
                <a:cs typeface="Arial"/>
                <a:sym typeface="Arial"/>
              </a:rPr>
              <a:t>β</a:t>
            </a: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rgbClr val="202124"/>
                </a:solidFill>
                <a:highlight>
                  <a:srgbClr val="FFFFFF"/>
                </a:highlight>
                <a:latin typeface="Arial"/>
                <a:ea typeface="Arial"/>
                <a:cs typeface="Arial"/>
                <a:sym typeface="Arial"/>
              </a:rPr>
              <a:t>s</a:t>
            </a:r>
            <a:r>
              <a:rPr lang="en-US" sz="1800" i="0">
                <a:solidFill>
                  <a:srgbClr val="202124"/>
                </a:solidFill>
                <a:highlight>
                  <a:srgbClr val="FFFFFF"/>
                </a:highlight>
                <a:latin typeface="Arial"/>
                <a:ea typeface="Arial"/>
                <a:cs typeface="Arial"/>
                <a:sym typeface="Arial"/>
              </a:rPr>
              <a:t>hould be equal</a:t>
            </a:r>
            <a:endParaRPr sz="1800" i="0">
              <a:solidFill>
                <a:srgbClr val="202124"/>
              </a:solidFill>
              <a:highlight>
                <a:srgbClr val="FFFFFF"/>
              </a:highlight>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Practice Q/A</a:t>
            </a:r>
            <a:endParaRPr sz="3600" b="1">
              <a:latin typeface="Times New Roman"/>
              <a:ea typeface="Times New Roman"/>
              <a:cs typeface="Times New Roman"/>
              <a:sym typeface="Times New Roman"/>
            </a:endParaRPr>
          </a:p>
        </p:txBody>
      </p:sp>
      <p:graphicFrame>
        <p:nvGraphicFramePr>
          <p:cNvPr id="721" name="Google Shape;721;p76"/>
          <p:cNvGraphicFramePr/>
          <p:nvPr/>
        </p:nvGraphicFramePr>
        <p:xfrm>
          <a:off x="988204" y="1823847"/>
          <a:ext cx="3204250" cy="3481375"/>
        </p:xfrm>
        <a:graphic>
          <a:graphicData uri="http://schemas.openxmlformats.org/drawingml/2006/table">
            <a:tbl>
              <a:tblPr firstRow="1" bandRow="1">
                <a:noFill/>
              </a:tblPr>
              <a:tblGrid>
                <a:gridCol w="640850">
                  <a:extLst>
                    <a:ext uri="{9D8B030D-6E8A-4147-A177-3AD203B41FA5}">
                      <a16:colId xmlns:a16="http://schemas.microsoft.com/office/drawing/2014/main" val="20000"/>
                    </a:ext>
                  </a:extLst>
                </a:gridCol>
                <a:gridCol w="640850">
                  <a:extLst>
                    <a:ext uri="{9D8B030D-6E8A-4147-A177-3AD203B41FA5}">
                      <a16:colId xmlns:a16="http://schemas.microsoft.com/office/drawing/2014/main" val="20001"/>
                    </a:ext>
                  </a:extLst>
                </a:gridCol>
                <a:gridCol w="640850">
                  <a:extLst>
                    <a:ext uri="{9D8B030D-6E8A-4147-A177-3AD203B41FA5}">
                      <a16:colId xmlns:a16="http://schemas.microsoft.com/office/drawing/2014/main" val="20002"/>
                    </a:ext>
                  </a:extLst>
                </a:gridCol>
                <a:gridCol w="640850">
                  <a:extLst>
                    <a:ext uri="{9D8B030D-6E8A-4147-A177-3AD203B41FA5}">
                      <a16:colId xmlns:a16="http://schemas.microsoft.com/office/drawing/2014/main" val="20003"/>
                    </a:ext>
                  </a:extLst>
                </a:gridCol>
                <a:gridCol w="640850">
                  <a:extLst>
                    <a:ext uri="{9D8B030D-6E8A-4147-A177-3AD203B41FA5}">
                      <a16:colId xmlns:a16="http://schemas.microsoft.com/office/drawing/2014/main" val="20004"/>
                    </a:ext>
                  </a:extLst>
                </a:gridCol>
              </a:tblGrid>
              <a:tr h="696275">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E</a:t>
                      </a:r>
                      <a:endParaRPr sz="1800"/>
                    </a:p>
                  </a:txBody>
                  <a:tcPr marL="91450" marR="91450" marT="45725" marB="45725"/>
                </a:tc>
                <a:extLst>
                  <a:ext uri="{0D108BD9-81ED-4DB2-BD59-A6C34878D82A}">
                    <a16:rowId xmlns:a16="http://schemas.microsoft.com/office/drawing/2014/main" val="10000"/>
                  </a:ext>
                </a:extLst>
              </a:tr>
              <a:tr h="696275">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extLst>
                  <a:ext uri="{0D108BD9-81ED-4DB2-BD59-A6C34878D82A}">
                    <a16:rowId xmlns:a16="http://schemas.microsoft.com/office/drawing/2014/main" val="10001"/>
                  </a:ext>
                </a:extLst>
              </a:tr>
              <a:tr h="696275">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extLst>
                  <a:ext uri="{0D108BD9-81ED-4DB2-BD59-A6C34878D82A}">
                    <a16:rowId xmlns:a16="http://schemas.microsoft.com/office/drawing/2014/main" val="10002"/>
                  </a:ext>
                </a:extLst>
              </a:tr>
              <a:tr h="696275">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6</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extLst>
                  <a:ext uri="{0D108BD9-81ED-4DB2-BD59-A6C34878D82A}">
                    <a16:rowId xmlns:a16="http://schemas.microsoft.com/office/drawing/2014/main" val="10003"/>
                  </a:ext>
                </a:extLst>
              </a:tr>
              <a:tr h="696275">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6</a:t>
                      </a:r>
                      <a:endParaRPr sz="1800"/>
                    </a:p>
                  </a:txBody>
                  <a:tcPr marL="91450" marR="91450" marT="45725" marB="45725"/>
                </a:tc>
                <a:tc>
                  <a:txBody>
                    <a:bodyPr/>
                    <a:lstStyle/>
                    <a:p>
                      <a:pPr marL="0" marR="0" lvl="0" indent="0" algn="l" rtl="0">
                        <a:spcBef>
                          <a:spcPts val="0"/>
                        </a:spcBef>
                        <a:spcAft>
                          <a:spcPts val="0"/>
                        </a:spcAft>
                        <a:buNone/>
                      </a:pPr>
                      <a:r>
                        <a:rPr lang="en-US" sz="1800"/>
                        <a:t>6 </a:t>
                      </a:r>
                      <a:endParaRPr sz="1800"/>
                    </a:p>
                  </a:txBody>
                  <a:tcPr marL="91450" marR="91450" marT="45725" marB="45725"/>
                </a:tc>
                <a:extLst>
                  <a:ext uri="{0D108BD9-81ED-4DB2-BD59-A6C34878D82A}">
                    <a16:rowId xmlns:a16="http://schemas.microsoft.com/office/drawing/2014/main" val="10004"/>
                  </a:ext>
                </a:extLst>
              </a:tr>
            </a:tbl>
          </a:graphicData>
        </a:graphic>
      </p:graphicFrame>
      <p:sp>
        <p:nvSpPr>
          <p:cNvPr id="722" name="Google Shape;722;p76"/>
          <p:cNvSpPr txBox="1"/>
          <p:nvPr/>
        </p:nvSpPr>
        <p:spPr>
          <a:xfrm>
            <a:off x="4917057" y="1690688"/>
            <a:ext cx="4528868"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Which of the following functional dependency  holds true as per the rule and why?</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A-&gt; BC</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DE -&gt; C</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 -&gt; DE</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BC -&gt; A</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77"/>
          <p:cNvSpPr txBox="1">
            <a:spLocks noGrp="1"/>
          </p:cNvSpPr>
          <p:nvPr>
            <p:ph type="title"/>
          </p:nvPr>
        </p:nvSpPr>
        <p:spPr>
          <a:xfrm>
            <a:off x="838200" y="365125"/>
            <a:ext cx="10515600" cy="7649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Closure of Functional Dependencies</a:t>
            </a:r>
            <a:endParaRPr sz="3600" b="1">
              <a:latin typeface="Times New Roman"/>
              <a:ea typeface="Times New Roman"/>
              <a:cs typeface="Times New Roman"/>
              <a:sym typeface="Times New Roman"/>
            </a:endParaRPr>
          </a:p>
        </p:txBody>
      </p:sp>
      <p:sp>
        <p:nvSpPr>
          <p:cNvPr id="728" name="Google Shape;728;p77"/>
          <p:cNvSpPr txBox="1">
            <a:spLocks noGrp="1"/>
          </p:cNvSpPr>
          <p:nvPr>
            <p:ph type="body" idx="1"/>
          </p:nvPr>
        </p:nvSpPr>
        <p:spPr>
          <a:xfrm>
            <a:off x="838200" y="1130060"/>
            <a:ext cx="10515600" cy="504690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Closure method helps in finding all the </a:t>
            </a:r>
            <a:r>
              <a:rPr lang="en-US">
                <a:solidFill>
                  <a:srgbClr val="FF0000"/>
                </a:solidFill>
              </a:rPr>
              <a:t>CANDIDATE KEYS</a:t>
            </a:r>
            <a:r>
              <a:rPr lang="en-US"/>
              <a:t> in a relation.</a:t>
            </a:r>
            <a:endParaRPr/>
          </a:p>
          <a:p>
            <a:pPr marL="228600" lvl="0" indent="-228600" algn="l" rtl="0">
              <a:lnSpc>
                <a:spcPct val="90000"/>
              </a:lnSpc>
              <a:spcBef>
                <a:spcPts val="1000"/>
              </a:spcBef>
              <a:spcAft>
                <a:spcPts val="0"/>
              </a:spcAft>
              <a:buClr>
                <a:schemeClr val="dk1"/>
              </a:buClr>
              <a:buSzPts val="2800"/>
              <a:buChar char="•"/>
            </a:pPr>
            <a:r>
              <a:rPr lang="en-US"/>
              <a:t>While dealing with the normalization concept and functional dependencies, this is the most important and crucial concept.</a:t>
            </a:r>
            <a:endParaRPr/>
          </a:p>
          <a:p>
            <a:pPr marL="228600" lvl="0" indent="-228600" algn="l" rtl="0">
              <a:lnSpc>
                <a:spcPct val="90000"/>
              </a:lnSpc>
              <a:spcBef>
                <a:spcPts val="1000"/>
              </a:spcBef>
              <a:spcAft>
                <a:spcPts val="0"/>
              </a:spcAft>
              <a:buClr>
                <a:schemeClr val="dk1"/>
              </a:buClr>
              <a:buSzPts val="2800"/>
              <a:buChar char="•"/>
            </a:pPr>
            <a:r>
              <a:rPr lang="en-US"/>
              <a:t>With the help of candidate keys, we can identify </a:t>
            </a:r>
            <a:r>
              <a:rPr lang="en-US">
                <a:solidFill>
                  <a:srgbClr val="FF0000"/>
                </a:solidFill>
              </a:rPr>
              <a:t>PRIME</a:t>
            </a:r>
            <a:r>
              <a:rPr lang="en-US"/>
              <a:t> and </a:t>
            </a:r>
            <a:r>
              <a:rPr lang="en-US">
                <a:solidFill>
                  <a:srgbClr val="FF0000"/>
                </a:solidFill>
              </a:rPr>
              <a:t>NON PRIME</a:t>
            </a:r>
            <a:r>
              <a:rPr lang="en-US"/>
              <a:t> attributes which further helps in dealing with the normal forms.</a:t>
            </a:r>
            <a:endParaRPr/>
          </a:p>
          <a:p>
            <a:pPr marL="228600" lvl="0" indent="-228600" algn="l" rtl="0">
              <a:lnSpc>
                <a:spcPct val="90000"/>
              </a:lnSpc>
              <a:spcBef>
                <a:spcPts val="1000"/>
              </a:spcBef>
              <a:spcAft>
                <a:spcPts val="0"/>
              </a:spcAft>
              <a:buClr>
                <a:schemeClr val="dk1"/>
              </a:buClr>
              <a:buSzPts val="2800"/>
              <a:buChar char="•"/>
            </a:pPr>
            <a:r>
              <a:rPr lang="en-US"/>
              <a:t>E.g. R(A, B, C, D)    F.D. Set – { A-&gt;B, B-&gt;C, C-&gt;D }</a:t>
            </a:r>
            <a:endParaRPr/>
          </a:p>
          <a:p>
            <a:pPr marL="0" lvl="0" indent="0" algn="l" rtl="0">
              <a:lnSpc>
                <a:spcPct val="90000"/>
              </a:lnSpc>
              <a:spcBef>
                <a:spcPts val="1000"/>
              </a:spcBef>
              <a:spcAft>
                <a:spcPts val="0"/>
              </a:spcAft>
              <a:buClr>
                <a:schemeClr val="dk1"/>
              </a:buClr>
              <a:buSzPts val="2800"/>
              <a:buNone/>
            </a:pPr>
            <a:r>
              <a:rPr lang="en-US"/>
              <a:t>                    A</a:t>
            </a:r>
            <a:r>
              <a:rPr lang="en-US" sz="2400"/>
              <a:t>+ = ABCD</a:t>
            </a:r>
            <a:endParaRPr/>
          </a:p>
          <a:p>
            <a:pPr marL="0" lvl="0" indent="0" algn="l" rtl="0">
              <a:lnSpc>
                <a:spcPct val="90000"/>
              </a:lnSpc>
              <a:spcBef>
                <a:spcPts val="1000"/>
              </a:spcBef>
              <a:spcAft>
                <a:spcPts val="0"/>
              </a:spcAft>
              <a:buClr>
                <a:schemeClr val="dk1"/>
              </a:buClr>
              <a:buSzPts val="2400"/>
              <a:buNone/>
            </a:pPr>
            <a:r>
              <a:rPr lang="en-US" sz="2400"/>
              <a:t>	          B+ = BCD</a:t>
            </a:r>
            <a:endParaRPr/>
          </a:p>
          <a:p>
            <a:pPr marL="0" lvl="0" indent="0" algn="l" rtl="0">
              <a:lnSpc>
                <a:spcPct val="90000"/>
              </a:lnSpc>
              <a:spcBef>
                <a:spcPts val="1000"/>
              </a:spcBef>
              <a:spcAft>
                <a:spcPts val="0"/>
              </a:spcAft>
              <a:buClr>
                <a:schemeClr val="dk1"/>
              </a:buClr>
              <a:buSzPts val="2400"/>
              <a:buNone/>
            </a:pPr>
            <a:r>
              <a:rPr lang="en-US" sz="2400"/>
              <a:t>	          C+ = CD</a:t>
            </a:r>
            <a:endParaRPr/>
          </a:p>
          <a:p>
            <a:pPr marL="0" lvl="0" indent="0" algn="l" rtl="0">
              <a:lnSpc>
                <a:spcPct val="90000"/>
              </a:lnSpc>
              <a:spcBef>
                <a:spcPts val="1000"/>
              </a:spcBef>
              <a:spcAft>
                <a:spcPts val="0"/>
              </a:spcAft>
              <a:buClr>
                <a:schemeClr val="dk1"/>
              </a:buClr>
              <a:buSzPts val="2400"/>
              <a:buNone/>
            </a:pPr>
            <a:r>
              <a:rPr lang="en-US" sz="2400"/>
              <a:t>                        D+ = D</a:t>
            </a:r>
            <a:endParaRPr/>
          </a:p>
        </p:txBody>
      </p:sp>
      <p:sp>
        <p:nvSpPr>
          <p:cNvPr id="729" name="Google Shape;729;p77"/>
          <p:cNvSpPr txBox="1"/>
          <p:nvPr/>
        </p:nvSpPr>
        <p:spPr>
          <a:xfrm>
            <a:off x="4166558" y="4382219"/>
            <a:ext cx="69873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 can determine each attribute of relation R, Hence it is a candidate key.</a:t>
            </a:r>
            <a:endParaRPr sz="1800">
              <a:solidFill>
                <a:schemeClr val="dk1"/>
              </a:solidFill>
              <a:latin typeface="Calibri"/>
              <a:ea typeface="Calibri"/>
              <a:cs typeface="Calibri"/>
              <a:sym typeface="Calibri"/>
            </a:endParaRPr>
          </a:p>
        </p:txBody>
      </p:sp>
      <p:sp>
        <p:nvSpPr>
          <p:cNvPr id="730" name="Google Shape;730;p77"/>
          <p:cNvSpPr txBox="1"/>
          <p:nvPr/>
        </p:nvSpPr>
        <p:spPr>
          <a:xfrm>
            <a:off x="4166558" y="4910259"/>
            <a:ext cx="76688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 can not determine each attribute of relation R, Hence it is not candidate key.</a:t>
            </a:r>
            <a:endParaRPr sz="1800">
              <a:solidFill>
                <a:schemeClr val="dk1"/>
              </a:solidFill>
              <a:latin typeface="Calibri"/>
              <a:ea typeface="Calibri"/>
              <a:cs typeface="Calibri"/>
              <a:sym typeface="Calibri"/>
            </a:endParaRPr>
          </a:p>
        </p:txBody>
      </p:sp>
      <p:sp>
        <p:nvSpPr>
          <p:cNvPr id="731" name="Google Shape;731;p77"/>
          <p:cNvSpPr txBox="1"/>
          <p:nvPr/>
        </p:nvSpPr>
        <p:spPr>
          <a:xfrm>
            <a:off x="4166558" y="5362602"/>
            <a:ext cx="76688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 can not determine each attribute of relation R, Hence it is not candidate key.</a:t>
            </a:r>
            <a:endParaRPr sz="1800">
              <a:solidFill>
                <a:schemeClr val="dk1"/>
              </a:solidFill>
              <a:latin typeface="Calibri"/>
              <a:ea typeface="Calibri"/>
              <a:cs typeface="Calibri"/>
              <a:sym typeface="Calibri"/>
            </a:endParaRPr>
          </a:p>
        </p:txBody>
      </p:sp>
      <p:sp>
        <p:nvSpPr>
          <p:cNvPr id="732" name="Google Shape;732;p77"/>
          <p:cNvSpPr txBox="1"/>
          <p:nvPr/>
        </p:nvSpPr>
        <p:spPr>
          <a:xfrm>
            <a:off x="4166558" y="5807631"/>
            <a:ext cx="76688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 can not determine each attribute of relation R, Hence it is not candidate key.</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78"/>
          <p:cNvSpPr txBox="1"/>
          <p:nvPr/>
        </p:nvSpPr>
        <p:spPr>
          <a:xfrm>
            <a:off x="1026543" y="517585"/>
            <a:ext cx="9721970"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Also have to check the combination, with ‘A’</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(AB)+ = ABCD             Hence, it is also a candidate key</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But according to rule, </a:t>
            </a:r>
            <a:r>
              <a:rPr lang="en-US" sz="1800">
                <a:solidFill>
                  <a:srgbClr val="FF0000"/>
                </a:solidFill>
                <a:latin typeface="Calibri"/>
                <a:ea typeface="Calibri"/>
                <a:cs typeface="Calibri"/>
                <a:sym typeface="Calibri"/>
              </a:rPr>
              <a:t>candidate key </a:t>
            </a:r>
            <a:r>
              <a:rPr lang="en-US" sz="1800">
                <a:solidFill>
                  <a:schemeClr val="dk1"/>
                </a:solidFill>
                <a:latin typeface="Calibri"/>
                <a:ea typeface="Calibri"/>
                <a:cs typeface="Calibri"/>
                <a:sym typeface="Calibri"/>
              </a:rPr>
              <a:t>is </a:t>
            </a:r>
            <a:r>
              <a:rPr lang="en-US" sz="1800">
                <a:solidFill>
                  <a:srgbClr val="FF0000"/>
                </a:solidFill>
                <a:latin typeface="Calibri"/>
                <a:ea typeface="Calibri"/>
                <a:cs typeface="Calibri"/>
                <a:sym typeface="Calibri"/>
              </a:rPr>
              <a:t>minimal</a:t>
            </a:r>
            <a:r>
              <a:rPr lang="en-US" sz="1800">
                <a:solidFill>
                  <a:schemeClr val="dk1"/>
                </a:solidFill>
                <a:latin typeface="Calibri"/>
                <a:ea typeface="Calibri"/>
                <a:cs typeface="Calibri"/>
                <a:sym typeface="Calibri"/>
              </a:rPr>
              <a:t> in nature. So we cannot take AB as candidate key.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Hence , only ‘A’ will be the only candidate key.</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PRIME ATTRIBUTE </a:t>
            </a:r>
            <a:r>
              <a:rPr lang="en-US" sz="1800">
                <a:solidFill>
                  <a:schemeClr val="dk1"/>
                </a:solidFill>
                <a:latin typeface="Calibri"/>
                <a:ea typeface="Calibri"/>
                <a:cs typeface="Calibri"/>
                <a:sym typeface="Calibri"/>
              </a:rPr>
              <a:t>– {A}</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NON-PRIME ATTRIBUTE </a:t>
            </a:r>
            <a:r>
              <a:rPr lang="en-US" sz="1800">
                <a:solidFill>
                  <a:schemeClr val="dk1"/>
                </a:solidFill>
                <a:latin typeface="Calibri"/>
                <a:ea typeface="Calibri"/>
                <a:cs typeface="Calibri"/>
                <a:sym typeface="Calibri"/>
              </a:rPr>
              <a:t>– {B,C,D}</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Tips and Tricks </a:t>
            </a:r>
            <a:r>
              <a:rPr lang="en-US" sz="1800">
                <a:solidFill>
                  <a:schemeClr val="dk1"/>
                </a:solidFill>
                <a:latin typeface="Calibri"/>
                <a:ea typeface="Calibri"/>
                <a:cs typeface="Calibri"/>
                <a:sym typeface="Calibri"/>
              </a:rPr>
              <a:t>(Finding Candidate Key in Seconds)</a:t>
            </a:r>
            <a:br>
              <a:rPr lang="en-US" sz="1800" b="1">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Check the attribute which is not on the RHS, that attribute will sure be the part of candidate key.</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79"/>
          <p:cNvSpPr txBox="1">
            <a:spLocks noGrp="1"/>
          </p:cNvSpPr>
          <p:nvPr>
            <p:ph type="title"/>
          </p:nvPr>
        </p:nvSpPr>
        <p:spPr>
          <a:xfrm>
            <a:off x="838200" y="365126"/>
            <a:ext cx="10515600" cy="68729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Problem Statements</a:t>
            </a:r>
            <a:endParaRPr sz="3600" b="1">
              <a:latin typeface="Times New Roman"/>
              <a:ea typeface="Times New Roman"/>
              <a:cs typeface="Times New Roman"/>
              <a:sym typeface="Times New Roman"/>
            </a:endParaRPr>
          </a:p>
        </p:txBody>
      </p:sp>
      <p:sp>
        <p:nvSpPr>
          <p:cNvPr id="743" name="Google Shape;743;p79"/>
          <p:cNvSpPr txBox="1"/>
          <p:nvPr/>
        </p:nvSpPr>
        <p:spPr>
          <a:xfrm>
            <a:off x="655608" y="1319841"/>
            <a:ext cx="4934309"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1. Consider a relation R having attributes as R(ABCD), functional dependencies are given below:</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AB-&gt;C, C-&gt;D, D-&gt;A</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Identify the set of candidate keys possible in relation R. List all the set of prime and non prime attributes.</a:t>
            </a:r>
            <a:endParaRPr sz="1800" dirty="0">
              <a:solidFill>
                <a:schemeClr val="dk1"/>
              </a:solidFill>
              <a:latin typeface="Calibri"/>
              <a:ea typeface="Calibri"/>
              <a:cs typeface="Calibri"/>
              <a:sym typeface="Calibri"/>
            </a:endParaRPr>
          </a:p>
        </p:txBody>
      </p:sp>
      <p:sp>
        <p:nvSpPr>
          <p:cNvPr id="744" name="Google Shape;744;p79"/>
          <p:cNvSpPr txBox="1"/>
          <p:nvPr/>
        </p:nvSpPr>
        <p:spPr>
          <a:xfrm>
            <a:off x="655607" y="4317749"/>
            <a:ext cx="4934309"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2. Relation R(ABCDE) having functional dependencies as :</a:t>
            </a:r>
            <a:endParaRPr dirty="0"/>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A-&gt;D, B-&gt;A, BC-&gt;D, AC-&gt;BE</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Identify the set of candidate keys possible in relation R. List all the set of prime and non prime attributes.</a:t>
            </a:r>
            <a:endParaRPr sz="1800" dirty="0">
              <a:solidFill>
                <a:schemeClr val="dk1"/>
              </a:solidFill>
              <a:latin typeface="Calibri"/>
              <a:ea typeface="Calibri"/>
              <a:cs typeface="Calibri"/>
              <a:sym typeface="Calibri"/>
            </a:endParaRPr>
          </a:p>
        </p:txBody>
      </p:sp>
      <p:sp>
        <p:nvSpPr>
          <p:cNvPr id="745" name="Google Shape;745;p79"/>
          <p:cNvSpPr txBox="1"/>
          <p:nvPr/>
        </p:nvSpPr>
        <p:spPr>
          <a:xfrm>
            <a:off x="6156385" y="1186132"/>
            <a:ext cx="4934309"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3. Consider a relation R having attributes as R(ABCDE), functional dependencies are given below:</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B-&gt;A, A-&gt;C, BC-&gt;D, AC-&gt;BE</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Identify the set of candidate keys possible in relation R. List all the set of prime and non prime attributes.</a:t>
            </a:r>
            <a:endParaRPr sz="1800" dirty="0">
              <a:solidFill>
                <a:schemeClr val="dk1"/>
              </a:solidFill>
              <a:latin typeface="Calibri"/>
              <a:ea typeface="Calibri"/>
              <a:cs typeface="Calibri"/>
              <a:sym typeface="Calibri"/>
            </a:endParaRPr>
          </a:p>
        </p:txBody>
      </p:sp>
      <p:sp>
        <p:nvSpPr>
          <p:cNvPr id="746" name="Google Shape;746;p79"/>
          <p:cNvSpPr txBox="1"/>
          <p:nvPr/>
        </p:nvSpPr>
        <p:spPr>
          <a:xfrm>
            <a:off x="6156385" y="3905164"/>
            <a:ext cx="4934309"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4. Consider a relation R having attributes as R(ABCDEF), functional dependencies are given below:</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A-&gt;BCD, BC-&gt;DE, B-&gt;D, D-&gt;A</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Identify the set of candidate keys possible in relation R. List all the set of prime and non prime attributes.</a:t>
            </a:r>
            <a:endParaRPr sz="1800" dirty="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81"/>
          <p:cNvSpPr txBox="1">
            <a:spLocks noGrp="1"/>
          </p:cNvSpPr>
          <p:nvPr>
            <p:ph type="title"/>
          </p:nvPr>
        </p:nvSpPr>
        <p:spPr>
          <a:xfrm>
            <a:off x="838200" y="365125"/>
            <a:ext cx="10515600" cy="6010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Problem Statement</a:t>
            </a:r>
            <a:endParaRPr sz="3600" b="1">
              <a:latin typeface="Times New Roman"/>
              <a:ea typeface="Times New Roman"/>
              <a:cs typeface="Times New Roman"/>
              <a:sym typeface="Times New Roman"/>
            </a:endParaRPr>
          </a:p>
        </p:txBody>
      </p:sp>
      <p:sp>
        <p:nvSpPr>
          <p:cNvPr id="759" name="Google Shape;759;p81"/>
          <p:cNvSpPr txBox="1">
            <a:spLocks noGrp="1"/>
          </p:cNvSpPr>
          <p:nvPr>
            <p:ph type="body" idx="1"/>
          </p:nvPr>
        </p:nvSpPr>
        <p:spPr>
          <a:xfrm>
            <a:off x="838200" y="1026543"/>
            <a:ext cx="10515600" cy="52108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Designing a student database involves certain dependencies which are listed below:</a:t>
            </a:r>
            <a:endParaRPr dirty="0"/>
          </a:p>
          <a:p>
            <a:pPr marL="0" lvl="0" indent="0" algn="l" rtl="0">
              <a:lnSpc>
                <a:spcPct val="90000"/>
              </a:lnSpc>
              <a:spcBef>
                <a:spcPts val="1000"/>
              </a:spcBef>
              <a:spcAft>
                <a:spcPts val="0"/>
              </a:spcAft>
              <a:buClr>
                <a:schemeClr val="dk1"/>
              </a:buClr>
              <a:buSzPts val="2000"/>
              <a:buNone/>
            </a:pPr>
            <a:r>
              <a:rPr lang="en-US" sz="2000" b="1" dirty="0"/>
              <a:t>   </a:t>
            </a:r>
            <a:r>
              <a:rPr lang="en-US" sz="2300" b="1" dirty="0"/>
              <a:t>X -&gt;Y</a:t>
            </a:r>
            <a:endParaRPr dirty="0"/>
          </a:p>
          <a:p>
            <a:pPr marL="0" lvl="0" indent="0" algn="l" rtl="0">
              <a:lnSpc>
                <a:spcPct val="90000"/>
              </a:lnSpc>
              <a:spcBef>
                <a:spcPts val="1000"/>
              </a:spcBef>
              <a:spcAft>
                <a:spcPts val="0"/>
              </a:spcAft>
              <a:buClr>
                <a:schemeClr val="dk1"/>
              </a:buClr>
              <a:buSzPts val="2300"/>
              <a:buNone/>
            </a:pPr>
            <a:r>
              <a:rPr lang="en-US" sz="2300" b="1" dirty="0"/>
              <a:t>   WZ -&gt;X</a:t>
            </a:r>
            <a:endParaRPr dirty="0"/>
          </a:p>
          <a:p>
            <a:pPr marL="0" lvl="0" indent="0" algn="l" rtl="0">
              <a:lnSpc>
                <a:spcPct val="90000"/>
              </a:lnSpc>
              <a:spcBef>
                <a:spcPts val="1000"/>
              </a:spcBef>
              <a:spcAft>
                <a:spcPts val="0"/>
              </a:spcAft>
              <a:buClr>
                <a:schemeClr val="dk1"/>
              </a:buClr>
              <a:buSzPts val="2300"/>
              <a:buNone/>
            </a:pPr>
            <a:r>
              <a:rPr lang="en-US" sz="2300" b="1" dirty="0"/>
              <a:t>   WZ -&gt;Y</a:t>
            </a:r>
            <a:endParaRPr dirty="0"/>
          </a:p>
          <a:p>
            <a:pPr marL="0" lvl="0" indent="0" algn="l" rtl="0">
              <a:lnSpc>
                <a:spcPct val="90000"/>
              </a:lnSpc>
              <a:spcBef>
                <a:spcPts val="1000"/>
              </a:spcBef>
              <a:spcAft>
                <a:spcPts val="0"/>
              </a:spcAft>
              <a:buClr>
                <a:schemeClr val="dk1"/>
              </a:buClr>
              <a:buSzPts val="2300"/>
              <a:buNone/>
            </a:pPr>
            <a:r>
              <a:rPr lang="en-US" sz="2300" b="1" dirty="0"/>
              <a:t>   Y -&gt;W</a:t>
            </a:r>
            <a:endParaRPr dirty="0"/>
          </a:p>
          <a:p>
            <a:pPr marL="0" lvl="0" indent="0" algn="l" rtl="0">
              <a:lnSpc>
                <a:spcPct val="90000"/>
              </a:lnSpc>
              <a:spcBef>
                <a:spcPts val="1000"/>
              </a:spcBef>
              <a:spcAft>
                <a:spcPts val="0"/>
              </a:spcAft>
              <a:buClr>
                <a:schemeClr val="dk1"/>
              </a:buClr>
              <a:buSzPts val="2300"/>
              <a:buNone/>
            </a:pPr>
            <a:r>
              <a:rPr lang="en-US" sz="2300" b="1" dirty="0"/>
              <a:t>   Y -&gt;X</a:t>
            </a:r>
            <a:endParaRPr dirty="0"/>
          </a:p>
          <a:p>
            <a:pPr marL="0" lvl="0" indent="0" algn="l" rtl="0">
              <a:lnSpc>
                <a:spcPct val="90000"/>
              </a:lnSpc>
              <a:spcBef>
                <a:spcPts val="1000"/>
              </a:spcBef>
              <a:spcAft>
                <a:spcPts val="0"/>
              </a:spcAft>
              <a:buClr>
                <a:schemeClr val="dk1"/>
              </a:buClr>
              <a:buSzPts val="2300"/>
              <a:buNone/>
            </a:pPr>
            <a:r>
              <a:rPr lang="en-US" sz="2300" b="1" dirty="0"/>
              <a:t>   Y -&gt;Z</a:t>
            </a:r>
            <a:endParaRPr dirty="0"/>
          </a:p>
          <a:p>
            <a:pPr marL="0" lvl="0" indent="0" algn="l" rtl="0">
              <a:lnSpc>
                <a:spcPct val="90000"/>
              </a:lnSpc>
              <a:spcBef>
                <a:spcPts val="1000"/>
              </a:spcBef>
              <a:spcAft>
                <a:spcPts val="0"/>
              </a:spcAft>
              <a:buClr>
                <a:schemeClr val="dk1"/>
              </a:buClr>
              <a:buSzPts val="2800"/>
              <a:buNone/>
            </a:pPr>
            <a:r>
              <a:rPr lang="en-US" dirty="0"/>
              <a:t>The task here is to remove all the redundant FDs for efficient working   of the student database management system. </a:t>
            </a:r>
            <a:endParaRPr sz="2000"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63">
          <a:extLst>
            <a:ext uri="{FF2B5EF4-FFF2-40B4-BE49-F238E27FC236}">
              <a16:creationId xmlns:a16="http://schemas.microsoft.com/office/drawing/2014/main" id="{C8027CE1-943D-3449-9536-4B9433D67469}"/>
            </a:ext>
          </a:extLst>
        </p:cNvPr>
        <p:cNvGrpSpPr/>
        <p:nvPr/>
      </p:nvGrpSpPr>
      <p:grpSpPr>
        <a:xfrm>
          <a:off x="0" y="0"/>
          <a:ext cx="0" cy="0"/>
          <a:chOff x="0" y="0"/>
          <a:chExt cx="0" cy="0"/>
        </a:xfrm>
      </p:grpSpPr>
      <p:sp>
        <p:nvSpPr>
          <p:cNvPr id="764" name="Google Shape;764;p82">
            <a:extLst>
              <a:ext uri="{FF2B5EF4-FFF2-40B4-BE49-F238E27FC236}">
                <a16:creationId xmlns:a16="http://schemas.microsoft.com/office/drawing/2014/main" id="{8A853AA7-7038-E8C9-8445-341628126A79}"/>
              </a:ext>
            </a:extLst>
          </p:cNvPr>
          <p:cNvSpPr txBox="1">
            <a:spLocks noGrp="1"/>
          </p:cNvSpPr>
          <p:nvPr>
            <p:ph type="title"/>
          </p:nvPr>
        </p:nvSpPr>
        <p:spPr>
          <a:xfrm>
            <a:off x="838200" y="365125"/>
            <a:ext cx="10515600" cy="6010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Problem Statement</a:t>
            </a:r>
            <a:endParaRPr sz="3600" b="1">
              <a:latin typeface="Times New Roman"/>
              <a:ea typeface="Times New Roman"/>
              <a:cs typeface="Times New Roman"/>
              <a:sym typeface="Times New Roman"/>
            </a:endParaRPr>
          </a:p>
        </p:txBody>
      </p:sp>
      <p:sp>
        <p:nvSpPr>
          <p:cNvPr id="765" name="Google Shape;765;p82">
            <a:extLst>
              <a:ext uri="{FF2B5EF4-FFF2-40B4-BE49-F238E27FC236}">
                <a16:creationId xmlns:a16="http://schemas.microsoft.com/office/drawing/2014/main" id="{CEA038D1-9C75-D5A3-B512-F6B66A6D616B}"/>
              </a:ext>
            </a:extLst>
          </p:cNvPr>
          <p:cNvSpPr txBox="1">
            <a:spLocks noGrp="1"/>
          </p:cNvSpPr>
          <p:nvPr>
            <p:ph type="body" idx="1"/>
          </p:nvPr>
        </p:nvSpPr>
        <p:spPr>
          <a:xfrm>
            <a:off x="838200" y="1026543"/>
            <a:ext cx="10515600" cy="5210805"/>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n-US" dirty="0"/>
              <a:t>Debix Pvt Ltd needs to maintain database having dependent attributes ABCDEF. These attributes are functionally dependent on each other for which functionally dependency set F given as:</a:t>
            </a:r>
            <a:endParaRPr dirty="0"/>
          </a:p>
          <a:p>
            <a:pPr marL="0" lvl="0" indent="0" algn="just" rtl="0">
              <a:lnSpc>
                <a:spcPct val="90000"/>
              </a:lnSpc>
              <a:spcBef>
                <a:spcPts val="1000"/>
              </a:spcBef>
              <a:spcAft>
                <a:spcPts val="0"/>
              </a:spcAft>
              <a:buClr>
                <a:schemeClr val="dk1"/>
              </a:buClr>
              <a:buSzPts val="2800"/>
              <a:buNone/>
            </a:pPr>
            <a:r>
              <a:rPr lang="en-US" b="1" dirty="0"/>
              <a:t>{A -&gt; BC, D -&gt; E, BC -&gt; D, A -&gt; D} </a:t>
            </a:r>
            <a:r>
              <a:rPr lang="en-US" dirty="0"/>
              <a:t>Consider a universal relation R1(A, B,  C, D, E, F) with functional dependency set F, also all attributes are simple and take atomic values only. Find the highest normal form along with the candidate keys with prime and non-prime attribute.</a:t>
            </a:r>
            <a:endParaRPr dirty="0"/>
          </a:p>
        </p:txBody>
      </p:sp>
    </p:spTree>
    <p:extLst>
      <p:ext uri="{BB962C8B-B14F-4D97-AF65-F5344CB8AC3E}">
        <p14:creationId xmlns:p14="http://schemas.microsoft.com/office/powerpoint/2010/main" val="382505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83"/>
          <p:cNvSpPr txBox="1">
            <a:spLocks noGrp="1"/>
          </p:cNvSpPr>
          <p:nvPr>
            <p:ph type="title"/>
          </p:nvPr>
        </p:nvSpPr>
        <p:spPr>
          <a:xfrm>
            <a:off x="838200" y="365125"/>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Normalization</a:t>
            </a:r>
            <a:endParaRPr b="1">
              <a:latin typeface="Times New Roman"/>
              <a:ea typeface="Times New Roman"/>
              <a:cs typeface="Times New Roman"/>
              <a:sym typeface="Times New Roman"/>
            </a:endParaRPr>
          </a:p>
        </p:txBody>
      </p:sp>
      <p:sp>
        <p:nvSpPr>
          <p:cNvPr id="771" name="Google Shape;771;p83"/>
          <p:cNvSpPr txBox="1">
            <a:spLocks noGrp="1"/>
          </p:cNvSpPr>
          <p:nvPr>
            <p:ph type="body" idx="1"/>
          </p:nvPr>
        </p:nvSpPr>
        <p:spPr>
          <a:xfrm>
            <a:off x="838200" y="1449238"/>
            <a:ext cx="10515600" cy="4727725"/>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400"/>
              <a:buChar char="•"/>
            </a:pPr>
            <a:r>
              <a:rPr lang="en-US" sz="2400" dirty="0"/>
              <a:t>When we define a large database as a single relation, there are chances of data redundancy and inconsistency.</a:t>
            </a:r>
            <a:endParaRPr dirty="0"/>
          </a:p>
          <a:p>
            <a:pPr marL="228600" lvl="0" indent="-228600" algn="just" rtl="0">
              <a:lnSpc>
                <a:spcPct val="90000"/>
              </a:lnSpc>
              <a:spcBef>
                <a:spcPts val="1000"/>
              </a:spcBef>
              <a:spcAft>
                <a:spcPts val="0"/>
              </a:spcAft>
              <a:buClr>
                <a:schemeClr val="dk1"/>
              </a:buClr>
              <a:buSzPts val="2400"/>
              <a:buChar char="•"/>
            </a:pPr>
            <a:r>
              <a:rPr lang="en-US" sz="2400" dirty="0"/>
              <a:t>This leads to various problems such as maintaining the huge amount of data, improper utilization of disk space and resources and many more.</a:t>
            </a:r>
            <a:endParaRPr dirty="0"/>
          </a:p>
          <a:p>
            <a:pPr marL="228600" lvl="0" indent="-228600" algn="just" rtl="0">
              <a:lnSpc>
                <a:spcPct val="90000"/>
              </a:lnSpc>
              <a:spcBef>
                <a:spcPts val="1000"/>
              </a:spcBef>
              <a:spcAft>
                <a:spcPts val="0"/>
              </a:spcAft>
              <a:buClr>
                <a:schemeClr val="dk1"/>
              </a:buClr>
              <a:buSzPts val="2400"/>
              <a:buChar char="•"/>
            </a:pPr>
            <a:r>
              <a:rPr lang="en-US" sz="2400" dirty="0"/>
              <a:t>In-order to handle these issues, </a:t>
            </a:r>
            <a:r>
              <a:rPr lang="en-US" sz="2400" dirty="0">
                <a:solidFill>
                  <a:srgbClr val="FF0000"/>
                </a:solidFill>
              </a:rPr>
              <a:t>NORMALIZATION</a:t>
            </a:r>
            <a:r>
              <a:rPr lang="en-US" sz="2400" dirty="0"/>
              <a:t> comes into the picture.</a:t>
            </a:r>
            <a:endParaRPr dirty="0"/>
          </a:p>
          <a:p>
            <a:pPr marL="228600" lvl="0" indent="-228600" algn="just" rtl="0">
              <a:lnSpc>
                <a:spcPct val="90000"/>
              </a:lnSpc>
              <a:spcBef>
                <a:spcPts val="1000"/>
              </a:spcBef>
              <a:spcAft>
                <a:spcPts val="0"/>
              </a:spcAft>
              <a:buClr>
                <a:schemeClr val="dk1"/>
              </a:buClr>
              <a:buSzPts val="2400"/>
              <a:buChar char="•"/>
            </a:pPr>
            <a:r>
              <a:rPr lang="en-US" sz="2400" dirty="0"/>
              <a:t>Normalization helps us to reduce the redundancy from relations, divides the larger table into smaller tables and helps in dealing with insertion, deletion and </a:t>
            </a:r>
            <a:r>
              <a:rPr lang="en-US" sz="2400" dirty="0" err="1"/>
              <a:t>updatation</a:t>
            </a:r>
            <a:r>
              <a:rPr lang="en-US" sz="2400" dirty="0"/>
              <a:t> anomalies.</a:t>
            </a:r>
            <a:endParaRPr dirty="0"/>
          </a:p>
        </p:txBody>
      </p:sp>
    </p:spTree>
    <p:extLst>
      <p:ext uri="{BB962C8B-B14F-4D97-AF65-F5344CB8AC3E}">
        <p14:creationId xmlns:p14="http://schemas.microsoft.com/office/powerpoint/2010/main" val="41542456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83"/>
          <p:cNvSpPr txBox="1">
            <a:spLocks noGrp="1"/>
          </p:cNvSpPr>
          <p:nvPr>
            <p:ph type="title"/>
          </p:nvPr>
        </p:nvSpPr>
        <p:spPr>
          <a:xfrm>
            <a:off x="838200" y="365125"/>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Data Anomalies</a:t>
            </a:r>
            <a:endParaRPr b="1" dirty="0">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92F07614-E4C8-D71B-CDC8-1C958278B78C}"/>
              </a:ext>
            </a:extLst>
          </p:cNvPr>
          <p:cNvPicPr>
            <a:picLocks noChangeAspect="1"/>
          </p:cNvPicPr>
          <p:nvPr/>
        </p:nvPicPr>
        <p:blipFill>
          <a:blip r:embed="rId3"/>
          <a:stretch>
            <a:fillRect/>
          </a:stretch>
        </p:blipFill>
        <p:spPr>
          <a:xfrm>
            <a:off x="1106904" y="2233445"/>
            <a:ext cx="9529011" cy="291607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84"/>
          <p:cNvSpPr txBox="1">
            <a:spLocks noGrp="1"/>
          </p:cNvSpPr>
          <p:nvPr>
            <p:ph type="title"/>
          </p:nvPr>
        </p:nvSpPr>
        <p:spPr>
          <a:xfrm>
            <a:off x="838200" y="365125"/>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Normalization</a:t>
            </a:r>
            <a:endParaRPr b="1">
              <a:latin typeface="Times New Roman"/>
              <a:ea typeface="Times New Roman"/>
              <a:cs typeface="Times New Roman"/>
              <a:sym typeface="Times New Roman"/>
            </a:endParaRPr>
          </a:p>
        </p:txBody>
      </p:sp>
      <p:pic>
        <p:nvPicPr>
          <p:cNvPr id="777" name="Google Shape;777;p84"/>
          <p:cNvPicPr preferRelativeResize="0"/>
          <p:nvPr/>
        </p:nvPicPr>
        <p:blipFill rotWithShape="1">
          <a:blip r:embed="rId3">
            <a:alphaModFix/>
          </a:blip>
          <a:srcRect/>
          <a:stretch/>
        </p:blipFill>
        <p:spPr>
          <a:xfrm>
            <a:off x="1104181" y="1518248"/>
            <a:ext cx="9877245" cy="389051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pic>
        <p:nvPicPr>
          <p:cNvPr id="6" name="Picture 5">
            <a:extLst>
              <a:ext uri="{FF2B5EF4-FFF2-40B4-BE49-F238E27FC236}">
                <a16:creationId xmlns:a16="http://schemas.microsoft.com/office/drawing/2014/main" id="{6F27C087-7700-9616-71EC-7420663AF61C}"/>
              </a:ext>
            </a:extLst>
          </p:cNvPr>
          <p:cNvPicPr>
            <a:picLocks noChangeAspect="1"/>
          </p:cNvPicPr>
          <p:nvPr/>
        </p:nvPicPr>
        <p:blipFill>
          <a:blip r:embed="rId3"/>
          <a:stretch>
            <a:fillRect/>
          </a:stretch>
        </p:blipFill>
        <p:spPr>
          <a:xfrm>
            <a:off x="1283368" y="818148"/>
            <a:ext cx="9464843" cy="5069306"/>
          </a:xfrm>
          <a:prstGeom prst="rect">
            <a:avLst/>
          </a:prstGeom>
        </p:spPr>
      </p:pic>
    </p:spTree>
    <p:extLst>
      <p:ext uri="{BB962C8B-B14F-4D97-AF65-F5344CB8AC3E}">
        <p14:creationId xmlns:p14="http://schemas.microsoft.com/office/powerpoint/2010/main" val="25539122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pic>
        <p:nvPicPr>
          <p:cNvPr id="3" name="Picture 2">
            <a:extLst>
              <a:ext uri="{FF2B5EF4-FFF2-40B4-BE49-F238E27FC236}">
                <a16:creationId xmlns:a16="http://schemas.microsoft.com/office/drawing/2014/main" id="{5EDC6E2D-2680-CB49-A358-AFDB72A4ED3F}"/>
              </a:ext>
            </a:extLst>
          </p:cNvPr>
          <p:cNvPicPr>
            <a:picLocks noChangeAspect="1"/>
          </p:cNvPicPr>
          <p:nvPr/>
        </p:nvPicPr>
        <p:blipFill>
          <a:blip r:embed="rId3"/>
          <a:stretch>
            <a:fillRect/>
          </a:stretch>
        </p:blipFill>
        <p:spPr>
          <a:xfrm>
            <a:off x="481263" y="926431"/>
            <a:ext cx="10459453" cy="5005137"/>
          </a:xfrm>
          <a:prstGeom prst="rect">
            <a:avLst/>
          </a:prstGeom>
        </p:spPr>
      </p:pic>
    </p:spTree>
    <p:extLst>
      <p:ext uri="{BB962C8B-B14F-4D97-AF65-F5344CB8AC3E}">
        <p14:creationId xmlns:p14="http://schemas.microsoft.com/office/powerpoint/2010/main" val="1196067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pic>
        <p:nvPicPr>
          <p:cNvPr id="4" name="Picture 3">
            <a:extLst>
              <a:ext uri="{FF2B5EF4-FFF2-40B4-BE49-F238E27FC236}">
                <a16:creationId xmlns:a16="http://schemas.microsoft.com/office/drawing/2014/main" id="{6FCAD56D-6B96-9C5A-6C9F-2693B0CA1C50}"/>
              </a:ext>
            </a:extLst>
          </p:cNvPr>
          <p:cNvPicPr>
            <a:picLocks noChangeAspect="1"/>
          </p:cNvPicPr>
          <p:nvPr/>
        </p:nvPicPr>
        <p:blipFill>
          <a:blip r:embed="rId3"/>
          <a:stretch>
            <a:fillRect/>
          </a:stretch>
        </p:blipFill>
        <p:spPr>
          <a:xfrm>
            <a:off x="818148" y="1395662"/>
            <a:ext cx="9914021" cy="4572001"/>
          </a:xfrm>
          <a:prstGeom prst="rect">
            <a:avLst/>
          </a:prstGeom>
        </p:spPr>
      </p:pic>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1NF</a:t>
            </a:r>
            <a:endParaRPr b="1"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090656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1NF - Decomposition</a:t>
            </a:r>
            <a:endParaRPr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5ABFB6D0-2D8D-1699-CA0F-CC88F1862737}"/>
              </a:ext>
            </a:extLst>
          </p:cNvPr>
          <p:cNvPicPr>
            <a:picLocks noChangeAspect="1"/>
          </p:cNvPicPr>
          <p:nvPr/>
        </p:nvPicPr>
        <p:blipFill>
          <a:blip r:embed="rId3"/>
          <a:stretch>
            <a:fillRect/>
          </a:stretch>
        </p:blipFill>
        <p:spPr>
          <a:xfrm>
            <a:off x="818148" y="1395663"/>
            <a:ext cx="9865894" cy="4395538"/>
          </a:xfrm>
          <a:prstGeom prst="rect">
            <a:avLst/>
          </a:prstGeom>
        </p:spPr>
      </p:pic>
    </p:spTree>
    <p:extLst>
      <p:ext uri="{BB962C8B-B14F-4D97-AF65-F5344CB8AC3E}">
        <p14:creationId xmlns:p14="http://schemas.microsoft.com/office/powerpoint/2010/main" val="1758703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pic>
        <p:nvPicPr>
          <p:cNvPr id="4" name="Picture 3">
            <a:extLst>
              <a:ext uri="{FF2B5EF4-FFF2-40B4-BE49-F238E27FC236}">
                <a16:creationId xmlns:a16="http://schemas.microsoft.com/office/drawing/2014/main" id="{4B30AF96-D132-BE21-731F-D721D1AA7F05}"/>
              </a:ext>
            </a:extLst>
          </p:cNvPr>
          <p:cNvPicPr>
            <a:picLocks noChangeAspect="1"/>
          </p:cNvPicPr>
          <p:nvPr/>
        </p:nvPicPr>
        <p:blipFill>
          <a:blip r:embed="rId3"/>
          <a:stretch>
            <a:fillRect/>
          </a:stretch>
        </p:blipFill>
        <p:spPr>
          <a:xfrm>
            <a:off x="786063" y="721895"/>
            <a:ext cx="9962148" cy="5261809"/>
          </a:xfrm>
          <a:prstGeom prst="rect">
            <a:avLst/>
          </a:prstGeom>
        </p:spPr>
      </p:pic>
    </p:spTree>
    <p:extLst>
      <p:ext uri="{BB962C8B-B14F-4D97-AF65-F5344CB8AC3E}">
        <p14:creationId xmlns:p14="http://schemas.microsoft.com/office/powerpoint/2010/main" val="266634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2-NF</a:t>
            </a:r>
            <a:endParaRPr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6C09D327-0986-D150-3CD1-DB451A3C0324}"/>
              </a:ext>
            </a:extLst>
          </p:cNvPr>
          <p:cNvPicPr>
            <a:picLocks noChangeAspect="1"/>
          </p:cNvPicPr>
          <p:nvPr/>
        </p:nvPicPr>
        <p:blipFill>
          <a:blip r:embed="rId3"/>
          <a:stretch>
            <a:fillRect/>
          </a:stretch>
        </p:blipFill>
        <p:spPr>
          <a:xfrm>
            <a:off x="818148" y="1395662"/>
            <a:ext cx="9352548" cy="3769895"/>
          </a:xfrm>
          <a:prstGeom prst="rect">
            <a:avLst/>
          </a:prstGeom>
        </p:spPr>
      </p:pic>
      <p:sp>
        <p:nvSpPr>
          <p:cNvPr id="5" name="TextBox 4">
            <a:extLst>
              <a:ext uri="{FF2B5EF4-FFF2-40B4-BE49-F238E27FC236}">
                <a16:creationId xmlns:a16="http://schemas.microsoft.com/office/drawing/2014/main" id="{D23C81D3-562E-C9FB-27DA-4AE6C0C7280E}"/>
              </a:ext>
            </a:extLst>
          </p:cNvPr>
          <p:cNvSpPr txBox="1"/>
          <p:nvPr/>
        </p:nvSpPr>
        <p:spPr>
          <a:xfrm>
            <a:off x="1098884" y="5566611"/>
            <a:ext cx="9312443" cy="584775"/>
          </a:xfrm>
          <a:prstGeom prst="rect">
            <a:avLst/>
          </a:prstGeom>
          <a:noFill/>
        </p:spPr>
        <p:txBody>
          <a:bodyPr wrap="square" rtlCol="0">
            <a:spAutoFit/>
          </a:bodyPr>
          <a:lstStyle/>
          <a:p>
            <a:r>
              <a:rPr lang="en-US" sz="1600" b="1" dirty="0">
                <a:solidFill>
                  <a:schemeClr val="accent5"/>
                </a:solidFill>
              </a:rPr>
              <a:t>Employee ID and Department ID forms the P.K in this case.</a:t>
            </a:r>
          </a:p>
          <a:p>
            <a:r>
              <a:rPr lang="en-US" sz="1600" b="1" dirty="0">
                <a:solidFill>
                  <a:srgbClr val="FF0000"/>
                </a:solidFill>
              </a:rPr>
              <a:t>Department ID determines Office Location – Clear cut case of Partial Dependency</a:t>
            </a:r>
            <a:endParaRPr lang="en-IN" sz="1600" b="1" dirty="0">
              <a:solidFill>
                <a:srgbClr val="FF0000"/>
              </a:solidFill>
            </a:endParaRPr>
          </a:p>
        </p:txBody>
      </p:sp>
    </p:spTree>
    <p:extLst>
      <p:ext uri="{BB962C8B-B14F-4D97-AF65-F5344CB8AC3E}">
        <p14:creationId xmlns:p14="http://schemas.microsoft.com/office/powerpoint/2010/main" val="15146256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2-NF -  Decomposition</a:t>
            </a:r>
            <a:endParaRPr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6C09D327-0986-D150-3CD1-DB451A3C0324}"/>
              </a:ext>
            </a:extLst>
          </p:cNvPr>
          <p:cNvPicPr>
            <a:picLocks noChangeAspect="1"/>
          </p:cNvPicPr>
          <p:nvPr/>
        </p:nvPicPr>
        <p:blipFill>
          <a:blip r:embed="rId3"/>
          <a:stretch>
            <a:fillRect/>
          </a:stretch>
        </p:blipFill>
        <p:spPr>
          <a:xfrm>
            <a:off x="368969" y="1898983"/>
            <a:ext cx="4507831" cy="3416970"/>
          </a:xfrm>
          <a:prstGeom prst="rect">
            <a:avLst/>
          </a:prstGeom>
        </p:spPr>
      </p:pic>
      <p:pic>
        <p:nvPicPr>
          <p:cNvPr id="4" name="Picture 3">
            <a:extLst>
              <a:ext uri="{FF2B5EF4-FFF2-40B4-BE49-F238E27FC236}">
                <a16:creationId xmlns:a16="http://schemas.microsoft.com/office/drawing/2014/main" id="{2394C316-B4F6-9A81-2434-7F6B994EA4F7}"/>
              </a:ext>
            </a:extLst>
          </p:cNvPr>
          <p:cNvPicPr>
            <a:picLocks noChangeAspect="1"/>
          </p:cNvPicPr>
          <p:nvPr/>
        </p:nvPicPr>
        <p:blipFill>
          <a:blip r:embed="rId4"/>
          <a:stretch>
            <a:fillRect/>
          </a:stretch>
        </p:blipFill>
        <p:spPr>
          <a:xfrm>
            <a:off x="7106652" y="440791"/>
            <a:ext cx="3416969" cy="2526998"/>
          </a:xfrm>
          <a:prstGeom prst="rect">
            <a:avLst/>
          </a:prstGeom>
        </p:spPr>
      </p:pic>
      <p:pic>
        <p:nvPicPr>
          <p:cNvPr id="8" name="Picture 7">
            <a:extLst>
              <a:ext uri="{FF2B5EF4-FFF2-40B4-BE49-F238E27FC236}">
                <a16:creationId xmlns:a16="http://schemas.microsoft.com/office/drawing/2014/main" id="{3B6B3FA3-7F07-CED3-1735-7C34F329BD80}"/>
              </a:ext>
            </a:extLst>
          </p:cNvPr>
          <p:cNvPicPr>
            <a:picLocks noChangeAspect="1"/>
          </p:cNvPicPr>
          <p:nvPr/>
        </p:nvPicPr>
        <p:blipFill>
          <a:blip r:embed="rId5"/>
          <a:stretch>
            <a:fillRect/>
          </a:stretch>
        </p:blipFill>
        <p:spPr>
          <a:xfrm>
            <a:off x="7106652" y="3429000"/>
            <a:ext cx="3529264" cy="2683042"/>
          </a:xfrm>
          <a:prstGeom prst="rect">
            <a:avLst/>
          </a:prstGeom>
        </p:spPr>
      </p:pic>
      <p:sp>
        <p:nvSpPr>
          <p:cNvPr id="9" name="Arrow: Right 8">
            <a:extLst>
              <a:ext uri="{FF2B5EF4-FFF2-40B4-BE49-F238E27FC236}">
                <a16:creationId xmlns:a16="http://schemas.microsoft.com/office/drawing/2014/main" id="{F9FFF2AC-9F08-6903-6B70-08C5CAABFED4}"/>
              </a:ext>
            </a:extLst>
          </p:cNvPr>
          <p:cNvSpPr/>
          <p:nvPr/>
        </p:nvSpPr>
        <p:spPr>
          <a:xfrm>
            <a:off x="5085349" y="3250531"/>
            <a:ext cx="1315453" cy="356937"/>
          </a:xfrm>
          <a:prstGeom prst="rightArrow">
            <a:avLst/>
          </a:prstGeom>
          <a:solidFill>
            <a:srgbClr val="0070C0"/>
          </a:solidFill>
          <a:ln>
            <a:solidFill>
              <a:srgbClr val="0070C0"/>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081129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pic>
        <p:nvPicPr>
          <p:cNvPr id="3" name="Picture 2">
            <a:extLst>
              <a:ext uri="{FF2B5EF4-FFF2-40B4-BE49-F238E27FC236}">
                <a16:creationId xmlns:a16="http://schemas.microsoft.com/office/drawing/2014/main" id="{6C2F65C0-893F-497D-D9CA-6CA47780A33F}"/>
              </a:ext>
            </a:extLst>
          </p:cNvPr>
          <p:cNvPicPr>
            <a:picLocks noChangeAspect="1"/>
          </p:cNvPicPr>
          <p:nvPr/>
        </p:nvPicPr>
        <p:blipFill>
          <a:blip r:embed="rId3"/>
          <a:stretch>
            <a:fillRect/>
          </a:stretch>
        </p:blipFill>
        <p:spPr>
          <a:xfrm>
            <a:off x="721895" y="818147"/>
            <a:ext cx="9801726" cy="5197642"/>
          </a:xfrm>
          <a:prstGeom prst="rect">
            <a:avLst/>
          </a:prstGeom>
        </p:spPr>
      </p:pic>
      <p:sp>
        <p:nvSpPr>
          <p:cNvPr id="5" name="TextBox 4">
            <a:extLst>
              <a:ext uri="{FF2B5EF4-FFF2-40B4-BE49-F238E27FC236}">
                <a16:creationId xmlns:a16="http://schemas.microsoft.com/office/drawing/2014/main" id="{DF636E90-8181-35D3-C5CA-43CA2C0F8034}"/>
              </a:ext>
            </a:extLst>
          </p:cNvPr>
          <p:cNvSpPr txBox="1"/>
          <p:nvPr/>
        </p:nvSpPr>
        <p:spPr>
          <a:xfrm>
            <a:off x="7106652" y="5372436"/>
            <a:ext cx="3416969" cy="369332"/>
          </a:xfrm>
          <a:prstGeom prst="rect">
            <a:avLst/>
          </a:prstGeom>
          <a:noFill/>
        </p:spPr>
        <p:txBody>
          <a:bodyPr wrap="square" rtlCol="0">
            <a:spAutoFit/>
          </a:bodyPr>
          <a:lstStyle/>
          <a:p>
            <a:r>
              <a:rPr lang="en-US" sz="1800" dirty="0">
                <a:solidFill>
                  <a:schemeClr val="accent1"/>
                </a:solidFill>
              </a:rPr>
              <a:t>Transitivity</a:t>
            </a:r>
            <a:r>
              <a:rPr lang="en-US" sz="1600" dirty="0">
                <a:solidFill>
                  <a:schemeClr val="accent1"/>
                </a:solidFill>
              </a:rPr>
              <a:t>?</a:t>
            </a:r>
            <a:endParaRPr lang="en-IN" sz="1600" dirty="0">
              <a:solidFill>
                <a:schemeClr val="accent1"/>
              </a:solidFill>
            </a:endParaRPr>
          </a:p>
        </p:txBody>
      </p:sp>
    </p:spTree>
    <p:extLst>
      <p:ext uri="{BB962C8B-B14F-4D97-AF65-F5344CB8AC3E}">
        <p14:creationId xmlns:p14="http://schemas.microsoft.com/office/powerpoint/2010/main" val="33216845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3-NF</a:t>
            </a:r>
            <a:endParaRPr b="1" dirty="0">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D23C81D3-562E-C9FB-27DA-4AE6C0C7280E}"/>
              </a:ext>
            </a:extLst>
          </p:cNvPr>
          <p:cNvSpPr txBox="1"/>
          <p:nvPr/>
        </p:nvSpPr>
        <p:spPr>
          <a:xfrm>
            <a:off x="1098884" y="5566611"/>
            <a:ext cx="9312443" cy="338554"/>
          </a:xfrm>
          <a:prstGeom prst="rect">
            <a:avLst/>
          </a:prstGeom>
          <a:noFill/>
        </p:spPr>
        <p:txBody>
          <a:bodyPr wrap="square" rtlCol="0">
            <a:spAutoFit/>
          </a:bodyPr>
          <a:lstStyle/>
          <a:p>
            <a:r>
              <a:rPr lang="en-US" sz="1600" b="1" dirty="0">
                <a:solidFill>
                  <a:schemeClr val="accent5"/>
                </a:solidFill>
              </a:rPr>
              <a:t>Student ID </a:t>
            </a:r>
            <a:r>
              <a:rPr lang="en-US" sz="1600" b="1" dirty="0">
                <a:solidFill>
                  <a:schemeClr val="accent5"/>
                </a:solidFill>
                <a:sym typeface="Wingdings" panose="05000000000000000000" pitchFamily="2" charset="2"/>
              </a:rPr>
              <a:t> Subject ID  Subject    --- Transitive Dependency</a:t>
            </a:r>
            <a:endParaRPr lang="en-US" sz="1600" b="1" dirty="0">
              <a:solidFill>
                <a:schemeClr val="accent5"/>
              </a:solidFill>
            </a:endParaRPr>
          </a:p>
        </p:txBody>
      </p:sp>
      <p:pic>
        <p:nvPicPr>
          <p:cNvPr id="4" name="Picture 3">
            <a:extLst>
              <a:ext uri="{FF2B5EF4-FFF2-40B4-BE49-F238E27FC236}">
                <a16:creationId xmlns:a16="http://schemas.microsoft.com/office/drawing/2014/main" id="{0B69C7E1-8930-579B-9A0D-338BCEEBF6F5}"/>
              </a:ext>
            </a:extLst>
          </p:cNvPr>
          <p:cNvPicPr>
            <a:picLocks noChangeAspect="1"/>
          </p:cNvPicPr>
          <p:nvPr/>
        </p:nvPicPr>
        <p:blipFill>
          <a:blip r:embed="rId3"/>
          <a:stretch>
            <a:fillRect/>
          </a:stretch>
        </p:blipFill>
        <p:spPr>
          <a:xfrm>
            <a:off x="689812" y="1523999"/>
            <a:ext cx="9962146" cy="3753853"/>
          </a:xfrm>
          <a:prstGeom prst="rect">
            <a:avLst/>
          </a:prstGeom>
        </p:spPr>
      </p:pic>
    </p:spTree>
    <p:extLst>
      <p:ext uri="{BB962C8B-B14F-4D97-AF65-F5344CB8AC3E}">
        <p14:creationId xmlns:p14="http://schemas.microsoft.com/office/powerpoint/2010/main" val="23954570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3-NF - Decomposition</a:t>
            </a:r>
            <a:endParaRPr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4BC33975-3B63-9D60-77DD-F5C48E3C0DCB}"/>
              </a:ext>
            </a:extLst>
          </p:cNvPr>
          <p:cNvPicPr>
            <a:picLocks noChangeAspect="1"/>
          </p:cNvPicPr>
          <p:nvPr/>
        </p:nvPicPr>
        <p:blipFill>
          <a:blip r:embed="rId3"/>
          <a:stretch>
            <a:fillRect/>
          </a:stretch>
        </p:blipFill>
        <p:spPr>
          <a:xfrm>
            <a:off x="641684" y="1235242"/>
            <a:ext cx="10515599" cy="5101390"/>
          </a:xfrm>
          <a:prstGeom prst="rect">
            <a:avLst/>
          </a:prstGeom>
        </p:spPr>
      </p:pic>
    </p:spTree>
    <p:extLst>
      <p:ext uri="{BB962C8B-B14F-4D97-AF65-F5344CB8AC3E}">
        <p14:creationId xmlns:p14="http://schemas.microsoft.com/office/powerpoint/2010/main" val="24622500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pic>
        <p:nvPicPr>
          <p:cNvPr id="4" name="Picture 3">
            <a:extLst>
              <a:ext uri="{FF2B5EF4-FFF2-40B4-BE49-F238E27FC236}">
                <a16:creationId xmlns:a16="http://schemas.microsoft.com/office/drawing/2014/main" id="{6ECBADF0-5B4A-D431-29D7-BEE2FC170DA1}"/>
              </a:ext>
            </a:extLst>
          </p:cNvPr>
          <p:cNvPicPr>
            <a:picLocks noChangeAspect="1"/>
          </p:cNvPicPr>
          <p:nvPr/>
        </p:nvPicPr>
        <p:blipFill>
          <a:blip r:embed="rId3"/>
          <a:stretch>
            <a:fillRect/>
          </a:stretch>
        </p:blipFill>
        <p:spPr>
          <a:xfrm>
            <a:off x="561474" y="577516"/>
            <a:ext cx="10555705" cy="5582652"/>
          </a:xfrm>
          <a:prstGeom prst="rect">
            <a:avLst/>
          </a:prstGeom>
        </p:spPr>
      </p:pic>
    </p:spTree>
    <p:extLst>
      <p:ext uri="{BB962C8B-B14F-4D97-AF65-F5344CB8AC3E}">
        <p14:creationId xmlns:p14="http://schemas.microsoft.com/office/powerpoint/2010/main" val="13297033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BCNF</a:t>
            </a:r>
            <a:endParaRPr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7BEF8F-88C2-C425-E45B-609545E2F85D}"/>
              </a:ext>
            </a:extLst>
          </p:cNvPr>
          <p:cNvPicPr>
            <a:picLocks noChangeAspect="1"/>
          </p:cNvPicPr>
          <p:nvPr/>
        </p:nvPicPr>
        <p:blipFill>
          <a:blip r:embed="rId3"/>
          <a:stretch>
            <a:fillRect/>
          </a:stretch>
        </p:blipFill>
        <p:spPr>
          <a:xfrm>
            <a:off x="673768" y="1251284"/>
            <a:ext cx="10515600" cy="3256547"/>
          </a:xfrm>
          <a:prstGeom prst="rect">
            <a:avLst/>
          </a:prstGeom>
        </p:spPr>
      </p:pic>
      <p:sp>
        <p:nvSpPr>
          <p:cNvPr id="7" name="TextBox 6">
            <a:extLst>
              <a:ext uri="{FF2B5EF4-FFF2-40B4-BE49-F238E27FC236}">
                <a16:creationId xmlns:a16="http://schemas.microsoft.com/office/drawing/2014/main" id="{1916FD8B-CD72-8FE9-76D7-F37F5C772FAE}"/>
              </a:ext>
            </a:extLst>
          </p:cNvPr>
          <p:cNvSpPr txBox="1"/>
          <p:nvPr/>
        </p:nvSpPr>
        <p:spPr>
          <a:xfrm>
            <a:off x="673768" y="4862791"/>
            <a:ext cx="9208168" cy="1323439"/>
          </a:xfrm>
          <a:prstGeom prst="rect">
            <a:avLst/>
          </a:prstGeom>
          <a:noFill/>
        </p:spPr>
        <p:txBody>
          <a:bodyPr wrap="square" rtlCol="0">
            <a:spAutoFit/>
          </a:bodyPr>
          <a:lstStyle/>
          <a:p>
            <a:r>
              <a:rPr lang="en-US" sz="1600" dirty="0"/>
              <a:t>One student can enroll for multiple subjects, there can be multiple professors teaching one subject, For each subject professor has been assigned to the student.</a:t>
            </a:r>
          </a:p>
          <a:p>
            <a:endParaRPr lang="en-US" sz="1600" dirty="0"/>
          </a:p>
          <a:p>
            <a:r>
              <a:rPr lang="en-US" sz="1600" dirty="0"/>
              <a:t>Student ID and Subject are the PA here and Professor is NPA.</a:t>
            </a:r>
          </a:p>
          <a:p>
            <a:r>
              <a:rPr lang="en-US" sz="1600" dirty="0"/>
              <a:t>Professor </a:t>
            </a:r>
            <a:r>
              <a:rPr lang="en-US" sz="1600" dirty="0">
                <a:sym typeface="Wingdings" panose="05000000000000000000" pitchFamily="2" charset="2"/>
              </a:rPr>
              <a:t> Subject – Clear cut case for BCNF</a:t>
            </a:r>
            <a:endParaRPr lang="en-IN" sz="1600" dirty="0"/>
          </a:p>
        </p:txBody>
      </p:sp>
    </p:spTree>
    <p:extLst>
      <p:ext uri="{BB962C8B-B14F-4D97-AF65-F5344CB8AC3E}">
        <p14:creationId xmlns:p14="http://schemas.microsoft.com/office/powerpoint/2010/main" val="13562557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BCNF - Decomposition</a:t>
            </a:r>
            <a:endParaRPr b="1" dirty="0">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685DB899-3A3B-3492-3591-4377F0DCEFC1}"/>
              </a:ext>
            </a:extLst>
          </p:cNvPr>
          <p:cNvPicPr>
            <a:picLocks noChangeAspect="1"/>
          </p:cNvPicPr>
          <p:nvPr/>
        </p:nvPicPr>
        <p:blipFill>
          <a:blip r:embed="rId3"/>
          <a:stretch>
            <a:fillRect/>
          </a:stretch>
        </p:blipFill>
        <p:spPr>
          <a:xfrm>
            <a:off x="858252" y="1395661"/>
            <a:ext cx="7405301" cy="4796591"/>
          </a:xfrm>
          <a:prstGeom prst="rect">
            <a:avLst/>
          </a:prstGeom>
        </p:spPr>
      </p:pic>
      <p:sp>
        <p:nvSpPr>
          <p:cNvPr id="5" name="TextBox 4">
            <a:extLst>
              <a:ext uri="{FF2B5EF4-FFF2-40B4-BE49-F238E27FC236}">
                <a16:creationId xmlns:a16="http://schemas.microsoft.com/office/drawing/2014/main" id="{322E3A9D-CEA2-F050-C7EF-1D7E593563CB}"/>
              </a:ext>
            </a:extLst>
          </p:cNvPr>
          <p:cNvSpPr txBox="1"/>
          <p:nvPr/>
        </p:nvSpPr>
        <p:spPr>
          <a:xfrm>
            <a:off x="8694821" y="1251284"/>
            <a:ext cx="2999874" cy="2970044"/>
          </a:xfrm>
          <a:prstGeom prst="rect">
            <a:avLst/>
          </a:prstGeom>
          <a:noFill/>
        </p:spPr>
        <p:txBody>
          <a:bodyPr wrap="square" rtlCol="0">
            <a:spAutoFit/>
          </a:bodyPr>
          <a:lstStyle/>
          <a:p>
            <a:r>
              <a:rPr lang="en-US" sz="1700" dirty="0">
                <a:solidFill>
                  <a:schemeClr val="accent1"/>
                </a:solidFill>
              </a:rPr>
              <a:t>Why we added new column as Professor ID?</a:t>
            </a:r>
          </a:p>
          <a:p>
            <a:endParaRPr lang="en-US" sz="1700" dirty="0">
              <a:solidFill>
                <a:schemeClr val="accent1"/>
              </a:solidFill>
            </a:endParaRPr>
          </a:p>
          <a:p>
            <a:pPr marL="342900" indent="-342900">
              <a:buAutoNum type="arabicPeriod"/>
            </a:pPr>
            <a:r>
              <a:rPr lang="en-US" sz="1700" dirty="0">
                <a:solidFill>
                  <a:schemeClr val="accent1"/>
                </a:solidFill>
              </a:rPr>
              <a:t>By doing this we are removing the NPA </a:t>
            </a:r>
            <a:r>
              <a:rPr lang="en-US" sz="1700" dirty="0">
                <a:solidFill>
                  <a:schemeClr val="accent1"/>
                </a:solidFill>
                <a:sym typeface="Wingdings" panose="05000000000000000000" pitchFamily="2" charset="2"/>
              </a:rPr>
              <a:t> PA dependency.</a:t>
            </a:r>
          </a:p>
          <a:p>
            <a:pPr marL="342900" indent="-342900">
              <a:buAutoNum type="arabicPeriod"/>
            </a:pPr>
            <a:r>
              <a:rPr lang="en-US" sz="1700" dirty="0">
                <a:solidFill>
                  <a:schemeClr val="accent1"/>
                </a:solidFill>
                <a:sym typeface="Wingdings" panose="05000000000000000000" pitchFamily="2" charset="2"/>
              </a:rPr>
              <a:t>Professor ID will be the primary key or super key for the second table for identifying the records uniquely.</a:t>
            </a:r>
            <a:endParaRPr lang="en-IN" sz="1700" dirty="0">
              <a:solidFill>
                <a:schemeClr val="accent1"/>
              </a:solidFill>
            </a:endParaRPr>
          </a:p>
        </p:txBody>
      </p:sp>
    </p:spTree>
    <p:extLst>
      <p:ext uri="{BB962C8B-B14F-4D97-AF65-F5344CB8AC3E}">
        <p14:creationId xmlns:p14="http://schemas.microsoft.com/office/powerpoint/2010/main" val="30954909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85"/>
          <p:cNvSpPr txBox="1">
            <a:spLocks noGrp="1"/>
          </p:cNvSpPr>
          <p:nvPr>
            <p:ph type="title"/>
          </p:nvPr>
        </p:nvSpPr>
        <p:spPr>
          <a:xfrm>
            <a:off x="838200" y="365125"/>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Normalization</a:t>
            </a:r>
            <a:endParaRPr b="1">
              <a:latin typeface="Times New Roman"/>
              <a:ea typeface="Times New Roman"/>
              <a:cs typeface="Times New Roman"/>
              <a:sym typeface="Times New Roman"/>
            </a:endParaRPr>
          </a:p>
        </p:txBody>
      </p:sp>
      <p:sp>
        <p:nvSpPr>
          <p:cNvPr id="783" name="Google Shape;783;p85"/>
          <p:cNvSpPr txBox="1">
            <a:spLocks noGrp="1"/>
          </p:cNvSpPr>
          <p:nvPr>
            <p:ph type="body" idx="1"/>
          </p:nvPr>
        </p:nvSpPr>
        <p:spPr>
          <a:xfrm>
            <a:off x="838200" y="1449238"/>
            <a:ext cx="10515600" cy="4727725"/>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400"/>
              <a:buChar char="•"/>
            </a:pPr>
            <a:r>
              <a:rPr lang="en-US" sz="2400" b="1" u="sng" dirty="0"/>
              <a:t>Tips and Tricks: </a:t>
            </a:r>
            <a:r>
              <a:rPr lang="en-US" sz="2400" dirty="0"/>
              <a:t>How to identify quickly that relation is in which form.</a:t>
            </a:r>
            <a:endParaRPr dirty="0"/>
          </a:p>
          <a:p>
            <a:pPr marL="228600" lvl="0" indent="-228600" algn="just" rtl="0">
              <a:lnSpc>
                <a:spcPct val="90000"/>
              </a:lnSpc>
              <a:spcBef>
                <a:spcPts val="1000"/>
              </a:spcBef>
              <a:spcAft>
                <a:spcPts val="0"/>
              </a:spcAft>
              <a:buClr>
                <a:schemeClr val="dk1"/>
              </a:buClr>
              <a:buSzPts val="2400"/>
              <a:buChar char="•"/>
            </a:pPr>
            <a:r>
              <a:rPr lang="en-US" sz="2400" dirty="0"/>
              <a:t>2NF (when is it not): if there is dependency from X -&gt; Y</a:t>
            </a:r>
            <a:endParaRPr dirty="0"/>
          </a:p>
          <a:p>
            <a:pPr marL="0" lvl="0" indent="0" algn="just" rtl="0">
              <a:lnSpc>
                <a:spcPct val="90000"/>
              </a:lnSpc>
              <a:spcBef>
                <a:spcPts val="1000"/>
              </a:spcBef>
              <a:spcAft>
                <a:spcPts val="0"/>
              </a:spcAft>
              <a:buClr>
                <a:schemeClr val="dk1"/>
              </a:buClr>
              <a:buSzPts val="2400"/>
              <a:buNone/>
            </a:pPr>
            <a:r>
              <a:rPr lang="en-US" sz="2400" dirty="0"/>
              <a:t>             </a:t>
            </a:r>
            <a:r>
              <a:rPr lang="en-US" sz="2400" dirty="0">
                <a:solidFill>
                  <a:srgbClr val="2E75B5"/>
                </a:solidFill>
              </a:rPr>
              <a:t>(X is a subset of candidate key  AND  Y is non-prime attribute) – then R is not 	in 2NF</a:t>
            </a:r>
            <a:endParaRPr dirty="0"/>
          </a:p>
          <a:p>
            <a:pPr marL="228600" lvl="0" indent="-228600" algn="just" rtl="0">
              <a:lnSpc>
                <a:spcPct val="90000"/>
              </a:lnSpc>
              <a:spcBef>
                <a:spcPts val="1000"/>
              </a:spcBef>
              <a:spcAft>
                <a:spcPts val="0"/>
              </a:spcAft>
              <a:buClr>
                <a:schemeClr val="dk1"/>
              </a:buClr>
              <a:buSzPts val="2400"/>
              <a:buChar char="•"/>
            </a:pPr>
            <a:r>
              <a:rPr lang="en-US" sz="2400" dirty="0"/>
              <a:t>3NF (when is it): if there is a dependency from X -&gt; Y</a:t>
            </a:r>
            <a:endParaRPr dirty="0"/>
          </a:p>
          <a:p>
            <a:pPr marL="0" lvl="0" indent="0" algn="just" rtl="0">
              <a:lnSpc>
                <a:spcPct val="90000"/>
              </a:lnSpc>
              <a:spcBef>
                <a:spcPts val="1000"/>
              </a:spcBef>
              <a:spcAft>
                <a:spcPts val="0"/>
              </a:spcAft>
              <a:buClr>
                <a:schemeClr val="dk1"/>
              </a:buClr>
              <a:buSzPts val="2400"/>
              <a:buNone/>
            </a:pPr>
            <a:r>
              <a:rPr lang="en-US" sz="2400" dirty="0"/>
              <a:t>	</a:t>
            </a:r>
            <a:r>
              <a:rPr lang="en-US" sz="2400" dirty="0">
                <a:solidFill>
                  <a:srgbClr val="2E75B5"/>
                </a:solidFill>
              </a:rPr>
              <a:t>(X is a super key or candidate key   OR  Y is a prime attribute)</a:t>
            </a:r>
            <a:endParaRPr dirty="0"/>
          </a:p>
          <a:p>
            <a:pPr marL="0" lvl="0" indent="0" algn="just" rtl="0">
              <a:lnSpc>
                <a:spcPct val="90000"/>
              </a:lnSpc>
              <a:spcBef>
                <a:spcPts val="1000"/>
              </a:spcBef>
              <a:spcAft>
                <a:spcPts val="0"/>
              </a:spcAft>
              <a:buClr>
                <a:srgbClr val="2E75B5"/>
              </a:buClr>
              <a:buSzPts val="2400"/>
              <a:buNone/>
            </a:pPr>
            <a:r>
              <a:rPr lang="en-US" sz="2400" dirty="0">
                <a:solidFill>
                  <a:srgbClr val="2E75B5"/>
                </a:solidFill>
              </a:rPr>
              <a:t>	(If all attributes comes out to be prime – R is in 3NF)</a:t>
            </a:r>
            <a:endParaRPr dirty="0"/>
          </a:p>
          <a:p>
            <a:pPr marL="0" lvl="0" indent="0" algn="just" rtl="0">
              <a:lnSpc>
                <a:spcPct val="90000"/>
              </a:lnSpc>
              <a:spcBef>
                <a:spcPts val="1000"/>
              </a:spcBef>
              <a:spcAft>
                <a:spcPts val="0"/>
              </a:spcAft>
              <a:buClr>
                <a:schemeClr val="dk1"/>
              </a:buClr>
              <a:buSzPts val="2400"/>
              <a:buNone/>
            </a:pPr>
            <a:endParaRPr sz="2400" dirty="0"/>
          </a:p>
          <a:p>
            <a:pPr marL="228600" lvl="0" indent="-228600" algn="just" rtl="0">
              <a:lnSpc>
                <a:spcPct val="90000"/>
              </a:lnSpc>
              <a:spcBef>
                <a:spcPts val="1000"/>
              </a:spcBef>
              <a:spcAft>
                <a:spcPts val="0"/>
              </a:spcAft>
              <a:buClr>
                <a:schemeClr val="dk1"/>
              </a:buClr>
              <a:buSzPts val="2400"/>
              <a:buChar char="•"/>
            </a:pPr>
            <a:r>
              <a:rPr lang="en-US" sz="2400" dirty="0"/>
              <a:t>BCNF (when is it): if there is a dependency from X -&gt; Y</a:t>
            </a:r>
            <a:endParaRPr dirty="0"/>
          </a:p>
          <a:p>
            <a:pPr marL="0" lvl="0" indent="0" algn="just" rtl="0">
              <a:lnSpc>
                <a:spcPct val="90000"/>
              </a:lnSpc>
              <a:spcBef>
                <a:spcPts val="1000"/>
              </a:spcBef>
              <a:spcAft>
                <a:spcPts val="0"/>
              </a:spcAft>
              <a:buClr>
                <a:schemeClr val="dk1"/>
              </a:buClr>
              <a:buSzPts val="2400"/>
              <a:buNone/>
            </a:pPr>
            <a:r>
              <a:rPr lang="en-US" sz="2400" dirty="0"/>
              <a:t>	</a:t>
            </a:r>
            <a:r>
              <a:rPr lang="en-US" sz="2400" dirty="0">
                <a:solidFill>
                  <a:srgbClr val="2E75B5"/>
                </a:solidFill>
              </a:rPr>
              <a:t>(X is super key or candidate key)</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3EE22-6785-52F1-61F6-573EC75AC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14EDD7-8926-5C68-61E3-D9C95AA3BB68}"/>
              </a:ext>
            </a:extLst>
          </p:cNvPr>
          <p:cNvSpPr>
            <a:spLocks noGrp="1"/>
          </p:cNvSpPr>
          <p:nvPr>
            <p:ph type="title"/>
          </p:nvPr>
        </p:nvSpPr>
        <p:spPr>
          <a:xfrm>
            <a:off x="438253" y="889057"/>
            <a:ext cx="11083266" cy="752475"/>
          </a:xfrm>
        </p:spPr>
        <p:txBody>
          <a:bodyPr>
            <a:normAutofit fontScale="90000"/>
          </a:bodyPr>
          <a:lstStyle/>
          <a:p>
            <a:r>
              <a:rPr lang="en-US" sz="3000" b="1" dirty="0">
                <a:latin typeface="Times New Roman" panose="02020603050405020304" pitchFamily="18" charset="0"/>
                <a:cs typeface="Times New Roman" panose="02020603050405020304" pitchFamily="18" charset="0"/>
              </a:rPr>
              <a:t>Views: Performance Benchmarking : Normal View vs. Materialized View</a:t>
            </a:r>
            <a:endParaRPr lang="en-IN" sz="3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085CE91-97C4-A05A-6B48-92F06C799235}"/>
              </a:ext>
            </a:extLst>
          </p:cNvPr>
          <p:cNvSpPr txBox="1"/>
          <p:nvPr/>
        </p:nvSpPr>
        <p:spPr>
          <a:xfrm>
            <a:off x="901700" y="2394007"/>
            <a:ext cx="10388600" cy="2585323"/>
          </a:xfrm>
          <a:prstGeom prst="rect">
            <a:avLst/>
          </a:prstGeom>
          <a:noFill/>
        </p:spPr>
        <p:txBody>
          <a:bodyPr wrap="square" rtlCol="0">
            <a:spAutoFit/>
          </a:bodyPr>
          <a:lstStyle/>
          <a:p>
            <a:r>
              <a:rPr lang="en-US" dirty="0"/>
              <a:t>1. Create a large dataset: </a:t>
            </a:r>
          </a:p>
          <a:p>
            <a:r>
              <a:rPr lang="en-US" dirty="0"/>
              <a:t>   - Create a table names </a:t>
            </a:r>
            <a:r>
              <a:rPr lang="en-US" dirty="0" err="1"/>
              <a:t>transaction_data</a:t>
            </a:r>
            <a:r>
              <a:rPr lang="en-US" dirty="0"/>
              <a:t> (id , value) with 1 million records.</a:t>
            </a:r>
          </a:p>
          <a:p>
            <a:r>
              <a:rPr lang="en-US" dirty="0"/>
              <a:t>	- take id 1 and 2, and for each id, generate 1 million records in value column</a:t>
            </a:r>
          </a:p>
          <a:p>
            <a:r>
              <a:rPr lang="en-US" dirty="0"/>
              <a:t>   - Use </a:t>
            </a:r>
            <a:r>
              <a:rPr lang="en-US" dirty="0" err="1"/>
              <a:t>Generate_series</a:t>
            </a:r>
            <a:r>
              <a:rPr lang="en-US" dirty="0"/>
              <a:t> () and random() to populate the data.</a:t>
            </a:r>
            <a:br>
              <a:rPr lang="en-US" dirty="0"/>
            </a:br>
            <a:endParaRPr lang="en-US" dirty="0"/>
          </a:p>
          <a:p>
            <a:r>
              <a:rPr lang="en-US" dirty="0"/>
              <a:t>2. Create a normal view and materialized view to for </a:t>
            </a:r>
            <a:r>
              <a:rPr lang="en-US" dirty="0" err="1"/>
              <a:t>sales_summary</a:t>
            </a:r>
            <a:r>
              <a:rPr lang="en-US" dirty="0"/>
              <a:t>, which includes </a:t>
            </a:r>
            <a:r>
              <a:rPr lang="en-US" dirty="0" err="1"/>
              <a:t>total_quantity_sold</a:t>
            </a:r>
            <a:r>
              <a:rPr lang="en-US" dirty="0"/>
              <a:t>, </a:t>
            </a:r>
            <a:r>
              <a:rPr lang="en-US" dirty="0" err="1"/>
              <a:t>total_sales</a:t>
            </a:r>
            <a:r>
              <a:rPr lang="en-US" dirty="0"/>
              <a:t>, and </a:t>
            </a:r>
            <a:r>
              <a:rPr lang="en-US" dirty="0" err="1"/>
              <a:t>total_orders</a:t>
            </a:r>
            <a:r>
              <a:rPr lang="en-US" dirty="0"/>
              <a:t> with aggregation.</a:t>
            </a:r>
            <a:br>
              <a:rPr lang="en-US" dirty="0"/>
            </a:br>
            <a:br>
              <a:rPr lang="en-US" dirty="0"/>
            </a:br>
            <a:r>
              <a:rPr lang="en-US" dirty="0"/>
              <a:t>3. Compare the performance and execution time of both.</a:t>
            </a:r>
          </a:p>
        </p:txBody>
      </p:sp>
      <p:sp>
        <p:nvSpPr>
          <p:cNvPr id="4" name="Title 1">
            <a:extLst>
              <a:ext uri="{FF2B5EF4-FFF2-40B4-BE49-F238E27FC236}">
                <a16:creationId xmlns:a16="http://schemas.microsoft.com/office/drawing/2014/main" id="{693FEF86-D919-1D0E-0CAB-B722ABCCD7E6}"/>
              </a:ext>
            </a:extLst>
          </p:cNvPr>
          <p:cNvSpPr txBox="1">
            <a:spLocks/>
          </p:cNvSpPr>
          <p:nvPr/>
        </p:nvSpPr>
        <p:spPr>
          <a:xfrm>
            <a:off x="4463143" y="1641532"/>
            <a:ext cx="1516743" cy="47642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300" b="1" dirty="0">
                <a:latin typeface="Times New Roman" panose="02020603050405020304" pitchFamily="18" charset="0"/>
                <a:cs typeface="Times New Roman" panose="02020603050405020304" pitchFamily="18" charset="0"/>
              </a:rPr>
              <a:t>(Medium)</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0183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D32C3-92FE-6230-C3FD-BCEA29808B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326AC-0211-71CA-2B15-575C63981E45}"/>
              </a:ext>
            </a:extLst>
          </p:cNvPr>
          <p:cNvSpPr>
            <a:spLocks noGrp="1"/>
          </p:cNvSpPr>
          <p:nvPr>
            <p:ph type="title"/>
          </p:nvPr>
        </p:nvSpPr>
        <p:spPr>
          <a:xfrm>
            <a:off x="838200" y="701679"/>
            <a:ext cx="10515600" cy="752475"/>
          </a:xfrm>
        </p:spPr>
        <p:txBody>
          <a:bodyPr>
            <a:normAutofit fontScale="90000"/>
          </a:bodyPr>
          <a:lstStyle/>
          <a:p>
            <a:r>
              <a:rPr lang="en-US" sz="3000" b="1" dirty="0">
                <a:latin typeface="Times New Roman" panose="02020603050405020304" pitchFamily="18" charset="0"/>
                <a:cs typeface="Times New Roman" panose="02020603050405020304" pitchFamily="18" charset="0"/>
              </a:rPr>
              <a:t>Views: Securing Data Access with Views and Role-Based Permissions</a:t>
            </a:r>
            <a:endParaRPr lang="en-IN" sz="3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462E0F7-9392-84CC-165A-460B4FC48E17}"/>
              </a:ext>
            </a:extLst>
          </p:cNvPr>
          <p:cNvSpPr txBox="1"/>
          <p:nvPr/>
        </p:nvSpPr>
        <p:spPr>
          <a:xfrm>
            <a:off x="838200" y="2017769"/>
            <a:ext cx="10388600" cy="2308324"/>
          </a:xfrm>
          <a:prstGeom prst="rect">
            <a:avLst/>
          </a:prstGeom>
          <a:noFill/>
        </p:spPr>
        <p:txBody>
          <a:bodyPr wrap="square" rtlCol="0">
            <a:spAutoFit/>
          </a:bodyPr>
          <a:lstStyle/>
          <a:p>
            <a:r>
              <a:rPr lang="en-US" dirty="0"/>
              <a:t>The company </a:t>
            </a:r>
            <a:r>
              <a:rPr lang="en-US" b="1" dirty="0" err="1"/>
              <a:t>TechMart</a:t>
            </a:r>
            <a:r>
              <a:rPr lang="en-US" b="1" dirty="0"/>
              <a:t> Solutions</a:t>
            </a:r>
            <a:r>
              <a:rPr lang="en-US" dirty="0"/>
              <a:t> stores all sales transactions in a central database.</a:t>
            </a:r>
            <a:br>
              <a:rPr lang="en-US" dirty="0"/>
            </a:br>
            <a:r>
              <a:rPr lang="en-US" dirty="0"/>
              <a:t>A new reporting team has been formed to analyze sales but </a:t>
            </a:r>
            <a:r>
              <a:rPr lang="en-US" b="1" dirty="0"/>
              <a:t>they should not have direct access to the base tables</a:t>
            </a:r>
            <a:r>
              <a:rPr lang="en-US" dirty="0"/>
              <a:t> for security reasons.</a:t>
            </a:r>
            <a:br>
              <a:rPr lang="en-US" dirty="0"/>
            </a:br>
            <a:r>
              <a:rPr lang="en-US" dirty="0"/>
              <a:t>The database administrator has decided to:</a:t>
            </a:r>
          </a:p>
          <a:p>
            <a:endParaRPr lang="en-US" dirty="0"/>
          </a:p>
          <a:p>
            <a:pPr marL="342900" indent="-342900">
              <a:buAutoNum type="arabicPeriod"/>
            </a:pPr>
            <a:r>
              <a:rPr lang="en-US" dirty="0"/>
              <a:t>Create </a:t>
            </a:r>
            <a:r>
              <a:rPr lang="en-US" b="1" dirty="0"/>
              <a:t>restricted views</a:t>
            </a:r>
            <a:r>
              <a:rPr lang="en-US" dirty="0"/>
              <a:t> to display only summarized, non-sensitive data.</a:t>
            </a:r>
          </a:p>
          <a:p>
            <a:pPr marL="342900" indent="-342900">
              <a:buAutoNum type="arabicPeriod"/>
            </a:pPr>
            <a:endParaRPr lang="en-US" dirty="0"/>
          </a:p>
          <a:p>
            <a:r>
              <a:rPr lang="en-US" dirty="0"/>
              <a:t>2. Assign access to these views to specific users using </a:t>
            </a:r>
            <a:r>
              <a:rPr lang="en-US" b="1" dirty="0"/>
              <a:t>DCL commands</a:t>
            </a:r>
            <a:r>
              <a:rPr lang="en-US" dirty="0"/>
              <a:t> (GRANT, REVOKE).</a:t>
            </a:r>
          </a:p>
        </p:txBody>
      </p:sp>
      <p:sp>
        <p:nvSpPr>
          <p:cNvPr id="6" name="Title 1">
            <a:extLst>
              <a:ext uri="{FF2B5EF4-FFF2-40B4-BE49-F238E27FC236}">
                <a16:creationId xmlns:a16="http://schemas.microsoft.com/office/drawing/2014/main" id="{0E6EFF4D-DC2C-4E54-7FAD-A2B6CDC2F358}"/>
              </a:ext>
            </a:extLst>
          </p:cNvPr>
          <p:cNvSpPr txBox="1">
            <a:spLocks/>
          </p:cNvSpPr>
          <p:nvPr/>
        </p:nvSpPr>
        <p:spPr>
          <a:xfrm>
            <a:off x="4898572" y="1259541"/>
            <a:ext cx="1516743" cy="47642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300" b="1" dirty="0">
                <a:latin typeface="Times New Roman" panose="02020603050405020304" pitchFamily="18" charset="0"/>
                <a:cs typeface="Times New Roman" panose="02020603050405020304" pitchFamily="18" charset="0"/>
              </a:rPr>
              <a:t>(Hard)</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06742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81">
          <a:extLst>
            <a:ext uri="{FF2B5EF4-FFF2-40B4-BE49-F238E27FC236}">
              <a16:creationId xmlns:a16="http://schemas.microsoft.com/office/drawing/2014/main" id="{E08B627A-C928-804A-1563-9E541D70CC0C}"/>
            </a:ext>
          </a:extLst>
        </p:cNvPr>
        <p:cNvGrpSpPr/>
        <p:nvPr/>
      </p:nvGrpSpPr>
      <p:grpSpPr>
        <a:xfrm>
          <a:off x="0" y="0"/>
          <a:ext cx="0" cy="0"/>
          <a:chOff x="0" y="0"/>
          <a:chExt cx="0" cy="0"/>
        </a:xfrm>
      </p:grpSpPr>
      <p:sp>
        <p:nvSpPr>
          <p:cNvPr id="782" name="Google Shape;782;p85">
            <a:extLst>
              <a:ext uri="{FF2B5EF4-FFF2-40B4-BE49-F238E27FC236}">
                <a16:creationId xmlns:a16="http://schemas.microsoft.com/office/drawing/2014/main" id="{DC880ABC-1297-891B-ABF5-819A28229A2C}"/>
              </a:ext>
            </a:extLst>
          </p:cNvPr>
          <p:cNvSpPr txBox="1">
            <a:spLocks noGrp="1"/>
          </p:cNvSpPr>
          <p:nvPr>
            <p:ph type="title"/>
          </p:nvPr>
        </p:nvSpPr>
        <p:spPr>
          <a:xfrm>
            <a:off x="2156953" y="811642"/>
            <a:ext cx="7400002" cy="6020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sz="3500" b="1" dirty="0">
                <a:latin typeface="Times New Roman"/>
                <a:ea typeface="Times New Roman"/>
                <a:cs typeface="Times New Roman"/>
                <a:sym typeface="Times New Roman"/>
              </a:rPr>
              <a:t>Normal View vs Materialized View</a:t>
            </a:r>
            <a:endParaRPr sz="3500" b="1" dirty="0">
              <a:latin typeface="Times New Roman"/>
              <a:ea typeface="Times New Roman"/>
              <a:cs typeface="Times New Roman"/>
              <a:sym typeface="Times New Roman"/>
            </a:endParaRPr>
          </a:p>
        </p:txBody>
      </p:sp>
      <p:graphicFrame>
        <p:nvGraphicFramePr>
          <p:cNvPr id="2" name="Table 1">
            <a:extLst>
              <a:ext uri="{FF2B5EF4-FFF2-40B4-BE49-F238E27FC236}">
                <a16:creationId xmlns:a16="http://schemas.microsoft.com/office/drawing/2014/main" id="{3CB2A97F-B5A0-D86E-D29C-DF0C061A9C96}"/>
              </a:ext>
            </a:extLst>
          </p:cNvPr>
          <p:cNvGraphicFramePr>
            <a:graphicFrameLocks noGrp="1"/>
          </p:cNvGraphicFramePr>
          <p:nvPr>
            <p:extLst>
              <p:ext uri="{D42A27DB-BD31-4B8C-83A1-F6EECF244321}">
                <p14:modId xmlns:p14="http://schemas.microsoft.com/office/powerpoint/2010/main" val="655837467"/>
              </p:ext>
            </p:extLst>
          </p:nvPr>
        </p:nvGraphicFramePr>
        <p:xfrm>
          <a:off x="766916" y="1963419"/>
          <a:ext cx="10515600" cy="4082939"/>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879323471"/>
                    </a:ext>
                  </a:extLst>
                </a:gridCol>
                <a:gridCol w="3505200">
                  <a:extLst>
                    <a:ext uri="{9D8B030D-6E8A-4147-A177-3AD203B41FA5}">
                      <a16:colId xmlns:a16="http://schemas.microsoft.com/office/drawing/2014/main" val="3389911203"/>
                    </a:ext>
                  </a:extLst>
                </a:gridCol>
                <a:gridCol w="3505200">
                  <a:extLst>
                    <a:ext uri="{9D8B030D-6E8A-4147-A177-3AD203B41FA5}">
                      <a16:colId xmlns:a16="http://schemas.microsoft.com/office/drawing/2014/main" val="3562326827"/>
                    </a:ext>
                  </a:extLst>
                </a:gridCol>
              </a:tblGrid>
              <a:tr h="516559">
                <a:tc>
                  <a:txBody>
                    <a:bodyPr/>
                    <a:lstStyle/>
                    <a:p>
                      <a:pPr algn="ctr">
                        <a:buNone/>
                      </a:pPr>
                      <a:r>
                        <a:rPr lang="en-IN" sz="1900" b="1" dirty="0"/>
                        <a:t>Feature</a:t>
                      </a:r>
                      <a:endParaRPr lang="en-IN" sz="1900" dirty="0"/>
                    </a:p>
                  </a:txBody>
                  <a:tcPr anchor="ctr"/>
                </a:tc>
                <a:tc>
                  <a:txBody>
                    <a:bodyPr/>
                    <a:lstStyle/>
                    <a:p>
                      <a:pPr algn="ctr">
                        <a:buNone/>
                      </a:pPr>
                      <a:r>
                        <a:rPr lang="en-IN" sz="1900" b="1" dirty="0"/>
                        <a:t>Normal View</a:t>
                      </a:r>
                      <a:endParaRPr lang="en-IN" sz="1900" dirty="0"/>
                    </a:p>
                  </a:txBody>
                  <a:tcPr anchor="ctr"/>
                </a:tc>
                <a:tc>
                  <a:txBody>
                    <a:bodyPr/>
                    <a:lstStyle/>
                    <a:p>
                      <a:pPr algn="ctr">
                        <a:buNone/>
                      </a:pPr>
                      <a:r>
                        <a:rPr lang="en-IN" sz="1900" b="1"/>
                        <a:t>Materialized View</a:t>
                      </a:r>
                      <a:endParaRPr lang="en-IN" sz="1900"/>
                    </a:p>
                  </a:txBody>
                  <a:tcPr anchor="ctr"/>
                </a:tc>
                <a:extLst>
                  <a:ext uri="{0D108BD9-81ED-4DB2-BD59-A6C34878D82A}">
                    <a16:rowId xmlns:a16="http://schemas.microsoft.com/office/drawing/2014/main" val="1155452800"/>
                  </a:ext>
                </a:extLst>
              </a:tr>
              <a:tr h="891595">
                <a:tc>
                  <a:txBody>
                    <a:bodyPr/>
                    <a:lstStyle/>
                    <a:p>
                      <a:pPr algn="ctr">
                        <a:buNone/>
                      </a:pPr>
                      <a:r>
                        <a:rPr lang="en-IN" sz="1900" b="1" dirty="0"/>
                        <a:t>Storage</a:t>
                      </a:r>
                      <a:endParaRPr lang="en-IN" sz="1900" dirty="0"/>
                    </a:p>
                  </a:txBody>
                  <a:tcPr anchor="ctr"/>
                </a:tc>
                <a:tc>
                  <a:txBody>
                    <a:bodyPr/>
                    <a:lstStyle/>
                    <a:p>
                      <a:pPr algn="ctr">
                        <a:buNone/>
                      </a:pPr>
                      <a:r>
                        <a:rPr lang="en-IN" sz="1900" dirty="0"/>
                        <a:t>No storage, computed on-the-fly</a:t>
                      </a:r>
                    </a:p>
                  </a:txBody>
                  <a:tcPr anchor="ctr"/>
                </a:tc>
                <a:tc>
                  <a:txBody>
                    <a:bodyPr/>
                    <a:lstStyle/>
                    <a:p>
                      <a:pPr algn="ctr">
                        <a:buNone/>
                      </a:pPr>
                      <a:r>
                        <a:rPr lang="en-US" sz="1900"/>
                        <a:t>Stores the result physically on disk</a:t>
                      </a:r>
                    </a:p>
                  </a:txBody>
                  <a:tcPr anchor="ctr"/>
                </a:tc>
                <a:extLst>
                  <a:ext uri="{0D108BD9-81ED-4DB2-BD59-A6C34878D82A}">
                    <a16:rowId xmlns:a16="http://schemas.microsoft.com/office/drawing/2014/main" val="1058046285"/>
                  </a:ext>
                </a:extLst>
              </a:tr>
              <a:tr h="891595">
                <a:tc>
                  <a:txBody>
                    <a:bodyPr/>
                    <a:lstStyle/>
                    <a:p>
                      <a:pPr algn="ctr">
                        <a:buNone/>
                      </a:pPr>
                      <a:r>
                        <a:rPr lang="en-IN" sz="1900" b="1" dirty="0"/>
                        <a:t>Query Execution</a:t>
                      </a:r>
                      <a:endParaRPr lang="en-IN" sz="1900" dirty="0"/>
                    </a:p>
                  </a:txBody>
                  <a:tcPr anchor="ctr"/>
                </a:tc>
                <a:tc>
                  <a:txBody>
                    <a:bodyPr/>
                    <a:lstStyle/>
                    <a:p>
                      <a:pPr algn="ctr">
                        <a:buNone/>
                      </a:pPr>
                      <a:r>
                        <a:rPr lang="en-IN" sz="1900" dirty="0"/>
                        <a:t>Slow for complex queries</a:t>
                      </a:r>
                    </a:p>
                  </a:txBody>
                  <a:tcPr anchor="ctr"/>
                </a:tc>
                <a:tc>
                  <a:txBody>
                    <a:bodyPr/>
                    <a:lstStyle/>
                    <a:p>
                      <a:pPr algn="ctr">
                        <a:buNone/>
                      </a:pPr>
                      <a:r>
                        <a:rPr lang="en-US" sz="1900"/>
                        <a:t>Fast, because data is precomputed</a:t>
                      </a:r>
                    </a:p>
                  </a:txBody>
                  <a:tcPr anchor="ctr"/>
                </a:tc>
                <a:extLst>
                  <a:ext uri="{0D108BD9-81ED-4DB2-BD59-A6C34878D82A}">
                    <a16:rowId xmlns:a16="http://schemas.microsoft.com/office/drawing/2014/main" val="3175244270"/>
                  </a:ext>
                </a:extLst>
              </a:tr>
              <a:tr h="891595">
                <a:tc>
                  <a:txBody>
                    <a:bodyPr/>
                    <a:lstStyle/>
                    <a:p>
                      <a:pPr algn="ctr">
                        <a:buNone/>
                      </a:pPr>
                      <a:r>
                        <a:rPr lang="en-IN" sz="1900" b="1" dirty="0"/>
                        <a:t>Always Up-to-date</a:t>
                      </a:r>
                      <a:endParaRPr lang="en-IN" sz="1900" dirty="0"/>
                    </a:p>
                  </a:txBody>
                  <a:tcPr anchor="ctr"/>
                </a:tc>
                <a:tc>
                  <a:txBody>
                    <a:bodyPr/>
                    <a:lstStyle/>
                    <a:p>
                      <a:pPr algn="ctr">
                        <a:buNone/>
                      </a:pPr>
                      <a:r>
                        <a:rPr lang="en-US" sz="1900" dirty="0"/>
                        <a:t>Yes, reflects latest table data</a:t>
                      </a:r>
                    </a:p>
                  </a:txBody>
                  <a:tcPr anchor="ctr"/>
                </a:tc>
                <a:tc>
                  <a:txBody>
                    <a:bodyPr/>
                    <a:lstStyle/>
                    <a:p>
                      <a:pPr algn="ctr">
                        <a:buNone/>
                      </a:pPr>
                      <a:r>
                        <a:rPr lang="en-US" sz="1900"/>
                        <a:t>No, needs </a:t>
                      </a:r>
                      <a:r>
                        <a:rPr lang="en-US" sz="1900">
                          <a:latin typeface="Courier New" panose="02070309020205020404" pitchFamily="49" charset="0"/>
                        </a:rPr>
                        <a:t>REFRESH</a:t>
                      </a:r>
                      <a:r>
                        <a:rPr lang="en-US" sz="1900"/>
                        <a:t> to update</a:t>
                      </a:r>
                    </a:p>
                  </a:txBody>
                  <a:tcPr anchor="ctr"/>
                </a:tc>
                <a:extLst>
                  <a:ext uri="{0D108BD9-81ED-4DB2-BD59-A6C34878D82A}">
                    <a16:rowId xmlns:a16="http://schemas.microsoft.com/office/drawing/2014/main" val="1329782887"/>
                  </a:ext>
                </a:extLst>
              </a:tr>
              <a:tr h="891595">
                <a:tc>
                  <a:txBody>
                    <a:bodyPr/>
                    <a:lstStyle/>
                    <a:p>
                      <a:pPr algn="ctr">
                        <a:buNone/>
                      </a:pPr>
                      <a:r>
                        <a:rPr lang="en-IN" sz="1900" b="1" dirty="0"/>
                        <a:t>Use Case</a:t>
                      </a:r>
                      <a:endParaRPr lang="en-IN" sz="1900" dirty="0"/>
                    </a:p>
                  </a:txBody>
                  <a:tcPr anchor="ctr"/>
                </a:tc>
                <a:tc>
                  <a:txBody>
                    <a:bodyPr/>
                    <a:lstStyle/>
                    <a:p>
                      <a:pPr algn="ctr">
                        <a:buNone/>
                      </a:pPr>
                      <a:r>
                        <a:rPr lang="en-IN" sz="1900" dirty="0"/>
                        <a:t>Lightweight queries</a:t>
                      </a:r>
                    </a:p>
                  </a:txBody>
                  <a:tcPr anchor="ctr"/>
                </a:tc>
                <a:tc>
                  <a:txBody>
                    <a:bodyPr/>
                    <a:lstStyle/>
                    <a:p>
                      <a:pPr algn="ctr">
                        <a:buNone/>
                      </a:pPr>
                      <a:r>
                        <a:rPr lang="en-IN" sz="1900" dirty="0"/>
                        <a:t>Heavy aggregations, analytics, dashboards</a:t>
                      </a:r>
                    </a:p>
                  </a:txBody>
                  <a:tcPr anchor="ctr"/>
                </a:tc>
                <a:extLst>
                  <a:ext uri="{0D108BD9-81ED-4DB2-BD59-A6C34878D82A}">
                    <a16:rowId xmlns:a16="http://schemas.microsoft.com/office/drawing/2014/main" val="2432086218"/>
                  </a:ext>
                </a:extLst>
              </a:tr>
            </a:tbl>
          </a:graphicData>
        </a:graphic>
      </p:graphicFrame>
    </p:spTree>
    <p:extLst>
      <p:ext uri="{BB962C8B-B14F-4D97-AF65-F5344CB8AC3E}">
        <p14:creationId xmlns:p14="http://schemas.microsoft.com/office/powerpoint/2010/main" val="38540585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C917-559B-B90A-7A23-D230C716529C}"/>
              </a:ext>
            </a:extLst>
          </p:cNvPr>
          <p:cNvSpPr>
            <a:spLocks noGrp="1"/>
          </p:cNvSpPr>
          <p:nvPr>
            <p:ph type="title"/>
          </p:nvPr>
        </p:nvSpPr>
        <p:spPr>
          <a:xfrm>
            <a:off x="838200" y="687545"/>
            <a:ext cx="10515600" cy="726256"/>
          </a:xfrm>
        </p:spPr>
        <p:txBody>
          <a:bodyPr/>
          <a:lstStyle/>
          <a:p>
            <a:r>
              <a:rPr lang="en-US" b="1" dirty="0">
                <a:latin typeface="Times New Roman" panose="02020603050405020304" pitchFamily="18" charset="0"/>
                <a:cs typeface="Times New Roman" panose="02020603050405020304" pitchFamily="18" charset="0"/>
              </a:rPr>
              <a:t>When to go for Materialized Views?</a:t>
            </a:r>
            <a:endParaRPr lang="en-IN" b="1" dirty="0">
              <a:latin typeface="Times New Roman" panose="02020603050405020304" pitchFamily="18" charset="0"/>
              <a:cs typeface="Times New Roman" panose="02020603050405020304" pitchFamily="18" charset="0"/>
            </a:endParaRPr>
          </a:p>
        </p:txBody>
      </p:sp>
      <p:sp>
        <p:nvSpPr>
          <p:cNvPr id="783" name="Google Shape;783;p85">
            <a:extLst>
              <a:ext uri="{FF2B5EF4-FFF2-40B4-BE49-F238E27FC236}">
                <a16:creationId xmlns:a16="http://schemas.microsoft.com/office/drawing/2014/main" id="{A5F6B374-D22D-540C-CCE2-744B385DA5E8}"/>
              </a:ext>
            </a:extLst>
          </p:cNvPr>
          <p:cNvSpPr txBox="1">
            <a:spLocks/>
          </p:cNvSpPr>
          <p:nvPr/>
        </p:nvSpPr>
        <p:spPr>
          <a:xfrm>
            <a:off x="693174" y="1442730"/>
            <a:ext cx="9999406" cy="4727725"/>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Analytics Dashboards / BI Reports</a:t>
            </a:r>
            <a:endParaRPr lang="en-US" sz="2000" dirty="0"/>
          </a:p>
          <a:p>
            <a:pPr lvl="1"/>
            <a:r>
              <a:rPr lang="en-US" sz="2000" dirty="0"/>
              <a:t>Example: Sales dashboard showing total sales by product/category.</a:t>
            </a:r>
          </a:p>
          <a:p>
            <a:pPr lvl="1"/>
            <a:r>
              <a:rPr lang="en-US" sz="2000" dirty="0"/>
              <a:t>Data refresh interval: nightly, hourly, or on-demand.</a:t>
            </a:r>
          </a:p>
          <a:p>
            <a:pPr lvl="1"/>
            <a:r>
              <a:rPr lang="en-US" sz="2000" dirty="0"/>
              <a:t>Why: Aggregations like SUM, AVG on millions of rows are expensive to compute every request.</a:t>
            </a:r>
          </a:p>
          <a:p>
            <a:r>
              <a:rPr lang="en-US" sz="2000" b="1" dirty="0"/>
              <a:t>Caching Frequently Accessed Data</a:t>
            </a:r>
            <a:endParaRPr lang="en-US" sz="2000" dirty="0"/>
          </a:p>
          <a:p>
            <a:pPr lvl="1"/>
            <a:r>
              <a:rPr lang="en-US" sz="2000" dirty="0"/>
              <a:t>Example: Leaderboard for a gaming app or trending posts in a social media app.</a:t>
            </a:r>
          </a:p>
          <a:p>
            <a:pPr lvl="1"/>
            <a:r>
              <a:rPr lang="en-US" sz="2000" dirty="0"/>
              <a:t>Refresh periodically (e.g., every 10 minutes) instead of recomputing every time.</a:t>
            </a:r>
          </a:p>
          <a:p>
            <a:r>
              <a:rPr lang="en-US" sz="2000" b="1" dirty="0"/>
              <a:t>Complex Joins or Aggregations</a:t>
            </a:r>
            <a:endParaRPr lang="en-US" sz="2000" dirty="0"/>
          </a:p>
          <a:p>
            <a:pPr lvl="1"/>
            <a:r>
              <a:rPr lang="en-US" sz="2000" dirty="0"/>
              <a:t>Example: Multiple large tables joined with filters for reporting.</a:t>
            </a:r>
          </a:p>
          <a:p>
            <a:pPr lvl="1"/>
            <a:r>
              <a:rPr lang="en-US" sz="2000" dirty="0"/>
              <a:t>Materialized view stores </a:t>
            </a:r>
            <a:r>
              <a:rPr lang="en-US" sz="2000" b="1" dirty="0"/>
              <a:t>precomputed results</a:t>
            </a:r>
            <a:r>
              <a:rPr lang="en-US" sz="2000" dirty="0"/>
              <a:t>, speeding up front-end API calls.</a:t>
            </a:r>
          </a:p>
          <a:p>
            <a:r>
              <a:rPr lang="en-US" sz="2000" b="1" dirty="0"/>
              <a:t>ETL / Data Warehousing</a:t>
            </a:r>
            <a:endParaRPr lang="en-US" sz="2000" dirty="0"/>
          </a:p>
          <a:p>
            <a:pPr lvl="1"/>
            <a:r>
              <a:rPr lang="en-US" sz="2000" dirty="0"/>
              <a:t>Precompute summary tables for faster downstream analytics.</a:t>
            </a:r>
          </a:p>
          <a:p>
            <a:pPr lvl="1"/>
            <a:r>
              <a:rPr lang="en-US" sz="2000" dirty="0"/>
              <a:t>Refresh after batch data load.</a:t>
            </a:r>
          </a:p>
          <a:p>
            <a:pPr marL="0" indent="0" algn="just">
              <a:spcBef>
                <a:spcPts val="0"/>
              </a:spcBef>
              <a:buClr>
                <a:schemeClr val="dk1"/>
              </a:buClr>
              <a:buSzPts val="2400"/>
              <a:buFont typeface="Arial" panose="020B0604020202020204" pitchFamily="34" charset="0"/>
              <a:buNone/>
            </a:pPr>
            <a:endParaRPr lang="en-US" sz="2000" dirty="0"/>
          </a:p>
        </p:txBody>
      </p:sp>
    </p:spTree>
    <p:extLst>
      <p:ext uri="{BB962C8B-B14F-4D97-AF65-F5344CB8AC3E}">
        <p14:creationId xmlns:p14="http://schemas.microsoft.com/office/powerpoint/2010/main" val="40591606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8B95A-5556-26FD-D7F0-74A834746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591F93-BB8E-3056-63AC-011D2459D36C}"/>
              </a:ext>
            </a:extLst>
          </p:cNvPr>
          <p:cNvSpPr>
            <a:spLocks noGrp="1"/>
          </p:cNvSpPr>
          <p:nvPr>
            <p:ph type="title"/>
          </p:nvPr>
        </p:nvSpPr>
        <p:spPr>
          <a:xfrm>
            <a:off x="304197" y="645446"/>
            <a:ext cx="10515600" cy="752475"/>
          </a:xfrm>
        </p:spPr>
        <p:txBody>
          <a:bodyPr>
            <a:normAutofit/>
          </a:bodyPr>
          <a:lstStyle/>
          <a:p>
            <a:pPr algn="ctr"/>
            <a:r>
              <a:rPr lang="en-US" sz="2400" b="1" dirty="0">
                <a:latin typeface="Times New Roman" panose="02020603050405020304" pitchFamily="18" charset="0"/>
                <a:cs typeface="Times New Roman" panose="02020603050405020304" pitchFamily="18" charset="0"/>
              </a:rPr>
              <a:t>Stored Procedures</a:t>
            </a:r>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3E44994-5822-5472-D5AC-DE8DE45B1651}"/>
              </a:ext>
            </a:extLst>
          </p:cNvPr>
          <p:cNvSpPr txBox="1"/>
          <p:nvPr/>
        </p:nvSpPr>
        <p:spPr>
          <a:xfrm>
            <a:off x="901700" y="2142102"/>
            <a:ext cx="10388600" cy="3139321"/>
          </a:xfrm>
          <a:prstGeom prst="rect">
            <a:avLst/>
          </a:prstGeom>
          <a:noFill/>
        </p:spPr>
        <p:txBody>
          <a:bodyPr wrap="square" rtlCol="0">
            <a:spAutoFit/>
          </a:bodyPr>
          <a:lstStyle/>
          <a:p>
            <a:r>
              <a:rPr lang="en-US" dirty="0" err="1"/>
              <a:t>TechSphere</a:t>
            </a:r>
            <a:r>
              <a:rPr lang="en-US" dirty="0"/>
              <a:t> Solutions, a growing IT services company with offices across India, wants to </a:t>
            </a:r>
            <a:r>
              <a:rPr lang="en-US" b="1" dirty="0"/>
              <a:t>track and monitor gender diversity</a:t>
            </a:r>
            <a:r>
              <a:rPr lang="en-US" dirty="0"/>
              <a:t> within its workforce. The HR department frequently needs to know the </a:t>
            </a:r>
            <a:r>
              <a:rPr lang="en-US" b="1" dirty="0"/>
              <a:t>total number of employees by gender</a:t>
            </a:r>
            <a:r>
              <a:rPr lang="en-US" dirty="0"/>
              <a:t> (Male or Female) .</a:t>
            </a:r>
          </a:p>
          <a:p>
            <a:r>
              <a:rPr lang="en-US" dirty="0"/>
              <a:t>To solve this problem, the company needs an </a:t>
            </a:r>
            <a:r>
              <a:rPr lang="en-US" b="1" dirty="0"/>
              <a:t>automated database-driven solution</a:t>
            </a:r>
            <a:r>
              <a:rPr lang="en-US" dirty="0"/>
              <a:t> that can instantly return the count of employees by gender through a stored procedure that:</a:t>
            </a:r>
            <a:br>
              <a:rPr lang="en-US" dirty="0"/>
            </a:br>
            <a:br>
              <a:rPr lang="en-US" dirty="0"/>
            </a:br>
            <a:r>
              <a:rPr lang="en-US" dirty="0"/>
              <a:t>1. Create a PostgreSQL stored procedure that:</a:t>
            </a:r>
          </a:p>
          <a:p>
            <a:r>
              <a:rPr lang="en-US" dirty="0"/>
              <a:t>2. Takes a </a:t>
            </a:r>
            <a:r>
              <a:rPr lang="en-US" b="1" dirty="0"/>
              <a:t>gender</a:t>
            </a:r>
            <a:r>
              <a:rPr lang="en-US" dirty="0"/>
              <a:t> (e.g., 'Male' or 'Female') as input.</a:t>
            </a:r>
          </a:p>
          <a:p>
            <a:r>
              <a:rPr lang="en-US" dirty="0"/>
              <a:t>3. Calculates the </a:t>
            </a:r>
            <a:r>
              <a:rPr lang="en-US" b="1" dirty="0"/>
              <a:t>total count of employees</a:t>
            </a:r>
            <a:r>
              <a:rPr lang="en-US" dirty="0"/>
              <a:t> for that gender.</a:t>
            </a:r>
          </a:p>
          <a:p>
            <a:r>
              <a:rPr lang="en-US" dirty="0"/>
              <a:t>4. Returns the result as an </a:t>
            </a:r>
            <a:r>
              <a:rPr lang="en-US" b="1" dirty="0"/>
              <a:t>output parameter</a:t>
            </a:r>
            <a:r>
              <a:rPr lang="en-US" dirty="0"/>
              <a:t>.</a:t>
            </a:r>
          </a:p>
          <a:p>
            <a:r>
              <a:rPr lang="en-US" dirty="0"/>
              <a:t>5. Displays the result clearly for HR reporting purposes.</a:t>
            </a:r>
          </a:p>
        </p:txBody>
      </p:sp>
      <p:sp>
        <p:nvSpPr>
          <p:cNvPr id="4" name="Title 1">
            <a:extLst>
              <a:ext uri="{FF2B5EF4-FFF2-40B4-BE49-F238E27FC236}">
                <a16:creationId xmlns:a16="http://schemas.microsoft.com/office/drawing/2014/main" id="{40B7E99E-FAAB-BFFF-7C8A-063A6FBDCDE2}"/>
              </a:ext>
            </a:extLst>
          </p:cNvPr>
          <p:cNvSpPr txBox="1">
            <a:spLocks/>
          </p:cNvSpPr>
          <p:nvPr/>
        </p:nvSpPr>
        <p:spPr>
          <a:xfrm>
            <a:off x="176980" y="1144331"/>
            <a:ext cx="12015019" cy="752475"/>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b="1" dirty="0">
                <a:latin typeface="Times New Roman" panose="02020603050405020304" pitchFamily="18" charset="0"/>
                <a:cs typeface="Times New Roman" panose="02020603050405020304" pitchFamily="18" charset="0"/>
              </a:rPr>
              <a:t>HR-Analytics: Employee count based on dynamic gender passing (Medium)</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56931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B02B2-97C3-0C4C-304D-91D6A91CE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08992-A01B-6BE0-D65D-547B0C61E898}"/>
              </a:ext>
            </a:extLst>
          </p:cNvPr>
          <p:cNvSpPr>
            <a:spLocks noGrp="1"/>
          </p:cNvSpPr>
          <p:nvPr>
            <p:ph type="title"/>
          </p:nvPr>
        </p:nvSpPr>
        <p:spPr>
          <a:xfrm>
            <a:off x="304197" y="645446"/>
            <a:ext cx="10515600" cy="752475"/>
          </a:xfrm>
        </p:spPr>
        <p:txBody>
          <a:bodyPr>
            <a:normAutofit/>
          </a:bodyPr>
          <a:lstStyle/>
          <a:p>
            <a:pPr algn="ctr"/>
            <a:r>
              <a:rPr lang="en-US" sz="2400" b="1" dirty="0">
                <a:latin typeface="Times New Roman" panose="02020603050405020304" pitchFamily="18" charset="0"/>
                <a:cs typeface="Times New Roman" panose="02020603050405020304" pitchFamily="18" charset="0"/>
              </a:rPr>
              <a:t>Stored Procedures</a:t>
            </a:r>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C976B30-7959-CCD8-1E6A-53FAC56A2A82}"/>
              </a:ext>
            </a:extLst>
          </p:cNvPr>
          <p:cNvSpPr txBox="1"/>
          <p:nvPr/>
        </p:nvSpPr>
        <p:spPr>
          <a:xfrm>
            <a:off x="901700" y="2142102"/>
            <a:ext cx="10388600" cy="3139321"/>
          </a:xfrm>
          <a:prstGeom prst="rect">
            <a:avLst/>
          </a:prstGeom>
          <a:noFill/>
        </p:spPr>
        <p:txBody>
          <a:bodyPr wrap="square" rtlCol="0">
            <a:spAutoFit/>
          </a:bodyPr>
          <a:lstStyle/>
          <a:p>
            <a:r>
              <a:rPr lang="en-US" dirty="0" err="1"/>
              <a:t>SmartShop</a:t>
            </a:r>
            <a:r>
              <a:rPr lang="en-US" dirty="0"/>
              <a:t> is a modern retail company that sells electronic gadgets like smartphones, tablets, and laptops.</a:t>
            </a:r>
            <a:br>
              <a:rPr lang="en-US" dirty="0"/>
            </a:br>
            <a:r>
              <a:rPr lang="en-US" dirty="0"/>
              <a:t>The company wants to </a:t>
            </a:r>
            <a:r>
              <a:rPr lang="en-US" b="1" dirty="0"/>
              <a:t>automate its ordering and inventory management process</a:t>
            </a:r>
            <a:r>
              <a:rPr lang="en-US" dirty="0"/>
              <a:t>.</a:t>
            </a:r>
          </a:p>
          <a:p>
            <a:r>
              <a:rPr lang="en-US" dirty="0"/>
              <a:t>Whenever a customer places an order, the system must:</a:t>
            </a:r>
            <a:br>
              <a:rPr lang="en-US" dirty="0"/>
            </a:br>
            <a:r>
              <a:rPr lang="en-US" dirty="0"/>
              <a:t>1. </a:t>
            </a:r>
            <a:r>
              <a:rPr lang="en-US" b="1" dirty="0"/>
              <a:t>Verify stock availability</a:t>
            </a:r>
            <a:r>
              <a:rPr lang="en-US" dirty="0"/>
              <a:t> for the requested product and quantity.</a:t>
            </a:r>
          </a:p>
          <a:p>
            <a:r>
              <a:rPr lang="en-US" dirty="0"/>
              <a:t>2. If sufficient stock is available:</a:t>
            </a:r>
            <a:br>
              <a:rPr lang="en-US" dirty="0"/>
            </a:br>
            <a:r>
              <a:rPr lang="en-US" dirty="0"/>
              <a:t>	- </a:t>
            </a:r>
            <a:r>
              <a:rPr lang="en-US" b="1" dirty="0"/>
              <a:t>Log the order</a:t>
            </a:r>
            <a:r>
              <a:rPr lang="en-US" dirty="0"/>
              <a:t> in the sales table with the ordered quantity and total price.</a:t>
            </a:r>
          </a:p>
          <a:p>
            <a:r>
              <a:rPr lang="en-US" dirty="0"/>
              <a:t>	- </a:t>
            </a:r>
            <a:r>
              <a:rPr lang="en-US" b="1" dirty="0"/>
              <a:t>Update the inventory</a:t>
            </a:r>
            <a:r>
              <a:rPr lang="en-US" dirty="0"/>
              <a:t> in the products table by reducing </a:t>
            </a:r>
            <a:r>
              <a:rPr lang="en-US" dirty="0" err="1"/>
              <a:t>quantity_remaining</a:t>
            </a:r>
            <a:r>
              <a:rPr lang="en-US" dirty="0"/>
              <a:t> and increasing 	 	   </a:t>
            </a:r>
            <a:r>
              <a:rPr lang="en-US" dirty="0" err="1"/>
              <a:t>quantity_sold</a:t>
            </a:r>
            <a:r>
              <a:rPr lang="en-US" dirty="0"/>
              <a:t>.</a:t>
            </a:r>
          </a:p>
          <a:p>
            <a:r>
              <a:rPr lang="en-US" dirty="0"/>
              <a:t>	- Display a </a:t>
            </a:r>
            <a:r>
              <a:rPr lang="en-US" b="1" dirty="0"/>
              <a:t>real-time confirmation message</a:t>
            </a:r>
            <a:r>
              <a:rPr lang="en-US" dirty="0"/>
              <a:t>: </a:t>
            </a:r>
            <a:r>
              <a:rPr lang="en-IN" dirty="0"/>
              <a:t>"Product sold successfully!“</a:t>
            </a:r>
            <a:br>
              <a:rPr lang="en-IN" dirty="0"/>
            </a:br>
            <a:r>
              <a:rPr lang="en-IN" dirty="0"/>
              <a:t>3. </a:t>
            </a:r>
            <a:r>
              <a:rPr lang="en-US" dirty="0"/>
              <a:t>If there is </a:t>
            </a:r>
            <a:r>
              <a:rPr lang="en-US" b="1" dirty="0"/>
              <a:t>insufficient stock</a:t>
            </a:r>
            <a:r>
              <a:rPr lang="en-US" dirty="0"/>
              <a:t>, the system must:</a:t>
            </a:r>
          </a:p>
          <a:p>
            <a:r>
              <a:rPr lang="en-US" dirty="0"/>
              <a:t>	- </a:t>
            </a:r>
            <a:r>
              <a:rPr lang="en-US" b="1" dirty="0"/>
              <a:t>Reject the transaction</a:t>
            </a:r>
            <a:r>
              <a:rPr lang="en-US" dirty="0"/>
              <a:t> and display: </a:t>
            </a:r>
            <a:r>
              <a:rPr lang="en-IN" dirty="0"/>
              <a:t>Insufficient Quantity Available!"</a:t>
            </a:r>
            <a:endParaRPr lang="en-US" dirty="0"/>
          </a:p>
        </p:txBody>
      </p:sp>
      <p:sp>
        <p:nvSpPr>
          <p:cNvPr id="4" name="Title 1">
            <a:extLst>
              <a:ext uri="{FF2B5EF4-FFF2-40B4-BE49-F238E27FC236}">
                <a16:creationId xmlns:a16="http://schemas.microsoft.com/office/drawing/2014/main" id="{C54CF782-7855-6D92-5561-78342516E5A0}"/>
              </a:ext>
            </a:extLst>
          </p:cNvPr>
          <p:cNvSpPr txBox="1">
            <a:spLocks/>
          </p:cNvSpPr>
          <p:nvPr/>
        </p:nvSpPr>
        <p:spPr>
          <a:xfrm>
            <a:off x="613913" y="1144331"/>
            <a:ext cx="10515600" cy="7524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b="1" dirty="0" err="1">
                <a:latin typeface="Times New Roman" panose="02020603050405020304" pitchFamily="18" charset="0"/>
                <a:cs typeface="Times New Roman" panose="02020603050405020304" pitchFamily="18" charset="0"/>
              </a:rPr>
              <a:t>SmartStore</a:t>
            </a:r>
            <a:r>
              <a:rPr lang="en-US" sz="3000" b="1" dirty="0">
                <a:latin typeface="Times New Roman" panose="02020603050405020304" pitchFamily="18" charset="0"/>
                <a:cs typeface="Times New Roman" panose="02020603050405020304" pitchFamily="18" charset="0"/>
              </a:rPr>
              <a:t> Automated Purchase System (Hard)</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3680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73514</TotalTime>
  <Words>2877</Words>
  <Application>Microsoft Office PowerPoint</Application>
  <PresentationFormat>Widescreen</PresentationFormat>
  <Paragraphs>503</Paragraphs>
  <Slides>49</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Calibri</vt:lpstr>
      <vt:lpstr>Calibri Light</vt:lpstr>
      <vt:lpstr>Courier New</vt:lpstr>
      <vt:lpstr>Times New Roman</vt:lpstr>
      <vt:lpstr>Wingdings</vt:lpstr>
      <vt:lpstr>Office Theme</vt:lpstr>
      <vt:lpstr>Advance Database Management Systems</vt:lpstr>
      <vt:lpstr>               EXPERIMETN 02: JOINS</vt:lpstr>
      <vt:lpstr>PowerPoint Presentation</vt:lpstr>
      <vt:lpstr>      Financial Forecast Matching with Fallback Strategy (hard)</vt:lpstr>
      <vt:lpstr>PowerPoint Presentation</vt:lpstr>
      <vt:lpstr>    EXPERIMENT 03: SUB-QUERIES</vt:lpstr>
      <vt:lpstr>PowerPoint Presentation</vt:lpstr>
      <vt:lpstr>      Merging Employee Histories: Who Earned Least? (Hard)</vt:lpstr>
      <vt:lpstr>PowerPoint Presentation</vt:lpstr>
      <vt:lpstr>IF-ELSE  &amp; ELSE-IF LADDER (SQL SERVER)</vt:lpstr>
      <vt:lpstr>Examples:</vt:lpstr>
      <vt:lpstr>Examples:</vt:lpstr>
      <vt:lpstr>IF-ELSE  &amp; ELSE-IF LADDER (POSTGRES)</vt:lpstr>
      <vt:lpstr>Examples:</vt:lpstr>
      <vt:lpstr>Examples:</vt:lpstr>
      <vt:lpstr>CASE STATEMENTS (SQL SERVER)</vt:lpstr>
      <vt:lpstr>Example: </vt:lpstr>
      <vt:lpstr>Practice Set: </vt:lpstr>
      <vt:lpstr>Practice Set: </vt:lpstr>
      <vt:lpstr>Functional Dependency</vt:lpstr>
      <vt:lpstr>Practice Q/A</vt:lpstr>
      <vt:lpstr>Closure of Functional Dependencies</vt:lpstr>
      <vt:lpstr>PowerPoint Presentation</vt:lpstr>
      <vt:lpstr>Problem Statements</vt:lpstr>
      <vt:lpstr>Problem Statement</vt:lpstr>
      <vt:lpstr>Problem Statement</vt:lpstr>
      <vt:lpstr>Normalization</vt:lpstr>
      <vt:lpstr>Data Anomalies</vt:lpstr>
      <vt:lpstr>Normalization</vt:lpstr>
      <vt:lpstr>PowerPoint Presentation</vt:lpstr>
      <vt:lpstr>PowerPoint Presentation</vt:lpstr>
      <vt:lpstr>1NF</vt:lpstr>
      <vt:lpstr>1NF - Decomposition</vt:lpstr>
      <vt:lpstr>PowerPoint Presentation</vt:lpstr>
      <vt:lpstr>2-NF</vt:lpstr>
      <vt:lpstr>2-NF -  Decomposition</vt:lpstr>
      <vt:lpstr>PowerPoint Presentation</vt:lpstr>
      <vt:lpstr>3-NF</vt:lpstr>
      <vt:lpstr>3-NF - Decomposition</vt:lpstr>
      <vt:lpstr>PowerPoint Presentation</vt:lpstr>
      <vt:lpstr>BCNF</vt:lpstr>
      <vt:lpstr>BCNF - Decomposition</vt:lpstr>
      <vt:lpstr>Normalization</vt:lpstr>
      <vt:lpstr>Views: Performance Benchmarking : Normal View vs. Materialized View</vt:lpstr>
      <vt:lpstr>Views: Securing Data Access with Views and Role-Based Permissions</vt:lpstr>
      <vt:lpstr>Normal View vs Materialized View</vt:lpstr>
      <vt:lpstr>When to go for Materialized Views?</vt:lpstr>
      <vt:lpstr>Stored Procedures</vt:lpstr>
      <vt:lpstr>Stored Procedures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Singh Rathore</dc:creator>
  <cp:lastModifiedBy>Ashutosh Yadav</cp:lastModifiedBy>
  <cp:revision>21</cp:revision>
  <dcterms:created xsi:type="dcterms:W3CDTF">2025-07-21T10:01:14Z</dcterms:created>
  <dcterms:modified xsi:type="dcterms:W3CDTF">2025-10-05T17:58:23Z</dcterms:modified>
</cp:coreProperties>
</file>